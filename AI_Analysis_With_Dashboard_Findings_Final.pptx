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8e0d6295cf54fc6" /><Relationship Type="http://schemas.openxmlformats.org/officeDocument/2006/relationships/extended-properties" Target="/docProps/app.xml" Id="Rd1b9d96f74f14a53" /><Relationship Type="http://schemas.openxmlformats.org/officeDocument/2006/relationships/officeDocument" Target="/ppt/presentation.xml" Id="Rd4bbb0a6d863476d" /></Relationships>
</file>

<file path=ppt/presentation.xml><?xml version="1.0" encoding="utf-8"?>
<p:presentation xmlns:p="http://schemas.openxmlformats.org/presentationml/2006/main">
  <p:sldMasterIdLst>
    <p:sldMasterId xmlns:r="http://schemas.openxmlformats.org/officeDocument/2006/relationships" id="2147483648" r:id="R10249150b0274ac0"/>
  </p:sldMasterIdLst>
  <p:notesMasterIdLst>
    <p:notesMasterId xmlns:r="http://schemas.openxmlformats.org/officeDocument/2006/relationships" r:id="Ra0a21bca22c34e38"/>
  </p:notesMasterIdLst>
  <p:sldIdLst>
    <p:sldId xmlns:r="http://schemas.openxmlformats.org/officeDocument/2006/relationships" id="256" r:id="Rc96e2bebf7964719"/>
    <p:sldId xmlns:r="http://schemas.openxmlformats.org/officeDocument/2006/relationships" id="257" r:id="Rd9a43349a32c4774"/>
    <p:sldId xmlns:r="http://schemas.openxmlformats.org/officeDocument/2006/relationships" id="258" r:id="Rc3482cd65d49413b"/>
    <p:sldId xmlns:r="http://schemas.openxmlformats.org/officeDocument/2006/relationships" id="259" r:id="Rde9d5283bea4489b"/>
    <p:sldId xmlns:r="http://schemas.openxmlformats.org/officeDocument/2006/relationships" id="260" r:id="Rbc7d117c39094dcb"/>
    <p:sldId xmlns:r="http://schemas.openxmlformats.org/officeDocument/2006/relationships" id="261" r:id="R10317d23b8e14309"/>
    <p:sldId xmlns:r="http://schemas.openxmlformats.org/officeDocument/2006/relationships" id="262" r:id="Ree9405637f03429d"/>
    <p:sldId xmlns:r="http://schemas.openxmlformats.org/officeDocument/2006/relationships" id="263" r:id="R562870c402a04528"/>
    <p:sldId xmlns:r="http://schemas.openxmlformats.org/officeDocument/2006/relationships" id="264" r:id="Rfd0ee1458da2471d"/>
    <p:sldId xmlns:r="http://schemas.openxmlformats.org/officeDocument/2006/relationships" id="265" r:id="Rf50a4aa0dbff4a1c"/>
    <p:sldId xmlns:r="http://schemas.openxmlformats.org/officeDocument/2006/relationships" id="266" r:id="R635fd32d5ee242d9"/>
    <p:sldId xmlns:r="http://schemas.openxmlformats.org/officeDocument/2006/relationships" id="267" r:id="Rf737b1f7f1e04702"/>
    <p:sldId xmlns:r="http://schemas.openxmlformats.org/officeDocument/2006/relationships" id="268" r:id="R5c59e2f06a46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9131ce75354635" /><Relationship Type="http://schemas.openxmlformats.org/officeDocument/2006/relationships/slideMaster" Target="/ppt/slideMasters/slideMaster1.xml" Id="R10249150b0274ac0" /><Relationship Type="http://schemas.openxmlformats.org/officeDocument/2006/relationships/notesMaster" Target="/ppt/notesMasters/notesMaster1.xml" Id="Ra0a21bca22c34e38" /><Relationship Type="http://schemas.openxmlformats.org/officeDocument/2006/relationships/presProps" Target="/ppt/presProps.xml" Id="Ra5149dc0c58743d8" /><Relationship Type="http://schemas.openxmlformats.org/officeDocument/2006/relationships/tableStyles" Target="/ppt/tableStyles.xml" Id="R13e60ad2700344c2" /><Relationship Type="http://schemas.openxmlformats.org/officeDocument/2006/relationships/slide" Target="/ppt/slides/slide1.xml" Id="Rc96e2bebf7964719" /><Relationship Type="http://schemas.openxmlformats.org/officeDocument/2006/relationships/slide" Target="/ppt/slides/slide2.xml" Id="Rd9a43349a32c4774" /><Relationship Type="http://schemas.openxmlformats.org/officeDocument/2006/relationships/slide" Target="/ppt/slides/slide3.xml" Id="Rc3482cd65d49413b" /><Relationship Type="http://schemas.openxmlformats.org/officeDocument/2006/relationships/slide" Target="/ppt/slides/slide4.xml" Id="Rde9d5283bea4489b" /><Relationship Type="http://schemas.openxmlformats.org/officeDocument/2006/relationships/slide" Target="/ppt/slides/slide5.xml" Id="Rbc7d117c39094dcb" /><Relationship Type="http://schemas.openxmlformats.org/officeDocument/2006/relationships/slide" Target="/ppt/slides/slide6.xml" Id="R10317d23b8e14309" /><Relationship Type="http://schemas.openxmlformats.org/officeDocument/2006/relationships/slide" Target="/ppt/slides/slide7.xml" Id="Ree9405637f03429d" /><Relationship Type="http://schemas.openxmlformats.org/officeDocument/2006/relationships/slide" Target="/ppt/slides/slide8.xml" Id="R562870c402a04528" /><Relationship Type="http://schemas.openxmlformats.org/officeDocument/2006/relationships/slide" Target="/ppt/slides/slide9.xml" Id="Rfd0ee1458da2471d" /><Relationship Type="http://schemas.openxmlformats.org/officeDocument/2006/relationships/slide" Target="/ppt/slides/slide10.xml" Id="Rf50a4aa0dbff4a1c" /><Relationship Type="http://schemas.openxmlformats.org/officeDocument/2006/relationships/slide" Target="/ppt/slides/slide11.xml" Id="R635fd32d5ee242d9" /><Relationship Type="http://schemas.openxmlformats.org/officeDocument/2006/relationships/slide" Target="/ppt/slides/slide12.xml" Id="Rf737b1f7f1e04702" /><Relationship Type="http://schemas.openxmlformats.org/officeDocument/2006/relationships/slide" Target="/ppt/slides/slide13.xml" Id="R5c59e2f06a4645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e1ecb4718b48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82db93196d40c6" /><Relationship Type="http://schemas.openxmlformats.org/officeDocument/2006/relationships/notesMaster" Target="/ppt/notesMasters/notesMaster1.xml" Id="R16d7583faea649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824d2e339c4b24" /><Relationship Type="http://schemas.openxmlformats.org/officeDocument/2006/relationships/notesMaster" Target="/ppt/notesMasters/notesMaster1.xml" Id="Rd8cb4408522b43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b47979a93c451b" /><Relationship Type="http://schemas.openxmlformats.org/officeDocument/2006/relationships/notesMaster" Target="/ppt/notesMasters/notesMaster1.xml" Id="R56bef61a38f942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44e4d8d7804336" /><Relationship Type="http://schemas.openxmlformats.org/officeDocument/2006/relationships/notesMaster" Target="/ppt/notesMasters/notesMaster1.xml" Id="Re4e2a35bf4eb4c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1a1ffefe8b4ec4" /><Relationship Type="http://schemas.openxmlformats.org/officeDocument/2006/relationships/notesMaster" Target="/ppt/notesMasters/notesMaster1.xml" Id="R15a7d0b91b3a49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724ccfd4de4cb5" /><Relationship Type="http://schemas.openxmlformats.org/officeDocument/2006/relationships/notesMaster" Target="/ppt/notesMasters/notesMaster1.xml" Id="R317ead073a0b40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9555c5d2ff4a8d" /><Relationship Type="http://schemas.openxmlformats.org/officeDocument/2006/relationships/notesMaster" Target="/ppt/notesMasters/notesMaster1.xml" Id="R2346ca12fcdf41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c0b30398c94b53" /><Relationship Type="http://schemas.openxmlformats.org/officeDocument/2006/relationships/notesMaster" Target="/ppt/notesMasters/notesMaster1.xml" Id="R068363d8f44e40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9f26824aa94cfd" /><Relationship Type="http://schemas.openxmlformats.org/officeDocument/2006/relationships/notesMaster" Target="/ppt/notesMasters/notesMaster1.xml" Id="Rc3f6a1ae9efc4f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4b755ac5744277" /><Relationship Type="http://schemas.openxmlformats.org/officeDocument/2006/relationships/notesMaster" Target="/ppt/notesMasters/notesMaster1.xml" Id="R928d20e9cf244f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5bbec0363e4ffe" /><Relationship Type="http://schemas.openxmlformats.org/officeDocument/2006/relationships/notesMaster" Target="/ppt/notesMasters/notesMaster1.xml" Id="R8e1e7337f69c42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a533df37724e20" /><Relationship Type="http://schemas.openxmlformats.org/officeDocument/2006/relationships/notesMaster" Target="/ppt/notesMasters/notesMaster1.xml" Id="Rd20e69604c9f45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b77f4d5316411b" /><Relationship Type="http://schemas.openxmlformats.org/officeDocument/2006/relationships/notesMaster" Target="/ppt/notesMasters/notesMaster1.xml" Id="R50ed88d085dd49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use AI to support several forms of analysis across projects. The presenter has already tried AI on EDS, WhatsApp chatbot, Assess Clear and last year’s CRO tool reports. This deck distinguishes that experience from proposed applications and measurable benefits. Illustration: AI-generated conceptual research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 statement. AI has been used on EDS, WhatsApp chatbot, Assess Clear and last year’s CRO tool reports. The user has not provided the other reports, detailed methods or validation results. The proposed scope on later slides is illustrative and depends on the data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https://cm-rise-eds-dashboard.streamlit.app/ accessed 12 September 2026. All Districts and All Subjects. In-Person Training (IPT) tab, Field Evaluation section. N=60 study teachers. Dashboard reports 56 participating (93.3%), 26 finding content practical (43.3%), 18 feeling confident applying lessons without supervision (30.0%), and 19 receiving zero training materials (31.7%). These are different descriptive measures with the same denominator, not sequential conversion stages, observed effectiveness or a causal relationship. Values are dashboard-reported; underlying data were not independently audited. Suggested action is our interpretation. The Executive Summary’s 50.4 percentage-point gap compares 56/60 with 24/56 and is deliberately not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https://peepul-mp-cpd-cro-dashboard.streamlit.app/ accessed 12 September 2026. All districts, subjects and grades. Coverage: 411 sampled primary classrooms across 55 districts. Header reports 6,328 students present out of 12,053 enrolled, or 52.5%. This is attendance at the observed visits, not evidence that the same proportion is absent daily. Study Comparison: MEL vs AI / Quantitative Findings Matrix reports 22 teachers with written lesson plans, 15 fully aligned with Teacher Guide. Ratios: 22/411=5.3528%, 15/411=3.6496%. The 15 aligned are a subset, not additional cases. Findings describe this sample, not a representative statewide estimate. Suggested response is our interpretation, not a tested intervention effect. We exclude the claimed 80% compliance comparison because cohort comparability is not established, and exclude contradictory checking-understanding indicators.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applications, not claims of completed analyses. Interview and report analysis can use language models. Survey, assessment and usage summaries should use tested statistical calculations and clear denominators. Comparisons require comparable measures and samples. Prediction requires observed outcomes, sufficient suitable data and validation. Assess Clear and CRO labels are retained without assuming details of those systems.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capability sources: Qwen https://qwenlm.github.io/blog/qwen3/ ; DeepSeek https://api-docs.deepseek.com/guides/thinking_mode/ ; TabFM https://research.google/blog/introducing-tabfm-a-zero-shot-foundation-model-for-tabular-data/ ; Streamlit https://docs.streamlit.io/ . Qwen and DeepSeek are language-model families with overlapping abilities. The workflow roles below are proposed assignments, not exclusive capabilities. TabFM performs classification and regression on tables. Streamlit is a Python framework for building data apps, not an AI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roles, grounded in the capabilities of the model families: https://qwenlm.github.io/blog/qwen3/ and https://api-docs.deepseek.com/guides/thinking_mode/ . Either model can perform many of these tasks. Do not assume one is inherently more accurate. Compare them on representative notes using source-linked outputs. Hindi and English interpretation must be tested locally. Model agreement or a plausible explanation is not independent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https://research.google/blog/introducing-tabfm-a-zero-shot-foundation-model-for-tabular-data/ . TabFM uses historical labelled rows to predict categorical or numerical outcomes for new rows, without separate task-specific weight training. It does not remove the need for data preparation or evaluation. The examples here are proposed uses only. Validate on unseen data and compare with a simple baseline. Prevent information leakage and account for repeated teachers/schools. Predicted associations do not establish why an outcome occurs or what an intervention will cause. No validated results were supplied for the source deck’s 60-teacher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https://docs.streamlit.io/ and https://docs.streamlit.io/develop/api-reference/widgets/st.file_uploader and https://docs.streamlit.io/develop/api-reference/widgets/st.download_button . Proposed app features require implementation, connections to the analysis tools, testing and suitable access controls. Streamlit itself does not produce or validate AI findings. It can display outputs, collect review decisions and provide downloads when these functions are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https://peepul-mp-cpd-cro-dashboard.streamlit.app/ accessed 12 September 2026, Study Comparison: MEL vs AI / Qualitative Intelligence Coding. Dashboard attributes categorisation of 1,268 entries to Qwen 3.5 9B and lists 409 strengths, 410 pedagogical gaps, 335 professional-development needs and 114 infrastructure notes (sum 1,268). These are note-entry counts, not classroom counts, prevalence or verified coding accuracy. We have not independently verified model execution, raw classifications or comparative manual-analysis coverage. Examples of needs named in the dashboard include checking understanding, teaching-learning-material integration and multi-grade management. Proposed synthesis: read relevant notes alongside lesson-plan and attendance measures to shape a support question. Do not infer that notes establish a causal explanation for a numerical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to measure, not proven results. No quantitative improvement is asserted. Keep quality controls throughout: approved data environment, de-identification, calculations checked with source data, original extracts for findings, review of unusual views and researcher approval. See https://nvlpubs.nist.gov/nistpubs/ai/NIST.AI.600-1.pdf . Reusable definitions and common methods should preserve differences between projects rather than force all studies into the same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pilot, not completed work. Select one text-heavy analysis and one numerical or usage analysis from the four reports already explored, based on available data and consent. Use independent researcher findings as a reference without showing them to the AI. Compare total elapsed staff effort, accepted/missed themes, accuracy of calculations, evidence traceability, usefulness and total costs. Test predictions separately on unseen outcomes against a simple baseline. Agree acceptance thresholds before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request: agree two pilot cases, nominate the researcher reviewers and confirm an approved data environment. Qwen and DeepSeek can be evaluated as analysis assistants, TabFM as a separate predictive component, and Streamlit as the interface. Choose tools based on measured performance and data requirements, not brand names. Every final finding remains subject to researcher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16d504c92e44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a643da8bb74f59" /><Relationship Type="http://schemas.openxmlformats.org/officeDocument/2006/relationships/slideLayout" Target="/ppt/slideLayouts/slideLayout1.xml" Id="R0dc111b3f22e4e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c111b3f22e4e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b3e74084fa4d8c" /><Relationship Type="http://schemas.openxmlformats.org/officeDocument/2006/relationships/image" Target="/ppt/media/image.png" Id="R22727dab9b23497b" /><Relationship Type="http://schemas.openxmlformats.org/officeDocument/2006/relationships/notesSlide" Target="/ppt/notesSlides/notesSlide1.xml" Id="R258559a691214d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850c4cdb504b26" /><Relationship Type="http://schemas.openxmlformats.org/officeDocument/2006/relationships/notesSlide" Target="/ppt/notesSlides/notesSlide2.xml" Id="R49227605b08c43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83d8c6823840eb" /><Relationship Type="http://schemas.openxmlformats.org/officeDocument/2006/relationships/chart" Target="/ppt/slides/charts/chart1.xml" Id="R5a7cee669afd401b" /><Relationship Type="http://schemas.openxmlformats.org/officeDocument/2006/relationships/notesSlide" Target="/ppt/notesSlides/notesSlide3.xml" Id="R37c17a89dff24f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11b532f0a24f1b" /><Relationship Type="http://schemas.openxmlformats.org/officeDocument/2006/relationships/notesSlide" Target="/ppt/notesSlides/notesSlide4.xml" Id="Raf83118f10ae44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81b40ace094701" /><Relationship Type="http://schemas.openxmlformats.org/officeDocument/2006/relationships/notesSlide" Target="/ppt/notesSlides/notesSlide5.xml" Id="Rca1f16fc03214f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ab019cc7a247a5" /><Relationship Type="http://schemas.openxmlformats.org/officeDocument/2006/relationships/notesSlide" Target="/ppt/notesSlides/notesSlide6.xml" Id="R9ddc167a826c4b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dbd1cfb78c402a" /><Relationship Type="http://schemas.openxmlformats.org/officeDocument/2006/relationships/notesSlide" Target="/ppt/notesSlides/notesSlide7.xml" Id="Re625544209b848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6f004136d745b8" /><Relationship Type="http://schemas.openxmlformats.org/officeDocument/2006/relationships/notesSlide" Target="/ppt/notesSlides/notesSlide8.xml" Id="R0ef4e8ac9cb942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34dfa2035a4b8b" /><Relationship Type="http://schemas.openxmlformats.org/officeDocument/2006/relationships/notesSlide" Target="/ppt/notesSlides/notesSlide9.xml" Id="R8317752147f34e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0100681b134d82" /><Relationship Type="http://schemas.openxmlformats.org/officeDocument/2006/relationships/notesSlide" Target="/ppt/notesSlides/notesSlide10.xml" Id="Re066e9954efd45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6340414c1647d6" /><Relationship Type="http://schemas.openxmlformats.org/officeDocument/2006/relationships/notesSlide" Target="/ppt/notesSlides/notesSlide11.xml" Id="Rb27c40a5c8484b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370044dbb047b3" /><Relationship Type="http://schemas.openxmlformats.org/officeDocument/2006/relationships/notesSlide" Target="/ppt/notesSlides/notesSlide12.xml" Id="Rf7f5499d1a514b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8731ebff8a42d6" /><Relationship Type="http://schemas.openxmlformats.org/officeDocument/2006/relationships/notesSlide" Target="/ppt/notesSlides/notesSlide13.xml" Id="Rf3b871ad10c042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Teachers</c:v>
          </c:tx>
          <c:spPr>
            <a:solidFill xmlns:a="http://schemas.openxmlformats.org/drawingml/2006/main">
              <a:srgbClr val="C35D3C"/>
            </a:solidFill>
          </c:spPr>
          <c:cat>
            <c:strRef>
              <c:f>'Chart Data'!$A$2:$A$4</c:f>
              <c:strCache>
                <c:ptCount val="3"/>
                <c:pt idx="0">
                  <c:v>Participated in training</c:v>
                </c:pt>
                <c:pt idx="1">
                  <c:v>Found content practical</c:v>
                </c:pt>
                <c:pt idx="2">
                  <c:v>Confident applying alone</c:v>
                </c:pt>
              </c:strCache>
            </c:strRef>
          </c:cat>
          <c:val>
            <c:numRef>
              <c:f>'Chart Data'!$B$2:$B$4</c:f>
              <c:numCache>
                <c:formatCode>0</c:formatCode>
                <c:ptCount val="3"/>
                <c:pt idx="0">
                  <c:v>56</c:v>
                </c:pt>
                <c:pt idx="1">
                  <c:v>26</c:v>
                </c:pt>
                <c:pt idx="2">
                  <c:v>18</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7F2EA"/>
        </a:solidFill>
      </c:spPr>
    </c:plotArea>
    <c:plotVisOnly val="1"/>
  </c:chart>
  <c:spPr>
    <a:solidFill xmlns:a="http://schemas.openxmlformats.org/drawingml/2006/main">
      <a:srgbClr val="F7F2E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6B54DC-E5AD-4209-B6FF-AC09317A4395}"/>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2727dab9b23497b"/>
          <a:srcRect xmlns:a="http://schemas.openxmlformats.org/drawingml/2006/main" l="2708" t="0" r="2708" b="0"/>
          <a:stretch xmlns:a="http://schemas.openxmlformats.org/drawingml/2006/main">
            <a:fillRect l="0" t="0" r="0" b="0"/>
          </a:stretch>
        </p:blipFill>
        <p:spPr>
          <a:xfrm xmlns:a="http://schemas.openxmlformats.org/drawingml/2006/main">
            <a:off x="7000875" y="0"/>
            <a:ext cx="5191125"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BF32B2-4EF6-4D71-A91D-F1F35EB30156}"/>
              </a:ext>
            </a:extLst>
          </p:cNvPr>
          <p:cNvSpPr>
            <a:spLocks xmlns:a="http://schemas.openxmlformats.org/drawingml/2006/main" noGrp="1"/>
          </p:cNvSpPr>
          <p:nvPr/>
        </p:nvSpPr>
        <p:spPr>
          <a:xfrm xmlns:a="http://schemas.openxmlformats.org/drawingml/2006/main">
            <a:off x="723900" y="704850"/>
            <a:ext cx="571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35D3C"/>
                </a:solidFill>
                <a:latin typeface="Arial"/>
                <a:ea typeface="Arial"/>
                <a:cs typeface="Arial"/>
              </a:defRPr>
            </a:pPr>
            <a:r>
              <a:rPr sz="1725" b="1">
                <a:solidFill>
                  <a:srgbClr val="C35D3C"/>
                </a:solidFill>
                <a:latin typeface="Arial"/>
                <a:ea typeface="Arial"/>
                <a:cs typeface="Arial"/>
              </a:rPr>
              <a:t>AI FOR ANALYSIS</a:t>
            </a:r>
          </a:p>
        </p:txBody>
      </p:sp>
      <p:sp>
        <p:nvSpPr>
          <p:cNvPr id="4" name="">
            <a:extLst xmlns:a="http://schemas.openxmlformats.org/drawingml/2006/main">
              <a:ext uri="{FF2B5EF4-FFF2-40B4-BE49-F238E27FC236}">
                <a16:creationId xmlns:a16="http://schemas.microsoft.com/office/drawing/2014/main" id="{8760B8E5-7021-4737-869E-1B44A23FBFC9}"/>
              </a:ext>
            </a:extLst>
          </p:cNvPr>
          <p:cNvSpPr>
            <a:spLocks xmlns:a="http://schemas.openxmlformats.org/drawingml/2006/main" noGrp="1"/>
          </p:cNvSpPr>
          <p:nvPr/>
        </p:nvSpPr>
        <p:spPr>
          <a:xfrm xmlns:a="http://schemas.openxmlformats.org/drawingml/2006/main">
            <a:off x="695325" y="1847850"/>
            <a:ext cx="619125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163D3B"/>
                </a:solidFill>
                <a:latin typeface="Arial"/>
                <a:ea typeface="Arial"/>
                <a:cs typeface="Arial"/>
              </a:defRPr>
            </a:pPr>
            <a:r>
              <a:rPr sz="4950" b="1">
                <a:solidFill>
                  <a:srgbClr val="163D3B"/>
                </a:solidFill>
                <a:latin typeface="Arial"/>
                <a:ea typeface="Arial"/>
                <a:cs typeface="Arial"/>
              </a:rPr>
              <a:t>More insight</a:t>
            </a:r>
          </a:p>
          <a:p xmlns:a="http://schemas.openxmlformats.org/drawingml/2006/main">
            <a:pPr>
              <a:defRPr sz="4950" b="1">
                <a:solidFill>
                  <a:srgbClr val="163D3B"/>
                </a:solidFill>
                <a:latin typeface="Arial"/>
                <a:ea typeface="Arial"/>
                <a:cs typeface="Arial"/>
              </a:defRPr>
            </a:pPr>
            <a:r>
              <a:rPr sz="4950" b="1">
                <a:solidFill>
                  <a:srgbClr val="163D3B"/>
                </a:solidFill>
                <a:latin typeface="Arial"/>
                <a:ea typeface="Arial"/>
                <a:cs typeface="Arial"/>
              </a:rPr>
              <a:t>across our</a:t>
            </a:r>
          </a:p>
          <a:p xmlns:a="http://schemas.openxmlformats.org/drawingml/2006/main">
            <a:pPr>
              <a:defRPr sz="4950" b="1">
                <a:solidFill>
                  <a:srgbClr val="163D3B"/>
                </a:solidFill>
                <a:latin typeface="Arial"/>
                <a:ea typeface="Arial"/>
                <a:cs typeface="Arial"/>
              </a:defRPr>
            </a:pPr>
            <a:r>
              <a:rPr sz="4950" b="1">
                <a:solidFill>
                  <a:srgbClr val="163D3B"/>
                </a:solidFill>
                <a:latin typeface="Arial"/>
                <a:ea typeface="Arial"/>
                <a:cs typeface="Arial"/>
              </a:rPr>
              <a:t>projects</a:t>
            </a:r>
          </a:p>
        </p:txBody>
      </p:sp>
      <p:sp>
        <p:nvSpPr>
          <p:cNvPr id="5" name="">
            <a:extLst xmlns:a="http://schemas.openxmlformats.org/drawingml/2006/main">
              <a:ext uri="{FF2B5EF4-FFF2-40B4-BE49-F238E27FC236}">
                <a16:creationId xmlns:a16="http://schemas.microsoft.com/office/drawing/2014/main" id="{95851FFF-D676-4121-9427-DDF56E8A8AA5}"/>
              </a:ext>
            </a:extLst>
          </p:cNvPr>
          <p:cNvSpPr>
            <a:spLocks xmlns:a="http://schemas.openxmlformats.org/drawingml/2006/main" noGrp="1"/>
          </p:cNvSpPr>
          <p:nvPr/>
        </p:nvSpPr>
        <p:spPr>
          <a:xfrm xmlns:a="http://schemas.openxmlformats.org/drawingml/2006/main">
            <a:off x="723900" y="5124450"/>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Using Qwen, DeepSeek, TabFM</a:t>
            </a:r>
          </a:p>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and Streamlit to support our work</a:t>
            </a:r>
          </a:p>
        </p:txBody>
      </p:sp>
    </p:spTree>
    <p:extLst>
      <p:ext uri="{BB962C8B-B14F-4D97-AF65-F5344CB8AC3E}">
        <p14:creationId xmlns:p14="http://schemas.microsoft.com/office/powerpoint/2010/main" val="633447300"/>
      </p:ext>
    </p:extLst>
  </p:cSld>
</p:sld>
</file>

<file path=ppt/slides/slide2.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88F143-0111-44E6-9C7F-F87FC5BB8927}"/>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Experience across four reports</a:t>
            </a:r>
          </a:p>
        </p:txBody>
      </p:sp>
      <p:sp>
        <p:nvSpPr>
          <p:cNvPr id="2" name="">
            <a:extLst xmlns:a="http://schemas.openxmlformats.org/drawingml/2006/main">
              <a:ext uri="{FF2B5EF4-FFF2-40B4-BE49-F238E27FC236}">
                <a16:creationId xmlns:a16="http://schemas.microsoft.com/office/drawing/2014/main" id="{23053B16-900D-4B28-BF7F-76593A836612}"/>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63A2A09-3345-4370-991D-C0DBF9E4E2F4}"/>
              </a:ext>
            </a:extLst>
          </p:cNvPr>
          <p:cNvSpPr>
            <a:spLocks xmlns:a="http://schemas.openxmlformats.org/drawingml/2006/main" noGrp="1"/>
          </p:cNvSpPr>
          <p:nvPr/>
        </p:nvSpPr>
        <p:spPr>
          <a:xfrm xmlns:a="http://schemas.openxmlformats.org/drawingml/2006/main">
            <a:off x="723900" y="1924050"/>
            <a:ext cx="34956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0" b="1">
                <a:solidFill>
                  <a:srgbClr val="C35D3C"/>
                </a:solidFill>
                <a:latin typeface="Arial"/>
                <a:ea typeface="Arial"/>
                <a:cs typeface="Arial"/>
              </a:defRPr>
            </a:pPr>
            <a:r>
              <a:rPr sz="16500" b="1">
                <a:solidFill>
                  <a:srgbClr val="C35D3C"/>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6F951ABF-1C71-4465-BC5E-AB689A03E132}"/>
              </a:ext>
            </a:extLst>
          </p:cNvPr>
          <p:cNvSpPr>
            <a:spLocks xmlns:a="http://schemas.openxmlformats.org/drawingml/2006/main" noGrp="1"/>
          </p:cNvSpPr>
          <p:nvPr/>
        </p:nvSpPr>
        <p:spPr>
          <a:xfrm xmlns:a="http://schemas.openxmlformats.org/drawingml/2006/main">
            <a:off x="800100" y="4562475"/>
            <a:ext cx="40671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63D3B"/>
                </a:solidFill>
                <a:latin typeface="Arial"/>
                <a:ea typeface="Arial"/>
                <a:cs typeface="Arial"/>
              </a:defRPr>
            </a:pPr>
            <a:r>
              <a:rPr sz="2775" b="0">
                <a:solidFill>
                  <a:srgbClr val="163D3B"/>
                </a:solidFill>
                <a:latin typeface="Arial"/>
                <a:ea typeface="Arial"/>
                <a:cs typeface="Arial"/>
              </a:rPr>
              <a:t>reports explored</a:t>
            </a:r>
          </a:p>
        </p:txBody>
      </p:sp>
      <p:sp>
        <p:nvSpPr>
          <p:cNvPr id="5" name="">
            <a:extLst xmlns:a="http://schemas.openxmlformats.org/drawingml/2006/main">
              <a:ext uri="{FF2B5EF4-FFF2-40B4-BE49-F238E27FC236}">
                <a16:creationId xmlns:a16="http://schemas.microsoft.com/office/drawing/2014/main" id="{9310BD3E-C43E-4865-8109-FB65436D886D}"/>
              </a:ext>
            </a:extLst>
          </p:cNvPr>
          <p:cNvSpPr>
            <a:spLocks xmlns:a="http://schemas.openxmlformats.org/drawingml/2006/main" noGrp="1"/>
          </p:cNvSpPr>
          <p:nvPr/>
        </p:nvSpPr>
        <p:spPr>
          <a:xfrm xmlns:a="http://schemas.openxmlformats.org/drawingml/2006/main">
            <a:off x="5457825" y="2028825"/>
            <a:ext cx="6124575"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63D3B"/>
                </a:solidFill>
                <a:latin typeface="Arial"/>
                <a:ea typeface="Arial"/>
                <a:cs typeface="Arial"/>
              </a:defRPr>
            </a:pPr>
            <a:r>
              <a:rPr sz="3150" b="1">
                <a:solidFill>
                  <a:srgbClr val="163D3B"/>
                </a:solidFill>
                <a:latin typeface="Arial"/>
                <a:ea typeface="Arial"/>
                <a:cs typeface="Arial"/>
              </a:rPr>
              <a:t>EDS</a:t>
            </a:r>
          </a:p>
          <a:p xmlns:a="http://schemas.openxmlformats.org/drawingml/2006/main">
            <a:pPr>
              <a:defRPr sz="3150" b="1">
                <a:solidFill>
                  <a:srgbClr val="163D3B"/>
                </a:solidFill>
                <a:latin typeface="Arial"/>
                <a:ea typeface="Arial"/>
                <a:cs typeface="Arial"/>
              </a:defRPr>
            </a:pPr>
            <a:r>
              <a:rPr sz="3150" b="1">
                <a:solidFill>
                  <a:srgbClr val="163D3B"/>
                </a:solidFill>
                <a:latin typeface="Arial"/>
                <a:ea typeface="Arial"/>
                <a:cs typeface="Arial"/>
              </a:rPr>
              <a:t>WhatsApp chatbot</a:t>
            </a:r>
          </a:p>
          <a:p xmlns:a="http://schemas.openxmlformats.org/drawingml/2006/main">
            <a:pPr>
              <a:defRPr sz="3150" b="1">
                <a:solidFill>
                  <a:srgbClr val="163D3B"/>
                </a:solidFill>
                <a:latin typeface="Arial"/>
                <a:ea typeface="Arial"/>
                <a:cs typeface="Arial"/>
              </a:defRPr>
            </a:pPr>
            <a:r>
              <a:rPr sz="3150" b="1">
                <a:solidFill>
                  <a:srgbClr val="163D3B"/>
                </a:solidFill>
                <a:latin typeface="Arial"/>
                <a:ea typeface="Arial"/>
                <a:cs typeface="Arial"/>
              </a:rPr>
              <a:t>Assess Clear</a:t>
            </a:r>
          </a:p>
          <a:p xmlns:a="http://schemas.openxmlformats.org/drawingml/2006/main">
            <a:pPr>
              <a:defRPr sz="3150" b="1">
                <a:solidFill>
                  <a:srgbClr val="163D3B"/>
                </a:solidFill>
                <a:latin typeface="Arial"/>
                <a:ea typeface="Arial"/>
                <a:cs typeface="Arial"/>
              </a:defRPr>
            </a:pPr>
            <a:r>
              <a:rPr sz="3150" b="1">
                <a:solidFill>
                  <a:srgbClr val="163D3B"/>
                </a:solidFill>
                <a:latin typeface="Arial"/>
                <a:ea typeface="Arial"/>
                <a:cs typeface="Arial"/>
              </a:rPr>
              <a:t>Last year’s CRO tool</a:t>
            </a:r>
          </a:p>
        </p:txBody>
      </p:sp>
      <p:sp>
        <p:nvSpPr>
          <p:cNvPr id="6" name="">
            <a:extLst xmlns:a="http://schemas.openxmlformats.org/drawingml/2006/main">
              <a:ext uri="{FF2B5EF4-FFF2-40B4-BE49-F238E27FC236}">
                <a16:creationId xmlns:a16="http://schemas.microsoft.com/office/drawing/2014/main" id="{A20D7416-D319-4D1E-8087-2F6D08021B61}"/>
              </a:ext>
            </a:extLst>
          </p:cNvPr>
          <p:cNvSpPr>
            <a:spLocks xmlns:a="http://schemas.openxmlformats.org/drawingml/2006/main" noGrp="1"/>
          </p:cNvSpPr>
          <p:nvPr/>
        </p:nvSpPr>
        <p:spPr>
          <a:xfrm xmlns:a="http://schemas.openxmlformats.org/drawingml/2006/main">
            <a:off x="723900" y="5829300"/>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746E"/>
                </a:solidFill>
                <a:latin typeface="Arial"/>
                <a:ea typeface="Arial"/>
                <a:cs typeface="Arial"/>
              </a:defRPr>
            </a:pPr>
            <a:r>
              <a:rPr sz="1950" b="0">
                <a:solidFill>
                  <a:srgbClr val="68746E"/>
                </a:solidFill>
                <a:latin typeface="Arial"/>
                <a:ea typeface="Arial"/>
                <a:cs typeface="Arial"/>
              </a:rPr>
              <a:t>The opportunity now: a repeatable approach across different kinds of analysis.</a:t>
            </a:r>
          </a:p>
        </p:txBody>
      </p:sp>
    </p:spTree>
    <p:extLst>
      <p:ext uri="{BB962C8B-B14F-4D97-AF65-F5344CB8AC3E}">
        <p14:creationId xmlns:p14="http://schemas.microsoft.com/office/powerpoint/2010/main" val="2043233070"/>
      </p:ext>
    </p:extLst>
  </p:cSld>
</p:sld>
</file>

<file path=ppt/slides/slide3.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231867-26FE-401C-9DCA-E592CA40876E}"/>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EDS: participation and readiness differ</a:t>
            </a:r>
          </a:p>
        </p:txBody>
      </p:sp>
      <p:sp>
        <p:nvSpPr>
          <p:cNvPr id="2" name="">
            <a:extLst xmlns:a="http://schemas.openxmlformats.org/drawingml/2006/main">
              <a:ext uri="{FF2B5EF4-FFF2-40B4-BE49-F238E27FC236}">
                <a16:creationId xmlns:a16="http://schemas.microsoft.com/office/drawing/2014/main" id="{ADB39CF8-59CF-4425-BE44-5C1C5A476594}"/>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DF557BE-0CF6-4A7A-B621-DF4CD793DE40}"/>
              </a:ext>
            </a:extLst>
          </p:cNvPr>
          <p:cNvSpPr>
            <a:spLocks xmlns:a="http://schemas.openxmlformats.org/drawingml/2006/main" noGrp="1"/>
          </p:cNvSpPr>
          <p:nvPr/>
        </p:nvSpPr>
        <p:spPr>
          <a:xfrm xmlns:a="http://schemas.openxmlformats.org/drawingml/2006/main">
            <a:off x="723900" y="1657350"/>
            <a:ext cx="700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746E"/>
                </a:solidFill>
                <a:latin typeface="Arial"/>
                <a:ea typeface="Arial"/>
                <a:cs typeface="Arial"/>
              </a:defRPr>
            </a:pPr>
            <a:r>
              <a:rPr sz="1950" b="0">
                <a:solidFill>
                  <a:srgbClr val="68746E"/>
                </a:solidFill>
                <a:latin typeface="Arial"/>
                <a:ea typeface="Arial"/>
                <a:cs typeface="Arial"/>
              </a:rPr>
              <a:t>Teachers in the EDS study (N = 60)</a:t>
            </a:r>
          </a:p>
        </p:txBody>
      </p:sp>
      <p:graphicFrame>
        <p:nvGraphicFramePr>
          <p:cNvPr id="12" name="Chart"/>
          <p:cNvGraphicFramePr/>
          <p:nvPr/>
        </p:nvGraphicFramePr>
        <p:xfrm>
          <a:off xmlns:a="http://schemas.openxmlformats.org/drawingml/2006/main" x="628650" y="2238375"/>
          <a:ext xmlns:a="http://schemas.openxmlformats.org/drawingml/2006/main" cx="7029450" cy="3095625"/>
        </p:xfrm>
        <a:graphic xmlns:a="http://schemas.openxmlformats.org/drawingml/2006/main">
          <a:graphicData uri="http://schemas.openxmlformats.org/drawingml/2006/chart">
            <c:chart xmlns:r="http://schemas.openxmlformats.org/officeDocument/2006/relationships" xmlns:c="http://schemas.openxmlformats.org/drawingml/2006/chart" r:id="R5a7cee669afd401b"/>
          </a:graphicData>
        </a:graphic>
      </p:graphicFrame>
      <p:sp>
        <p:nvSpPr>
          <p:cNvPr id="5" name="">
            <a:extLst xmlns:a="http://schemas.openxmlformats.org/drawingml/2006/main">
              <a:ext uri="{FF2B5EF4-FFF2-40B4-BE49-F238E27FC236}">
                <a16:creationId xmlns:a16="http://schemas.microsoft.com/office/drawing/2014/main" id="{74A989BA-7D62-4622-8B1C-68F3E732717A}"/>
              </a:ext>
            </a:extLst>
          </p:cNvPr>
          <p:cNvSpPr>
            <a:spLocks xmlns:a="http://schemas.openxmlformats.org/drawingml/2006/main" noGrp="1"/>
          </p:cNvSpPr>
          <p:nvPr/>
        </p:nvSpPr>
        <p:spPr>
          <a:xfrm xmlns:a="http://schemas.openxmlformats.org/drawingml/2006/main">
            <a:off x="8220075" y="2114550"/>
            <a:ext cx="3371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C35D3C"/>
                </a:solidFill>
                <a:latin typeface="Arial"/>
                <a:ea typeface="Arial"/>
                <a:cs typeface="Arial"/>
              </a:defRPr>
            </a:pPr>
            <a:r>
              <a:rPr sz="3825" b="1">
                <a:solidFill>
                  <a:srgbClr val="C35D3C"/>
                </a:solidFill>
                <a:latin typeface="Arial"/>
                <a:ea typeface="Arial"/>
                <a:cs typeface="Arial"/>
              </a:rPr>
              <a:t>19 of 60</a:t>
            </a:r>
          </a:p>
        </p:txBody>
      </p:sp>
      <p:sp>
        <p:nvSpPr>
          <p:cNvPr id="6" name="">
            <a:extLst xmlns:a="http://schemas.openxmlformats.org/drawingml/2006/main">
              <a:ext uri="{FF2B5EF4-FFF2-40B4-BE49-F238E27FC236}">
                <a16:creationId xmlns:a16="http://schemas.microsoft.com/office/drawing/2014/main" id="{AC4211C6-51E6-4B83-9B51-92433572439C}"/>
              </a:ext>
            </a:extLst>
          </p:cNvPr>
          <p:cNvSpPr>
            <a:spLocks xmlns:a="http://schemas.openxmlformats.org/drawingml/2006/main" noGrp="1"/>
          </p:cNvSpPr>
          <p:nvPr/>
        </p:nvSpPr>
        <p:spPr>
          <a:xfrm xmlns:a="http://schemas.openxmlformats.org/drawingml/2006/main">
            <a:off x="8220075" y="3028950"/>
            <a:ext cx="31813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D3B"/>
                </a:solidFill>
                <a:latin typeface="Arial"/>
                <a:ea typeface="Arial"/>
                <a:cs typeface="Arial"/>
              </a:defRPr>
            </a:pPr>
            <a:r>
              <a:rPr sz="2250" b="1">
                <a:solidFill>
                  <a:srgbClr val="163D3B"/>
                </a:solidFill>
                <a:latin typeface="Arial"/>
                <a:ea typeface="Arial"/>
                <a:cs typeface="Arial"/>
              </a:rPr>
              <a:t>received no</a:t>
            </a:r>
          </a:p>
          <a:p xmlns:a="http://schemas.openxmlformats.org/drawingml/2006/main">
            <a:pPr>
              <a:defRPr sz="2250" b="1">
                <a:solidFill>
                  <a:srgbClr val="163D3B"/>
                </a:solidFill>
                <a:latin typeface="Arial"/>
                <a:ea typeface="Arial"/>
                <a:cs typeface="Arial"/>
              </a:defRPr>
            </a:pPr>
            <a:r>
              <a:rPr sz="2250" b="1">
                <a:solidFill>
                  <a:srgbClr val="163D3B"/>
                </a:solidFill>
                <a:latin typeface="Arial"/>
                <a:ea typeface="Arial"/>
                <a:cs typeface="Arial"/>
              </a:rPr>
              <a:t>training materials</a:t>
            </a:r>
          </a:p>
        </p:txBody>
      </p:sp>
      <p:sp>
        <p:nvSpPr>
          <p:cNvPr id="7" name="">
            <a:extLst xmlns:a="http://schemas.openxmlformats.org/drawingml/2006/main">
              <a:ext uri="{FF2B5EF4-FFF2-40B4-BE49-F238E27FC236}">
                <a16:creationId xmlns:a16="http://schemas.microsoft.com/office/drawing/2014/main" id="{F7122A19-5D78-443C-BE19-FF58976E2A7D}"/>
              </a:ext>
            </a:extLst>
          </p:cNvPr>
          <p:cNvSpPr>
            <a:spLocks xmlns:a="http://schemas.openxmlformats.org/drawingml/2006/main" noGrp="1"/>
          </p:cNvSpPr>
          <p:nvPr/>
        </p:nvSpPr>
        <p:spPr>
          <a:xfrm xmlns:a="http://schemas.openxmlformats.org/drawingml/2006/main">
            <a:off x="723900" y="552450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3D3B"/>
                </a:solidFill>
                <a:latin typeface="Arial"/>
                <a:ea typeface="Arial"/>
                <a:cs typeface="Arial"/>
              </a:defRPr>
            </a:pPr>
            <a:r>
              <a:rPr sz="2100" b="1">
                <a:solidFill>
                  <a:srgbClr val="163D3B"/>
                </a:solidFill>
                <a:latin typeface="Arial"/>
                <a:ea typeface="Arial"/>
                <a:cs typeface="Arial"/>
              </a:rPr>
              <a:t>Suggested response: pair training with usable materials and follow-up support.</a:t>
            </a:r>
          </a:p>
        </p:txBody>
      </p:sp>
      <p:sp>
        <p:nvSpPr>
          <p:cNvPr id="8" name="">
            <a:extLst xmlns:a="http://schemas.openxmlformats.org/drawingml/2006/main">
              <a:ext uri="{FF2B5EF4-FFF2-40B4-BE49-F238E27FC236}">
                <a16:creationId xmlns:a16="http://schemas.microsoft.com/office/drawing/2014/main" id="{CD87FD37-8677-4CC9-BFC9-B24035239B01}"/>
              </a:ext>
            </a:extLst>
          </p:cNvPr>
          <p:cNvSpPr>
            <a:spLocks xmlns:a="http://schemas.openxmlformats.org/drawingml/2006/main" noGrp="1"/>
          </p:cNvSpPr>
          <p:nvPr/>
        </p:nvSpPr>
        <p:spPr>
          <a:xfrm xmlns:a="http://schemas.openxmlformats.org/drawingml/2006/main">
            <a:off x="723900" y="6267450"/>
            <a:ext cx="1023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8746E"/>
                </a:solidFill>
                <a:latin typeface="Arial"/>
                <a:ea typeface="Arial"/>
                <a:cs typeface="Arial"/>
              </a:defRPr>
            </a:pPr>
            <a:r>
              <a:rPr sz="1425" b="0">
                <a:solidFill>
                  <a:srgbClr val="68746E"/>
                </a:solidFill>
                <a:latin typeface="Arial"/>
                <a:ea typeface="Arial"/>
                <a:cs typeface="Arial"/>
              </a:rPr>
              <a:t>Source: EDS dashboard, In-Person Training tab. Different measures, same 60 teachers.</a:t>
            </a:r>
          </a:p>
        </p:txBody>
      </p:sp>
    </p:spTree>
    <p:extLst>
      <p:ext uri="{BB962C8B-B14F-4D97-AF65-F5344CB8AC3E}">
        <p14:creationId xmlns:p14="http://schemas.microsoft.com/office/powerpoint/2010/main" val="241233316"/>
      </p:ext>
    </p:extLst>
  </p:cSld>
</p:sld>
</file>

<file path=ppt/slides/slide4.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FE1D53-72E2-49EF-BE92-DF56BC5A708B}"/>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CRO: planning and attendance need attention</a:t>
            </a:r>
          </a:p>
        </p:txBody>
      </p:sp>
      <p:sp>
        <p:nvSpPr>
          <p:cNvPr id="2" name="">
            <a:extLst xmlns:a="http://schemas.openxmlformats.org/drawingml/2006/main">
              <a:ext uri="{FF2B5EF4-FFF2-40B4-BE49-F238E27FC236}">
                <a16:creationId xmlns:a16="http://schemas.microsoft.com/office/drawing/2014/main" id="{E8A9E034-0D03-49E0-84A6-70905E97124B}"/>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CCDD64D-370D-4C44-97B9-190F46C6A07C}"/>
              </a:ext>
            </a:extLst>
          </p:cNvPr>
          <p:cNvSpPr>
            <a:spLocks xmlns:a="http://schemas.openxmlformats.org/drawingml/2006/main" noGrp="1"/>
          </p:cNvSpPr>
          <p:nvPr/>
        </p:nvSpPr>
        <p:spPr>
          <a:xfrm xmlns:a="http://schemas.openxmlformats.org/drawingml/2006/main">
            <a:off x="723900" y="2114550"/>
            <a:ext cx="3219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35D3C"/>
                </a:solidFill>
                <a:latin typeface="Arial"/>
                <a:ea typeface="Arial"/>
                <a:cs typeface="Arial"/>
              </a:defRPr>
            </a:pPr>
            <a:r>
              <a:rPr sz="4350" b="1">
                <a:solidFill>
                  <a:srgbClr val="C35D3C"/>
                </a:solidFill>
                <a:latin typeface="Arial"/>
                <a:ea typeface="Arial"/>
                <a:cs typeface="Arial"/>
              </a:rPr>
              <a:t>52.5%</a:t>
            </a:r>
          </a:p>
        </p:txBody>
      </p:sp>
      <p:sp>
        <p:nvSpPr>
          <p:cNvPr id="4" name="">
            <a:extLst xmlns:a="http://schemas.openxmlformats.org/drawingml/2006/main">
              <a:ext uri="{FF2B5EF4-FFF2-40B4-BE49-F238E27FC236}">
                <a16:creationId xmlns:a16="http://schemas.microsoft.com/office/drawing/2014/main" id="{8668C488-36FE-4E1F-A4B8-CC7C488B711D}"/>
              </a:ext>
            </a:extLst>
          </p:cNvPr>
          <p:cNvSpPr>
            <a:spLocks xmlns:a="http://schemas.openxmlformats.org/drawingml/2006/main" noGrp="1"/>
          </p:cNvSpPr>
          <p:nvPr/>
        </p:nvSpPr>
        <p:spPr>
          <a:xfrm xmlns:a="http://schemas.openxmlformats.org/drawingml/2006/main">
            <a:off x="723900" y="3371850"/>
            <a:ext cx="32289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D3B"/>
                </a:solidFill>
                <a:latin typeface="Arial"/>
                <a:ea typeface="Arial"/>
                <a:cs typeface="Arial"/>
              </a:defRPr>
            </a:pPr>
            <a:r>
              <a:rPr sz="2400" b="1">
                <a:solidFill>
                  <a:srgbClr val="163D3B"/>
                </a:solidFill>
                <a:latin typeface="Arial"/>
                <a:ea typeface="Arial"/>
                <a:cs typeface="Arial"/>
              </a:rPr>
              <a:t>Students present</a:t>
            </a:r>
          </a:p>
        </p:txBody>
      </p:sp>
      <p:sp>
        <p:nvSpPr>
          <p:cNvPr id="5" name="">
            <a:extLst xmlns:a="http://schemas.openxmlformats.org/drawingml/2006/main">
              <a:ext uri="{FF2B5EF4-FFF2-40B4-BE49-F238E27FC236}">
                <a16:creationId xmlns:a16="http://schemas.microsoft.com/office/drawing/2014/main" id="{9B2CE273-77E1-4E6B-B86E-25A9381ECA08}"/>
              </a:ext>
            </a:extLst>
          </p:cNvPr>
          <p:cNvSpPr>
            <a:spLocks xmlns:a="http://schemas.openxmlformats.org/drawingml/2006/main" noGrp="1"/>
          </p:cNvSpPr>
          <p:nvPr/>
        </p:nvSpPr>
        <p:spPr>
          <a:xfrm xmlns:a="http://schemas.openxmlformats.org/drawingml/2006/main">
            <a:off x="723900" y="4381500"/>
            <a:ext cx="319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D3B"/>
                </a:solidFill>
                <a:latin typeface="Arial"/>
                <a:ea typeface="Arial"/>
                <a:cs typeface="Arial"/>
              </a:defRPr>
            </a:pPr>
            <a:r>
              <a:rPr sz="2025" b="0">
                <a:solidFill>
                  <a:srgbClr val="163D3B"/>
                </a:solidFill>
                <a:latin typeface="Arial"/>
                <a:ea typeface="Arial"/>
                <a:cs typeface="Arial"/>
              </a:rPr>
              <a:t>6,328 of 12,053 enrolled</a:t>
            </a:r>
          </a:p>
          <a:p xmlns:a="http://schemas.openxmlformats.org/drawingml/2006/main">
            <a:pPr>
              <a:defRPr sz="2025" b="0">
                <a:solidFill>
                  <a:srgbClr val="163D3B"/>
                </a:solidFill>
                <a:latin typeface="Arial"/>
                <a:ea typeface="Arial"/>
                <a:cs typeface="Arial"/>
              </a:defRPr>
            </a:pPr>
            <a:r>
              <a:rPr sz="2025" b="0">
                <a:solidFill>
                  <a:srgbClr val="163D3B"/>
                </a:solidFill>
                <a:latin typeface="Arial"/>
                <a:ea typeface="Arial"/>
                <a:cs typeface="Arial"/>
              </a:rPr>
              <a:t>at the observed visits.</a:t>
            </a:r>
          </a:p>
        </p:txBody>
      </p:sp>
      <p:sp>
        <p:nvSpPr>
          <p:cNvPr id="6" name="">
            <a:extLst xmlns:a="http://schemas.openxmlformats.org/drawingml/2006/main">
              <a:ext uri="{FF2B5EF4-FFF2-40B4-BE49-F238E27FC236}">
                <a16:creationId xmlns:a16="http://schemas.microsoft.com/office/drawing/2014/main" id="{5D8D1E41-16A5-422F-A8AE-E274FE0EBE53}"/>
              </a:ext>
            </a:extLst>
          </p:cNvPr>
          <p:cNvSpPr>
            <a:spLocks xmlns:a="http://schemas.openxmlformats.org/drawingml/2006/main" noGrp="1"/>
          </p:cNvSpPr>
          <p:nvPr/>
        </p:nvSpPr>
        <p:spPr>
          <a:xfrm xmlns:a="http://schemas.openxmlformats.org/drawingml/2006/main">
            <a:off x="4629150" y="2114550"/>
            <a:ext cx="3219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35D3C"/>
                </a:solidFill>
                <a:latin typeface="Arial"/>
                <a:ea typeface="Arial"/>
                <a:cs typeface="Arial"/>
              </a:defRPr>
            </a:pPr>
            <a:r>
              <a:rPr sz="4350" b="1">
                <a:solidFill>
                  <a:srgbClr val="C35D3C"/>
                </a:solidFill>
                <a:latin typeface="Arial"/>
                <a:ea typeface="Arial"/>
                <a:cs typeface="Arial"/>
              </a:rPr>
              <a:t>22 / 411</a:t>
            </a:r>
          </a:p>
        </p:txBody>
      </p:sp>
      <p:sp>
        <p:nvSpPr>
          <p:cNvPr id="7" name="">
            <a:extLst xmlns:a="http://schemas.openxmlformats.org/drawingml/2006/main">
              <a:ext uri="{FF2B5EF4-FFF2-40B4-BE49-F238E27FC236}">
                <a16:creationId xmlns:a16="http://schemas.microsoft.com/office/drawing/2014/main" id="{B5BF14BF-48F3-4D13-B698-89B5868A61BF}"/>
              </a:ext>
            </a:extLst>
          </p:cNvPr>
          <p:cNvSpPr>
            <a:spLocks xmlns:a="http://schemas.openxmlformats.org/drawingml/2006/main" noGrp="1"/>
          </p:cNvSpPr>
          <p:nvPr/>
        </p:nvSpPr>
        <p:spPr>
          <a:xfrm xmlns:a="http://schemas.openxmlformats.org/drawingml/2006/main">
            <a:off x="4629150" y="3371850"/>
            <a:ext cx="32289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D3B"/>
                </a:solidFill>
                <a:latin typeface="Arial"/>
                <a:ea typeface="Arial"/>
                <a:cs typeface="Arial"/>
              </a:defRPr>
            </a:pPr>
            <a:r>
              <a:rPr sz="2400" b="1">
                <a:solidFill>
                  <a:srgbClr val="163D3B"/>
                </a:solidFill>
                <a:latin typeface="Arial"/>
                <a:ea typeface="Arial"/>
                <a:cs typeface="Arial"/>
              </a:rPr>
              <a:t>Written lesson plans</a:t>
            </a:r>
          </a:p>
        </p:txBody>
      </p:sp>
      <p:sp>
        <p:nvSpPr>
          <p:cNvPr id="8" name="">
            <a:extLst xmlns:a="http://schemas.openxmlformats.org/drawingml/2006/main">
              <a:ext uri="{FF2B5EF4-FFF2-40B4-BE49-F238E27FC236}">
                <a16:creationId xmlns:a16="http://schemas.microsoft.com/office/drawing/2014/main" id="{1D7F130D-DB15-4671-9F2B-9B2078998FCC}"/>
              </a:ext>
            </a:extLst>
          </p:cNvPr>
          <p:cNvSpPr>
            <a:spLocks xmlns:a="http://schemas.openxmlformats.org/drawingml/2006/main" noGrp="1"/>
          </p:cNvSpPr>
          <p:nvPr/>
        </p:nvSpPr>
        <p:spPr>
          <a:xfrm xmlns:a="http://schemas.openxmlformats.org/drawingml/2006/main">
            <a:off x="4629150" y="4381500"/>
            <a:ext cx="319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D3B"/>
                </a:solidFill>
                <a:latin typeface="Arial"/>
                <a:ea typeface="Arial"/>
                <a:cs typeface="Arial"/>
              </a:defRPr>
            </a:pPr>
            <a:r>
              <a:rPr sz="2025" b="0">
                <a:solidFill>
                  <a:srgbClr val="163D3B"/>
                </a:solidFill>
                <a:latin typeface="Arial"/>
                <a:ea typeface="Arial"/>
                <a:cs typeface="Arial"/>
              </a:rPr>
              <a:t>5.4% of observed</a:t>
            </a:r>
          </a:p>
          <a:p xmlns:a="http://schemas.openxmlformats.org/drawingml/2006/main">
            <a:pPr>
              <a:defRPr sz="2025" b="0">
                <a:solidFill>
                  <a:srgbClr val="163D3B"/>
                </a:solidFill>
                <a:latin typeface="Arial"/>
                <a:ea typeface="Arial"/>
                <a:cs typeface="Arial"/>
              </a:defRPr>
            </a:pPr>
            <a:r>
              <a:rPr sz="2025" b="0">
                <a:solidFill>
                  <a:srgbClr val="163D3B"/>
                </a:solidFill>
                <a:latin typeface="Arial"/>
                <a:ea typeface="Arial"/>
                <a:cs typeface="Arial"/>
              </a:rPr>
              <a:t>classrooms.</a:t>
            </a:r>
          </a:p>
        </p:txBody>
      </p:sp>
      <p:sp>
        <p:nvSpPr>
          <p:cNvPr id="9" name="">
            <a:extLst xmlns:a="http://schemas.openxmlformats.org/drawingml/2006/main">
              <a:ext uri="{FF2B5EF4-FFF2-40B4-BE49-F238E27FC236}">
                <a16:creationId xmlns:a16="http://schemas.microsoft.com/office/drawing/2014/main" id="{1D9C1DCD-EA6D-4B6C-8A5A-5F2F5E9EE536}"/>
              </a:ext>
            </a:extLst>
          </p:cNvPr>
          <p:cNvSpPr>
            <a:spLocks xmlns:a="http://schemas.openxmlformats.org/drawingml/2006/main" noGrp="1"/>
          </p:cNvSpPr>
          <p:nvPr/>
        </p:nvSpPr>
        <p:spPr>
          <a:xfrm xmlns:a="http://schemas.openxmlformats.org/drawingml/2006/main">
            <a:off x="8410575" y="2114550"/>
            <a:ext cx="3219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35D3C"/>
                </a:solidFill>
                <a:latin typeface="Arial"/>
                <a:ea typeface="Arial"/>
                <a:cs typeface="Arial"/>
              </a:defRPr>
            </a:pPr>
            <a:r>
              <a:rPr sz="4350" b="1">
                <a:solidFill>
                  <a:srgbClr val="C35D3C"/>
                </a:solidFill>
                <a:latin typeface="Arial"/>
                <a:ea typeface="Arial"/>
                <a:cs typeface="Arial"/>
              </a:rPr>
              <a:t>15 / 411</a:t>
            </a:r>
          </a:p>
        </p:txBody>
      </p:sp>
      <p:sp>
        <p:nvSpPr>
          <p:cNvPr id="10" name="">
            <a:extLst xmlns:a="http://schemas.openxmlformats.org/drawingml/2006/main">
              <a:ext uri="{FF2B5EF4-FFF2-40B4-BE49-F238E27FC236}">
                <a16:creationId xmlns:a16="http://schemas.microsoft.com/office/drawing/2014/main" id="{1E11779D-4102-4C0B-A275-45B850F79444}"/>
              </a:ext>
            </a:extLst>
          </p:cNvPr>
          <p:cNvSpPr>
            <a:spLocks xmlns:a="http://schemas.openxmlformats.org/drawingml/2006/main" noGrp="1"/>
          </p:cNvSpPr>
          <p:nvPr/>
        </p:nvSpPr>
        <p:spPr>
          <a:xfrm xmlns:a="http://schemas.openxmlformats.org/drawingml/2006/main">
            <a:off x="8410575" y="3371850"/>
            <a:ext cx="32289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D3B"/>
                </a:solidFill>
                <a:latin typeface="Arial"/>
                <a:ea typeface="Arial"/>
                <a:cs typeface="Arial"/>
              </a:defRPr>
            </a:pPr>
            <a:r>
              <a:rPr sz="2400" b="1">
                <a:solidFill>
                  <a:srgbClr val="163D3B"/>
                </a:solidFill>
                <a:latin typeface="Arial"/>
                <a:ea typeface="Arial"/>
                <a:cs typeface="Arial"/>
              </a:rPr>
              <a:t>Fully aligned plans</a:t>
            </a:r>
          </a:p>
        </p:txBody>
      </p:sp>
      <p:sp>
        <p:nvSpPr>
          <p:cNvPr id="11" name="">
            <a:extLst xmlns:a="http://schemas.openxmlformats.org/drawingml/2006/main">
              <a:ext uri="{FF2B5EF4-FFF2-40B4-BE49-F238E27FC236}">
                <a16:creationId xmlns:a16="http://schemas.microsoft.com/office/drawing/2014/main" id="{19F8D423-D616-468C-803F-67CC61F19AF1}"/>
              </a:ext>
            </a:extLst>
          </p:cNvPr>
          <p:cNvSpPr>
            <a:spLocks xmlns:a="http://schemas.openxmlformats.org/drawingml/2006/main" noGrp="1"/>
          </p:cNvSpPr>
          <p:nvPr/>
        </p:nvSpPr>
        <p:spPr>
          <a:xfrm xmlns:a="http://schemas.openxmlformats.org/drawingml/2006/main">
            <a:off x="8410575" y="4381500"/>
            <a:ext cx="319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D3B"/>
                </a:solidFill>
                <a:latin typeface="Arial"/>
                <a:ea typeface="Arial"/>
                <a:cs typeface="Arial"/>
              </a:defRPr>
            </a:pPr>
            <a:r>
              <a:rPr sz="2025" b="0">
                <a:solidFill>
                  <a:srgbClr val="163D3B"/>
                </a:solidFill>
                <a:latin typeface="Arial"/>
                <a:ea typeface="Arial"/>
                <a:cs typeface="Arial"/>
              </a:rPr>
              <a:t>3.6% aligned with</a:t>
            </a:r>
          </a:p>
          <a:p xmlns:a="http://schemas.openxmlformats.org/drawingml/2006/main">
            <a:pPr>
              <a:defRPr sz="2025" b="0">
                <a:solidFill>
                  <a:srgbClr val="163D3B"/>
                </a:solidFill>
                <a:latin typeface="Arial"/>
                <a:ea typeface="Arial"/>
                <a:cs typeface="Arial"/>
              </a:defRPr>
            </a:pPr>
            <a:r>
              <a:rPr sz="2025" b="0">
                <a:solidFill>
                  <a:srgbClr val="163D3B"/>
                </a:solidFill>
                <a:latin typeface="Arial"/>
                <a:ea typeface="Arial"/>
                <a:cs typeface="Arial"/>
              </a:rPr>
              <a:t>the Teacher Guide.</a:t>
            </a:r>
          </a:p>
        </p:txBody>
      </p:sp>
      <p:sp>
        <p:nvSpPr>
          <p:cNvPr id="12" name="">
            <a:extLst xmlns:a="http://schemas.openxmlformats.org/drawingml/2006/main">
              <a:ext uri="{FF2B5EF4-FFF2-40B4-BE49-F238E27FC236}">
                <a16:creationId xmlns:a16="http://schemas.microsoft.com/office/drawing/2014/main" id="{CD2083B5-DEFA-4BFE-9596-7AB6B6AAF62F}"/>
              </a:ext>
            </a:extLst>
          </p:cNvPr>
          <p:cNvSpPr>
            <a:spLocks xmlns:a="http://schemas.openxmlformats.org/drawingml/2006/main" noGrp="1"/>
          </p:cNvSpPr>
          <p:nvPr/>
        </p:nvSpPr>
        <p:spPr>
          <a:xfrm xmlns:a="http://schemas.openxmlformats.org/drawingml/2006/main">
            <a:off x="723900" y="55626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3D3B"/>
                </a:solidFill>
                <a:latin typeface="Arial"/>
                <a:ea typeface="Arial"/>
                <a:cs typeface="Arial"/>
              </a:defRPr>
            </a:pPr>
            <a:r>
              <a:rPr sz="2025" b="1">
                <a:solidFill>
                  <a:srgbClr val="163D3B"/>
                </a:solidFill>
                <a:latin typeface="Arial"/>
                <a:ea typeface="Arial"/>
                <a:cs typeface="Arial"/>
              </a:rPr>
              <a:t>Suggested response: address student reach and support practical lesson preparation.</a:t>
            </a:r>
          </a:p>
        </p:txBody>
      </p:sp>
      <p:sp>
        <p:nvSpPr>
          <p:cNvPr id="13" name="">
            <a:extLst xmlns:a="http://schemas.openxmlformats.org/drawingml/2006/main">
              <a:ext uri="{FF2B5EF4-FFF2-40B4-BE49-F238E27FC236}">
                <a16:creationId xmlns:a16="http://schemas.microsoft.com/office/drawing/2014/main" id="{E05EB348-C4F4-437C-AD63-395734DA3827}"/>
              </a:ext>
            </a:extLst>
          </p:cNvPr>
          <p:cNvSpPr>
            <a:spLocks xmlns:a="http://schemas.openxmlformats.org/drawingml/2006/main" noGrp="1"/>
          </p:cNvSpPr>
          <p:nvPr/>
        </p:nvSpPr>
        <p:spPr>
          <a:xfrm xmlns:a="http://schemas.openxmlformats.org/drawingml/2006/main">
            <a:off x="723900" y="62674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8746E"/>
                </a:solidFill>
                <a:latin typeface="Arial"/>
                <a:ea typeface="Arial"/>
                <a:cs typeface="Arial"/>
              </a:defRPr>
            </a:pPr>
            <a:r>
              <a:rPr sz="1425" b="0">
                <a:solidFill>
                  <a:srgbClr val="68746E"/>
                </a:solidFill>
                <a:latin typeface="Arial"/>
                <a:ea typeface="Arial"/>
                <a:cs typeface="Arial"/>
              </a:rPr>
              <a:t>Source: CRO dashboard, all filters. 411 sampled classrooms across 55 districts.</a:t>
            </a:r>
          </a:p>
        </p:txBody>
      </p:sp>
    </p:spTree>
    <p:extLst>
      <p:ext uri="{BB962C8B-B14F-4D97-AF65-F5344CB8AC3E}">
        <p14:creationId xmlns:p14="http://schemas.microsoft.com/office/powerpoint/2010/main" val="1022807446"/>
      </p:ext>
    </p:extLst>
  </p:cSld>
</p:sld>
</file>

<file path=ppt/slides/slide5.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653863-9F31-4781-9DEF-4838D7229016}"/>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Where this can help us</a:t>
            </a:r>
          </a:p>
        </p:txBody>
      </p:sp>
      <p:sp>
        <p:nvSpPr>
          <p:cNvPr id="2" name="">
            <a:extLst xmlns:a="http://schemas.openxmlformats.org/drawingml/2006/main">
              <a:ext uri="{FF2B5EF4-FFF2-40B4-BE49-F238E27FC236}">
                <a16:creationId xmlns:a16="http://schemas.microsoft.com/office/drawing/2014/main" id="{D67FD846-AF10-49DF-8069-FFDD2A9500F5}"/>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05</a:t>
            </a:r>
          </a:p>
        </p:txBody>
      </p:sp>
      <p:graphicFrame>
        <p:nvGraphicFramePr>
          <p:cNvPr id="7" name=""/>
          <p:cNvGraphicFramePr/>
          <p:nvPr/>
        </p:nvGraphicFramePr>
        <p:xfrm>
          <a:off xmlns:a="http://schemas.openxmlformats.org/drawingml/2006/main" x="723900" y="1752600"/>
          <a:ext xmlns:a="http://schemas.openxmlformats.org/drawingml/2006/main" cx="10744200" cy="4038600"/>
        </p:xfrm>
        <a:graphic xmlns:a="http://schemas.openxmlformats.org/drawingml/2006/main">
          <a:graphicData uri="http://schemas.openxmlformats.org/drawingml/2006/table">
            <a:tbl>
              <a:tblPr/>
              <a:tblGrid>
                <a:gridCol w="2476500"/>
                <a:gridCol w="4648200"/>
                <a:gridCol w="3619500"/>
              </a:tblGrid>
              <a:tr h="673100">
                <a:tc>
                  <a:txBody>
                    <a:bodyPr/>
                    <a:lstStyle/>
                    <a:p>
                      <a:r>
                        <a:rPr sz="1875" b="1">
                          <a:solidFill>
                            <a:srgbClr val="F7F2EA"/>
                          </a:solidFill>
                          <a:latin typeface="Arial"/>
                          <a:ea typeface="Arial"/>
                          <a:cs typeface="Arial"/>
                        </a:rPr>
                        <a:t>Analysis</a:t>
                      </a:r>
                    </a:p>
                  </a:txBody>
                  <a:tcPr marL="91440" marR="91440" marT="45720" marB="45720">
                    <a:solidFill>
                      <a:srgbClr val="163D3B"/>
                    </a:solidFill>
                  </a:tcPr>
                </a:tc>
                <a:tc>
                  <a:txBody>
                    <a:bodyPr/>
                    <a:lstStyle/>
                    <a:p>
                      <a:r>
                        <a:rPr sz="1875" b="1">
                          <a:solidFill>
                            <a:srgbClr val="F7F2EA"/>
                          </a:solidFill>
                          <a:latin typeface="Arial"/>
                          <a:ea typeface="Arial"/>
                          <a:cs typeface="Arial"/>
                        </a:rPr>
                        <a:t>Questions we could answer</a:t>
                      </a:r>
                    </a:p>
                  </a:txBody>
                  <a:tcPr marL="91440" marR="91440" marT="45720" marB="45720">
                    <a:solidFill>
                      <a:srgbClr val="163D3B"/>
                    </a:solidFill>
                  </a:tcPr>
                </a:tc>
                <a:tc>
                  <a:txBody>
                    <a:bodyPr/>
                    <a:lstStyle/>
                    <a:p>
                      <a:r>
                        <a:rPr sz="1875" b="1">
                          <a:solidFill>
                            <a:srgbClr val="F7F2EA"/>
                          </a:solidFill>
                          <a:latin typeface="Arial"/>
                          <a:ea typeface="Arial"/>
                          <a:cs typeface="Arial"/>
                        </a:rPr>
                        <a:t>Useful output</a:t>
                      </a:r>
                    </a:p>
                  </a:txBody>
                  <a:tcPr marL="91440" marR="91440" marT="45720" marB="45720">
                    <a:solidFill>
                      <a:srgbClr val="163D3B"/>
                    </a:solidFill>
                  </a:tcPr>
                </a:tc>
              </a:tr>
              <a:tr h="673100">
                <a:tc>
                  <a:txBody>
                    <a:bodyPr/>
                    <a:lstStyle/>
                    <a:p>
                      <a:r>
                        <a:rPr sz="1875" b="1">
                          <a:solidFill>
                            <a:srgbClr val="163D3B"/>
                          </a:solidFill>
                          <a:latin typeface="Arial"/>
                          <a:ea typeface="Arial"/>
                          <a:cs typeface="Arial"/>
                        </a:rPr>
                        <a:t>Interviews and reports</a:t>
                      </a:r>
                    </a:p>
                  </a:txBody>
                  <a:tcPr marL="91440" marR="91440" marT="45720" marB="45720">
                    <a:solidFill>
                      <a:srgbClr val="F7F2EA"/>
                    </a:solidFill>
                  </a:tcPr>
                </a:tc>
                <a:tc>
                  <a:txBody>
                    <a:bodyPr/>
                    <a:lstStyle/>
                    <a:p>
                      <a:r>
                        <a:rPr sz="1875" b="0">
                          <a:solidFill>
                            <a:srgbClr val="163D3B"/>
                          </a:solidFill>
                          <a:latin typeface="Arial"/>
                          <a:ea typeface="Arial"/>
                          <a:cs typeface="Arial"/>
                        </a:rPr>
                        <a:t>What issues keep appearing?</a:t>
                      </a:r>
                    </a:p>
                  </a:txBody>
                  <a:tcPr marL="91440" marR="91440" marT="45720" marB="45720">
                    <a:solidFill>
                      <a:srgbClr val="F7F2EA"/>
                    </a:solidFill>
                  </a:tcPr>
                </a:tc>
                <a:tc>
                  <a:txBody>
                    <a:bodyPr/>
                    <a:lstStyle/>
                    <a:p>
                      <a:r>
                        <a:rPr sz="1875" b="0">
                          <a:solidFill>
                            <a:srgbClr val="163D3B"/>
                          </a:solidFill>
                          <a:latin typeface="Arial"/>
                          <a:ea typeface="Arial"/>
                          <a:cs typeface="Arial"/>
                        </a:rPr>
                        <a:t>Themes with supporting extracts</a:t>
                      </a:r>
                    </a:p>
                  </a:txBody>
                  <a:tcPr marL="91440" marR="91440" marT="45720" marB="45720">
                    <a:solidFill>
                      <a:srgbClr val="F7F2EA"/>
                    </a:solidFill>
                  </a:tcPr>
                </a:tc>
              </a:tr>
              <a:tr h="673100">
                <a:tc>
                  <a:txBody>
                    <a:bodyPr/>
                    <a:lstStyle/>
                    <a:p>
                      <a:r>
                        <a:rPr sz="1875" b="1">
                          <a:solidFill>
                            <a:srgbClr val="163D3B"/>
                          </a:solidFill>
                          <a:latin typeface="Arial"/>
                          <a:ea typeface="Arial"/>
                          <a:cs typeface="Arial"/>
                        </a:rPr>
                        <a:t>Surveys and assessments</a:t>
                      </a:r>
                    </a:p>
                  </a:txBody>
                  <a:tcPr marL="91440" marR="91440" marT="45720" marB="45720">
                    <a:solidFill>
                      <a:srgbClr val="ECE8DC"/>
                    </a:solidFill>
                  </a:tcPr>
                </a:tc>
                <a:tc>
                  <a:txBody>
                    <a:bodyPr/>
                    <a:lstStyle/>
                    <a:p>
                      <a:r>
                        <a:rPr sz="1875" b="0">
                          <a:solidFill>
                            <a:srgbClr val="163D3B"/>
                          </a:solidFill>
                          <a:latin typeface="Arial"/>
                          <a:ea typeface="Arial"/>
                          <a:cs typeface="Arial"/>
                        </a:rPr>
                        <a:t>Which groups or topics need support?</a:t>
                      </a:r>
                    </a:p>
                  </a:txBody>
                  <a:tcPr marL="91440" marR="91440" marT="45720" marB="45720">
                    <a:solidFill>
                      <a:srgbClr val="ECE8DC"/>
                    </a:solidFill>
                  </a:tcPr>
                </a:tc>
                <a:tc>
                  <a:txBody>
                    <a:bodyPr/>
                    <a:lstStyle/>
                    <a:p>
                      <a:r>
                        <a:rPr sz="1875" b="0">
                          <a:solidFill>
                            <a:srgbClr val="163D3B"/>
                          </a:solidFill>
                          <a:latin typeface="Arial"/>
                          <a:ea typeface="Arial"/>
                          <a:cs typeface="Arial"/>
                        </a:rPr>
                        <a:t>Comparisons and gaps</a:t>
                      </a:r>
                    </a:p>
                  </a:txBody>
                  <a:tcPr marL="91440" marR="91440" marT="45720" marB="45720">
                    <a:solidFill>
                      <a:srgbClr val="ECE8DC"/>
                    </a:solidFill>
                  </a:tcPr>
                </a:tc>
              </a:tr>
              <a:tr h="673100">
                <a:tc>
                  <a:txBody>
                    <a:bodyPr/>
                    <a:lstStyle/>
                    <a:p>
                      <a:r>
                        <a:rPr sz="1875" b="1">
                          <a:solidFill>
                            <a:srgbClr val="163D3B"/>
                          </a:solidFill>
                          <a:latin typeface="Arial"/>
                          <a:ea typeface="Arial"/>
                          <a:cs typeface="Arial"/>
                        </a:rPr>
                        <a:t>Chatbot usage and feedback</a:t>
                      </a:r>
                    </a:p>
                  </a:txBody>
                  <a:tcPr marL="91440" marR="91440" marT="45720" marB="45720">
                    <a:solidFill>
                      <a:srgbClr val="F7F2EA"/>
                    </a:solidFill>
                  </a:tcPr>
                </a:tc>
                <a:tc>
                  <a:txBody>
                    <a:bodyPr/>
                    <a:lstStyle/>
                    <a:p>
                      <a:r>
                        <a:rPr sz="1875" b="0">
                          <a:solidFill>
                            <a:srgbClr val="163D3B"/>
                          </a:solidFill>
                          <a:latin typeface="Arial"/>
                          <a:ea typeface="Arial"/>
                          <a:cs typeface="Arial"/>
                        </a:rPr>
                        <a:t>Where do users struggle or stop?</a:t>
                      </a:r>
                    </a:p>
                  </a:txBody>
                  <a:tcPr marL="91440" marR="91440" marT="45720" marB="45720">
                    <a:solidFill>
                      <a:srgbClr val="F7F2EA"/>
                    </a:solidFill>
                  </a:tcPr>
                </a:tc>
                <a:tc>
                  <a:txBody>
                    <a:bodyPr/>
                    <a:lstStyle/>
                    <a:p>
                      <a:r>
                        <a:rPr sz="1875" b="0">
                          <a:solidFill>
                            <a:srgbClr val="163D3B"/>
                          </a:solidFill>
                          <a:latin typeface="Arial"/>
                          <a:ea typeface="Arial"/>
                          <a:cs typeface="Arial"/>
                        </a:rPr>
                        <a:t>Usage patterns and user concerns</a:t>
                      </a:r>
                    </a:p>
                  </a:txBody>
                  <a:tcPr marL="91440" marR="91440" marT="45720" marB="45720">
                    <a:solidFill>
                      <a:srgbClr val="F7F2EA"/>
                    </a:solidFill>
                  </a:tcPr>
                </a:tc>
              </a:tr>
              <a:tr h="673100">
                <a:tc>
                  <a:txBody>
                    <a:bodyPr/>
                    <a:lstStyle/>
                    <a:p>
                      <a:r>
                        <a:rPr sz="1875" b="1">
                          <a:solidFill>
                            <a:srgbClr val="163D3B"/>
                          </a:solidFill>
                          <a:latin typeface="Arial"/>
                          <a:ea typeface="Arial"/>
                          <a:cs typeface="Arial"/>
                        </a:rPr>
                        <a:t>Across projects or years</a:t>
                      </a:r>
                    </a:p>
                  </a:txBody>
                  <a:tcPr marL="91440" marR="91440" marT="45720" marB="45720">
                    <a:solidFill>
                      <a:srgbClr val="ECE8DC"/>
                    </a:solidFill>
                  </a:tcPr>
                </a:tc>
                <a:tc>
                  <a:txBody>
                    <a:bodyPr/>
                    <a:lstStyle/>
                    <a:p>
                      <a:r>
                        <a:rPr sz="1875" b="0">
                          <a:solidFill>
                            <a:srgbClr val="163D3B"/>
                          </a:solidFill>
                          <a:latin typeface="Arial"/>
                          <a:ea typeface="Arial"/>
                          <a:cs typeface="Arial"/>
                        </a:rPr>
                        <a:t>What repeats, improves or differs?</a:t>
                      </a:r>
                    </a:p>
                  </a:txBody>
                  <a:tcPr marL="91440" marR="91440" marT="45720" marB="45720">
                    <a:solidFill>
                      <a:srgbClr val="ECE8DC"/>
                    </a:solidFill>
                  </a:tcPr>
                </a:tc>
                <a:tc>
                  <a:txBody>
                    <a:bodyPr/>
                    <a:lstStyle/>
                    <a:p>
                      <a:r>
                        <a:rPr sz="1875" b="0">
                          <a:solidFill>
                            <a:srgbClr val="163D3B"/>
                          </a:solidFill>
                          <a:latin typeface="Arial"/>
                          <a:ea typeface="Arial"/>
                          <a:cs typeface="Arial"/>
                        </a:rPr>
                        <a:t>A synthesis of shared lessons</a:t>
                      </a:r>
                    </a:p>
                  </a:txBody>
                  <a:tcPr marL="91440" marR="91440" marT="45720" marB="45720">
                    <a:solidFill>
                      <a:srgbClr val="ECE8DC"/>
                    </a:solidFill>
                  </a:tcPr>
                </a:tc>
              </a:tr>
              <a:tr h="673100">
                <a:tc>
                  <a:txBody>
                    <a:bodyPr/>
                    <a:lstStyle/>
                    <a:p>
                      <a:r>
                        <a:rPr sz="1875" b="1">
                          <a:solidFill>
                            <a:srgbClr val="163D3B"/>
                          </a:solidFill>
                          <a:latin typeface="Arial"/>
                          <a:ea typeface="Arial"/>
                          <a:cs typeface="Arial"/>
                        </a:rPr>
                        <a:t>Outcome prediction</a:t>
                      </a:r>
                    </a:p>
                  </a:txBody>
                  <a:tcPr marL="91440" marR="91440" marT="45720" marB="45720">
                    <a:solidFill>
                      <a:srgbClr val="F7F2EA"/>
                    </a:solidFill>
                  </a:tcPr>
                </a:tc>
                <a:tc>
                  <a:txBody>
                    <a:bodyPr/>
                    <a:lstStyle/>
                    <a:p>
                      <a:r>
                        <a:rPr sz="1875" b="0">
                          <a:solidFill>
                            <a:srgbClr val="163D3B"/>
                          </a:solidFill>
                          <a:latin typeface="Arial"/>
                          <a:ea typeface="Arial"/>
                          <a:cs typeface="Arial"/>
                        </a:rPr>
                        <a:t>Who may need additional support?</a:t>
                      </a:r>
                    </a:p>
                  </a:txBody>
                  <a:tcPr marL="91440" marR="91440" marT="45720" marB="45720">
                    <a:solidFill>
                      <a:srgbClr val="F7F2EA"/>
                    </a:solidFill>
                  </a:tcPr>
                </a:tc>
                <a:tc>
                  <a:txBody>
                    <a:bodyPr/>
                    <a:lstStyle/>
                    <a:p>
                      <a:r>
                        <a:rPr sz="1875" b="0">
                          <a:solidFill>
                            <a:srgbClr val="163D3B"/>
                          </a:solidFill>
                          <a:latin typeface="Arial"/>
                          <a:ea typeface="Arial"/>
                          <a:cs typeface="Arial"/>
                        </a:rPr>
                        <a:t>Tested estimates for follow-up</a:t>
                      </a:r>
                    </a:p>
                  </a:txBody>
                  <a:tcPr marL="91440" marR="91440" marT="45720" marB="45720">
                    <a:solidFill>
                      <a:srgbClr val="F7F2EA"/>
                    </a:solidFill>
                  </a:tcPr>
                </a:tc>
              </a:tr>
            </a:tbl>
          </a:graphicData>
        </a:graphic>
      </p:graphicFrame>
      <p:sp>
        <p:nvSpPr>
          <p:cNvPr id="4" name="">
            <a:extLst xmlns:a="http://schemas.openxmlformats.org/drawingml/2006/main">
              <a:ext uri="{FF2B5EF4-FFF2-40B4-BE49-F238E27FC236}">
                <a16:creationId xmlns:a16="http://schemas.microsoft.com/office/drawing/2014/main" id="{D398E24D-9193-4CC9-9475-DD819BCE71A3}"/>
              </a:ext>
            </a:extLst>
          </p:cNvPr>
          <p:cNvSpPr>
            <a:spLocks xmlns:a="http://schemas.openxmlformats.org/drawingml/2006/main" noGrp="1"/>
          </p:cNvSpPr>
          <p:nvPr/>
        </p:nvSpPr>
        <p:spPr>
          <a:xfrm xmlns:a="http://schemas.openxmlformats.org/drawingml/2006/main">
            <a:off x="723900" y="6019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8746E"/>
                </a:solidFill>
                <a:latin typeface="Arial"/>
                <a:ea typeface="Arial"/>
                <a:cs typeface="Arial"/>
              </a:defRPr>
            </a:pPr>
            <a:r>
              <a:rPr sz="1725" b="0">
                <a:solidFill>
                  <a:srgbClr val="68746E"/>
                </a:solidFill>
                <a:latin typeface="Arial"/>
                <a:ea typeface="Arial"/>
                <a:cs typeface="Arial"/>
              </a:rPr>
              <a:t>Applications depend on the data available and the research question.</a:t>
            </a:r>
          </a:p>
        </p:txBody>
      </p:sp>
    </p:spTree>
    <p:extLst>
      <p:ext uri="{BB962C8B-B14F-4D97-AF65-F5344CB8AC3E}">
        <p14:creationId xmlns:p14="http://schemas.microsoft.com/office/powerpoint/2010/main" val="1995261576"/>
      </p:ext>
    </p:extLst>
  </p:cSld>
</p:sld>
</file>

<file path=ppt/slides/slide6.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F7E3AC-60E0-4B5C-89C7-7D6D5841D30E}"/>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The tools and their roles</a:t>
            </a:r>
          </a:p>
        </p:txBody>
      </p:sp>
      <p:sp>
        <p:nvSpPr>
          <p:cNvPr id="2" name="">
            <a:extLst xmlns:a="http://schemas.openxmlformats.org/drawingml/2006/main">
              <a:ext uri="{FF2B5EF4-FFF2-40B4-BE49-F238E27FC236}">
                <a16:creationId xmlns:a16="http://schemas.microsoft.com/office/drawing/2014/main" id="{9F1205FA-1E17-4CBF-911C-20B0CE2E613E}"/>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06</a:t>
            </a:r>
          </a:p>
        </p:txBody>
      </p:sp>
      <p:graphicFrame>
        <p:nvGraphicFramePr>
          <p:cNvPr id="7" name=""/>
          <p:cNvGraphicFramePr/>
          <p:nvPr/>
        </p:nvGraphicFramePr>
        <p:xfrm>
          <a:off xmlns:a="http://schemas.openxmlformats.org/drawingml/2006/main" x="723900" y="1866900"/>
          <a:ext xmlns:a="http://schemas.openxmlformats.org/drawingml/2006/main" cx="10744200" cy="3333750"/>
        </p:xfrm>
        <a:graphic xmlns:a="http://schemas.openxmlformats.org/drawingml/2006/main">
          <a:graphicData uri="http://schemas.openxmlformats.org/drawingml/2006/table">
            <a:tbl>
              <a:tblPr/>
              <a:tblGrid>
                <a:gridCol w="2047875"/>
                <a:gridCol w="4619625"/>
                <a:gridCol w="4076700"/>
              </a:tblGrid>
              <a:tr h="666750">
                <a:tc>
                  <a:txBody>
                    <a:bodyPr/>
                    <a:lstStyle/>
                    <a:p>
                      <a:r>
                        <a:rPr sz="1875" b="1">
                          <a:solidFill>
                            <a:srgbClr val="F7F2EA"/>
                          </a:solidFill>
                          <a:latin typeface="Arial"/>
                          <a:ea typeface="Arial"/>
                          <a:cs typeface="Arial"/>
                        </a:rPr>
                        <a:t>Tool</a:t>
                      </a:r>
                    </a:p>
                  </a:txBody>
                  <a:tcPr marL="91440" marR="91440" marT="45720" marB="45720">
                    <a:solidFill>
                      <a:srgbClr val="163D3B"/>
                    </a:solidFill>
                  </a:tcPr>
                </a:tc>
                <a:tc>
                  <a:txBody>
                    <a:bodyPr/>
                    <a:lstStyle/>
                    <a:p>
                      <a:r>
                        <a:rPr sz="1875" b="1">
                          <a:solidFill>
                            <a:srgbClr val="F7F2EA"/>
                          </a:solidFill>
                          <a:latin typeface="Arial"/>
                          <a:ea typeface="Arial"/>
                          <a:cs typeface="Arial"/>
                        </a:rPr>
                        <a:t>Role in the proposed workflow</a:t>
                      </a:r>
                    </a:p>
                  </a:txBody>
                  <a:tcPr marL="91440" marR="91440" marT="45720" marB="45720">
                    <a:solidFill>
                      <a:srgbClr val="163D3B"/>
                    </a:solidFill>
                  </a:tcPr>
                </a:tc>
                <a:tc>
                  <a:txBody>
                    <a:bodyPr/>
                    <a:lstStyle/>
                    <a:p>
                      <a:r>
                        <a:rPr sz="1875" b="1">
                          <a:solidFill>
                            <a:srgbClr val="F7F2EA"/>
                          </a:solidFill>
                          <a:latin typeface="Arial"/>
                          <a:ea typeface="Arial"/>
                          <a:cs typeface="Arial"/>
                        </a:rPr>
                        <a:t>Benefit for our team</a:t>
                      </a:r>
                    </a:p>
                  </a:txBody>
                  <a:tcPr marL="91440" marR="91440" marT="45720" marB="45720">
                    <a:solidFill>
                      <a:srgbClr val="163D3B"/>
                    </a:solidFill>
                  </a:tcPr>
                </a:tc>
              </a:tr>
              <a:tr h="666750">
                <a:tc>
                  <a:txBody>
                    <a:bodyPr/>
                    <a:lstStyle/>
                    <a:p>
                      <a:r>
                        <a:rPr sz="1875" b="1">
                          <a:solidFill>
                            <a:srgbClr val="163D3B"/>
                          </a:solidFill>
                          <a:latin typeface="Arial"/>
                          <a:ea typeface="Arial"/>
                          <a:cs typeface="Arial"/>
                        </a:rPr>
                        <a:t>Qwen</a:t>
                      </a:r>
                    </a:p>
                  </a:txBody>
                  <a:tcPr marL="91440" marR="91440" marT="45720" marB="45720">
                    <a:solidFill>
                      <a:srgbClr val="F7F2EA"/>
                    </a:solidFill>
                  </a:tcPr>
                </a:tc>
                <a:tc>
                  <a:txBody>
                    <a:bodyPr/>
                    <a:lstStyle/>
                    <a:p>
                      <a:r>
                        <a:rPr sz="1875" b="0">
                          <a:solidFill>
                            <a:srgbClr val="163D3B"/>
                          </a:solidFill>
                          <a:latin typeface="Arial"/>
                          <a:ea typeface="Arial"/>
                          <a:cs typeface="Arial"/>
                        </a:rPr>
                        <a:t>Read notes and organise themes</a:t>
                      </a:r>
                    </a:p>
                  </a:txBody>
                  <a:tcPr marL="91440" marR="91440" marT="45720" marB="45720">
                    <a:solidFill>
                      <a:srgbClr val="F7F2EA"/>
                    </a:solidFill>
                  </a:tcPr>
                </a:tc>
                <a:tc>
                  <a:txBody>
                    <a:bodyPr/>
                    <a:lstStyle/>
                    <a:p>
                      <a:r>
                        <a:rPr sz="1875" b="0">
                          <a:solidFill>
                            <a:srgbClr val="163D3B"/>
                          </a:solidFill>
                          <a:latin typeface="Arial"/>
                          <a:ea typeface="Arial"/>
                          <a:cs typeface="Arial"/>
                        </a:rPr>
                        <a:t>Less repetitive reading and sorting</a:t>
                      </a:r>
                    </a:p>
                  </a:txBody>
                  <a:tcPr marL="91440" marR="91440" marT="45720" marB="45720">
                    <a:solidFill>
                      <a:srgbClr val="F7F2EA"/>
                    </a:solidFill>
                  </a:tcPr>
                </a:tc>
              </a:tr>
              <a:tr h="666750">
                <a:tc>
                  <a:txBody>
                    <a:bodyPr/>
                    <a:lstStyle/>
                    <a:p>
                      <a:r>
                        <a:rPr sz="1875" b="1">
                          <a:solidFill>
                            <a:srgbClr val="163D3B"/>
                          </a:solidFill>
                          <a:latin typeface="Arial"/>
                          <a:ea typeface="Arial"/>
                          <a:cs typeface="Arial"/>
                        </a:rPr>
                        <a:t>DeepSeek</a:t>
                      </a:r>
                    </a:p>
                  </a:txBody>
                  <a:tcPr marL="91440" marR="91440" marT="45720" marB="45720">
                    <a:solidFill>
                      <a:srgbClr val="ECE8DC"/>
                    </a:solidFill>
                  </a:tcPr>
                </a:tc>
                <a:tc>
                  <a:txBody>
                    <a:bodyPr/>
                    <a:lstStyle/>
                    <a:p>
                      <a:r>
                        <a:rPr sz="1875" b="0">
                          <a:solidFill>
                            <a:srgbClr val="163D3B"/>
                          </a:solidFill>
                          <a:latin typeface="Arial"/>
                          <a:ea typeface="Arial"/>
                          <a:cs typeface="Arial"/>
                        </a:rPr>
                        <a:t>Compare evidence and draft explanations</a:t>
                      </a:r>
                    </a:p>
                  </a:txBody>
                  <a:tcPr marL="91440" marR="91440" marT="45720" marB="45720">
                    <a:solidFill>
                      <a:srgbClr val="ECE8DC"/>
                    </a:solidFill>
                  </a:tcPr>
                </a:tc>
                <a:tc>
                  <a:txBody>
                    <a:bodyPr/>
                    <a:lstStyle/>
                    <a:p>
                      <a:r>
                        <a:rPr sz="1875" b="0">
                          <a:solidFill>
                            <a:srgbClr val="163D3B"/>
                          </a:solidFill>
                          <a:latin typeface="Arial"/>
                          <a:ea typeface="Arial"/>
                          <a:cs typeface="Arial"/>
                        </a:rPr>
                        <a:t>A starting point for deeper review</a:t>
                      </a:r>
                    </a:p>
                  </a:txBody>
                  <a:tcPr marL="91440" marR="91440" marT="45720" marB="45720">
                    <a:solidFill>
                      <a:srgbClr val="ECE8DC"/>
                    </a:solidFill>
                  </a:tcPr>
                </a:tc>
              </a:tr>
              <a:tr h="666750">
                <a:tc>
                  <a:txBody>
                    <a:bodyPr/>
                    <a:lstStyle/>
                    <a:p>
                      <a:r>
                        <a:rPr sz="1875" b="1">
                          <a:solidFill>
                            <a:srgbClr val="163D3B"/>
                          </a:solidFill>
                          <a:latin typeface="Arial"/>
                          <a:ea typeface="Arial"/>
                          <a:cs typeface="Arial"/>
                        </a:rPr>
                        <a:t>TabFM</a:t>
                      </a:r>
                    </a:p>
                  </a:txBody>
                  <a:tcPr marL="91440" marR="91440" marT="45720" marB="45720">
                    <a:solidFill>
                      <a:srgbClr val="F7F2EA"/>
                    </a:solidFill>
                  </a:tcPr>
                </a:tc>
                <a:tc>
                  <a:txBody>
                    <a:bodyPr/>
                    <a:lstStyle/>
                    <a:p>
                      <a:r>
                        <a:rPr sz="1875" b="0">
                          <a:solidFill>
                            <a:srgbClr val="163D3B"/>
                          </a:solidFill>
                          <a:latin typeface="Arial"/>
                          <a:ea typeface="Arial"/>
                          <a:cs typeface="Arial"/>
                        </a:rPr>
                        <a:t>Estimate outcomes from spreadsheet data</a:t>
                      </a:r>
                    </a:p>
                  </a:txBody>
                  <a:tcPr marL="91440" marR="91440" marT="45720" marB="45720">
                    <a:solidFill>
                      <a:srgbClr val="F7F2EA"/>
                    </a:solidFill>
                  </a:tcPr>
                </a:tc>
                <a:tc>
                  <a:txBody>
                    <a:bodyPr/>
                    <a:lstStyle/>
                    <a:p>
                      <a:r>
                        <a:rPr sz="1875" b="0">
                          <a:solidFill>
                            <a:srgbClr val="163D3B"/>
                          </a:solidFill>
                          <a:latin typeface="Arial"/>
                          <a:ea typeface="Arial"/>
                          <a:cs typeface="Arial"/>
                        </a:rPr>
                        <a:t>Quicker prediction experiments</a:t>
                      </a:r>
                    </a:p>
                  </a:txBody>
                  <a:tcPr marL="91440" marR="91440" marT="45720" marB="45720">
                    <a:solidFill>
                      <a:srgbClr val="F7F2EA"/>
                    </a:solidFill>
                  </a:tcPr>
                </a:tc>
              </a:tr>
              <a:tr h="666750">
                <a:tc>
                  <a:txBody>
                    <a:bodyPr/>
                    <a:lstStyle/>
                    <a:p>
                      <a:r>
                        <a:rPr sz="1875" b="1">
                          <a:solidFill>
                            <a:srgbClr val="163D3B"/>
                          </a:solidFill>
                          <a:latin typeface="Arial"/>
                          <a:ea typeface="Arial"/>
                          <a:cs typeface="Arial"/>
                        </a:rPr>
                        <a:t>Streamlit</a:t>
                      </a:r>
                    </a:p>
                  </a:txBody>
                  <a:tcPr marL="91440" marR="91440" marT="45720" marB="45720">
                    <a:solidFill>
                      <a:srgbClr val="ECE8DC"/>
                    </a:solidFill>
                  </a:tcPr>
                </a:tc>
                <a:tc>
                  <a:txBody>
                    <a:bodyPr/>
                    <a:lstStyle/>
                    <a:p>
                      <a:r>
                        <a:rPr sz="1875" b="0">
                          <a:solidFill>
                            <a:srgbClr val="163D3B"/>
                          </a:solidFill>
                          <a:latin typeface="Arial"/>
                          <a:ea typeface="Arial"/>
                          <a:cs typeface="Arial"/>
                        </a:rPr>
                        <a:t>Let users explore results in an app</a:t>
                      </a:r>
                    </a:p>
                  </a:txBody>
                  <a:tcPr marL="91440" marR="91440" marT="45720" marB="45720">
                    <a:solidFill>
                      <a:srgbClr val="ECE8DC"/>
                    </a:solidFill>
                  </a:tcPr>
                </a:tc>
                <a:tc>
                  <a:txBody>
                    <a:bodyPr/>
                    <a:lstStyle/>
                    <a:p>
                      <a:r>
                        <a:rPr sz="1875" b="0">
                          <a:solidFill>
                            <a:srgbClr val="163D3B"/>
                          </a:solidFill>
                          <a:latin typeface="Arial"/>
                          <a:ea typeface="Arial"/>
                          <a:cs typeface="Arial"/>
                        </a:rPr>
                        <a:t>Easier access to charts and evidence</a:t>
                      </a:r>
                    </a:p>
                  </a:txBody>
                  <a:tcPr marL="91440" marR="91440" marT="45720" marB="45720">
                    <a:solidFill>
                      <a:srgbClr val="ECE8DC"/>
                    </a:solidFill>
                  </a:tcPr>
                </a:tc>
              </a:tr>
            </a:tbl>
          </a:graphicData>
        </a:graphic>
      </p:graphicFrame>
      <p:sp>
        <p:nvSpPr>
          <p:cNvPr id="4" name="">
            <a:extLst xmlns:a="http://schemas.openxmlformats.org/drawingml/2006/main">
              <a:ext uri="{FF2B5EF4-FFF2-40B4-BE49-F238E27FC236}">
                <a16:creationId xmlns:a16="http://schemas.microsoft.com/office/drawing/2014/main" id="{768FD562-CECF-42A7-96EC-05D03C4E2BD9}"/>
              </a:ext>
            </a:extLst>
          </p:cNvPr>
          <p:cNvSpPr>
            <a:spLocks xmlns:a="http://schemas.openxmlformats.org/drawingml/2006/main" noGrp="1"/>
          </p:cNvSpPr>
          <p:nvPr/>
        </p:nvSpPr>
        <p:spPr>
          <a:xfrm xmlns:a="http://schemas.openxmlformats.org/drawingml/2006/main">
            <a:off x="723900" y="565785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35D3C"/>
                </a:solidFill>
                <a:latin typeface="Arial"/>
                <a:ea typeface="Arial"/>
                <a:cs typeface="Arial"/>
              </a:defRPr>
            </a:pPr>
            <a:r>
              <a:rPr sz="1950" b="1">
                <a:solidFill>
                  <a:srgbClr val="C35D3C"/>
                </a:solidFill>
                <a:latin typeface="Arial"/>
                <a:ea typeface="Arial"/>
                <a:cs typeface="Arial"/>
              </a:rPr>
              <a:t>Qwen and DeepSeek analyse text. TabFM predicts. Streamlit presents the results.</a:t>
            </a:r>
          </a:p>
        </p:txBody>
      </p:sp>
    </p:spTree>
    <p:extLst>
      <p:ext uri="{BB962C8B-B14F-4D97-AF65-F5344CB8AC3E}">
        <p14:creationId xmlns:p14="http://schemas.microsoft.com/office/powerpoint/2010/main" val="2064630369"/>
      </p:ext>
    </p:extLst>
  </p:cSld>
</p:sld>
</file>

<file path=ppt/slides/slide7.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2A2509-1C4A-4B88-9B84-D73E4C0FD401}"/>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Qwen and DeepSeek: analysis assistants</a:t>
            </a:r>
          </a:p>
        </p:txBody>
      </p:sp>
      <p:sp>
        <p:nvSpPr>
          <p:cNvPr id="2" name="">
            <a:extLst xmlns:a="http://schemas.openxmlformats.org/drawingml/2006/main">
              <a:ext uri="{FF2B5EF4-FFF2-40B4-BE49-F238E27FC236}">
                <a16:creationId xmlns:a16="http://schemas.microsoft.com/office/drawing/2014/main" id="{B3AF712C-9721-4565-82C3-B901AB5809D3}"/>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5C4B42A-55F5-4091-85F5-66CD8AB24D98}"/>
              </a:ext>
            </a:extLst>
          </p:cNvPr>
          <p:cNvSpPr>
            <a:spLocks xmlns:a="http://schemas.openxmlformats.org/drawingml/2006/main" noGrp="1"/>
          </p:cNvSpPr>
          <p:nvPr/>
        </p:nvSpPr>
        <p:spPr>
          <a:xfrm xmlns:a="http://schemas.openxmlformats.org/drawingml/2006/main">
            <a:off x="723900" y="1838325"/>
            <a:ext cx="4791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C35D3C"/>
                </a:solidFill>
                <a:latin typeface="Arial"/>
                <a:ea typeface="Arial"/>
                <a:cs typeface="Arial"/>
              </a:defRPr>
            </a:pPr>
            <a:r>
              <a:rPr sz="3900" b="1">
                <a:solidFill>
                  <a:srgbClr val="C35D3C"/>
                </a:solidFill>
                <a:latin typeface="Arial"/>
                <a:ea typeface="Arial"/>
                <a:cs typeface="Arial"/>
              </a:rPr>
              <a:t>Qwen</a:t>
            </a:r>
          </a:p>
        </p:txBody>
      </p:sp>
      <p:sp>
        <p:nvSpPr>
          <p:cNvPr id="4" name="">
            <a:extLst xmlns:a="http://schemas.openxmlformats.org/drawingml/2006/main">
              <a:ext uri="{FF2B5EF4-FFF2-40B4-BE49-F238E27FC236}">
                <a16:creationId xmlns:a16="http://schemas.microsoft.com/office/drawing/2014/main" id="{2F2EDE60-A9D6-4386-8EB4-8E14A7F7E49B}"/>
              </a:ext>
            </a:extLst>
          </p:cNvPr>
          <p:cNvSpPr>
            <a:spLocks xmlns:a="http://schemas.openxmlformats.org/drawingml/2006/main" noGrp="1"/>
          </p:cNvSpPr>
          <p:nvPr/>
        </p:nvSpPr>
        <p:spPr>
          <a:xfrm xmlns:a="http://schemas.openxmlformats.org/drawingml/2006/main">
            <a:off x="723900" y="2743200"/>
            <a:ext cx="4933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D3B"/>
                </a:solidFill>
                <a:latin typeface="Arial"/>
                <a:ea typeface="Arial"/>
                <a:cs typeface="Arial"/>
              </a:defRPr>
            </a:pPr>
            <a:r>
              <a:rPr sz="2325" b="1">
                <a:solidFill>
                  <a:srgbClr val="163D3B"/>
                </a:solidFill>
                <a:latin typeface="Arial"/>
                <a:ea typeface="Arial"/>
                <a:cs typeface="Arial"/>
              </a:rPr>
              <a:t>Organise what people say</a:t>
            </a:r>
          </a:p>
        </p:txBody>
      </p:sp>
      <p:sp>
        <p:nvSpPr>
          <p:cNvPr id="5" name="">
            <a:extLst xmlns:a="http://schemas.openxmlformats.org/drawingml/2006/main">
              <a:ext uri="{FF2B5EF4-FFF2-40B4-BE49-F238E27FC236}">
                <a16:creationId xmlns:a16="http://schemas.microsoft.com/office/drawing/2014/main" id="{2AB11165-7C27-44B9-99E4-29B5CDA279A3}"/>
              </a:ext>
            </a:extLst>
          </p:cNvPr>
          <p:cNvSpPr>
            <a:spLocks xmlns:a="http://schemas.openxmlformats.org/drawingml/2006/main" noGrp="1"/>
          </p:cNvSpPr>
          <p:nvPr/>
        </p:nvSpPr>
        <p:spPr>
          <a:xfrm xmlns:a="http://schemas.openxmlformats.org/drawingml/2006/main">
            <a:off x="723900" y="3638550"/>
            <a:ext cx="49530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Suggest themes from Hindi and English notes.</a:t>
            </a:r>
          </a:p>
          <a:p xmlns:a="http://schemas.openxmlformats.org/drawingml/2006/main">
            <a:r>
              <a:t/>
            </a:r>
          </a:p>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Extract relevant passages and draft summaries.</a:t>
            </a:r>
          </a:p>
        </p:txBody>
      </p:sp>
      <p:sp>
        <p:nvSpPr>
          <p:cNvPr id="6" name="">
            <a:extLst xmlns:a="http://schemas.openxmlformats.org/drawingml/2006/main">
              <a:ext uri="{FF2B5EF4-FFF2-40B4-BE49-F238E27FC236}">
                <a16:creationId xmlns:a16="http://schemas.microsoft.com/office/drawing/2014/main" id="{ED6888AE-A3E1-430C-B399-E341DD6E2D00}"/>
              </a:ext>
            </a:extLst>
          </p:cNvPr>
          <p:cNvSpPr>
            <a:spLocks xmlns:a="http://schemas.openxmlformats.org/drawingml/2006/main" noGrp="1"/>
          </p:cNvSpPr>
          <p:nvPr/>
        </p:nvSpPr>
        <p:spPr>
          <a:xfrm xmlns:a="http://schemas.openxmlformats.org/drawingml/2006/main">
            <a:off x="6505575" y="1838325"/>
            <a:ext cx="4895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C35D3C"/>
                </a:solidFill>
                <a:latin typeface="Arial"/>
                <a:ea typeface="Arial"/>
                <a:cs typeface="Arial"/>
              </a:defRPr>
            </a:pPr>
            <a:r>
              <a:rPr sz="3900" b="1">
                <a:solidFill>
                  <a:srgbClr val="C35D3C"/>
                </a:solidFill>
                <a:latin typeface="Arial"/>
                <a:ea typeface="Arial"/>
                <a:cs typeface="Arial"/>
              </a:rPr>
              <a:t>DeepSeek</a:t>
            </a:r>
          </a:p>
        </p:txBody>
      </p:sp>
      <p:sp>
        <p:nvSpPr>
          <p:cNvPr id="7" name="">
            <a:extLst xmlns:a="http://schemas.openxmlformats.org/drawingml/2006/main">
              <a:ext uri="{FF2B5EF4-FFF2-40B4-BE49-F238E27FC236}">
                <a16:creationId xmlns:a16="http://schemas.microsoft.com/office/drawing/2014/main" id="{97D79325-1831-4A73-88E9-D841727AF5B5}"/>
              </a:ext>
            </a:extLst>
          </p:cNvPr>
          <p:cNvSpPr>
            <a:spLocks xmlns:a="http://schemas.openxmlformats.org/drawingml/2006/main" noGrp="1"/>
          </p:cNvSpPr>
          <p:nvPr/>
        </p:nvSpPr>
        <p:spPr>
          <a:xfrm xmlns:a="http://schemas.openxmlformats.org/drawingml/2006/main">
            <a:off x="6505575" y="274320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D3B"/>
                </a:solidFill>
                <a:latin typeface="Arial"/>
                <a:ea typeface="Arial"/>
                <a:cs typeface="Arial"/>
              </a:defRPr>
            </a:pPr>
            <a:r>
              <a:rPr sz="2325" b="1">
                <a:solidFill>
                  <a:srgbClr val="163D3B"/>
                </a:solidFill>
                <a:latin typeface="Arial"/>
                <a:ea typeface="Arial"/>
                <a:cs typeface="Arial"/>
              </a:rPr>
              <a:t>Develop the interpretation</a:t>
            </a:r>
          </a:p>
        </p:txBody>
      </p:sp>
      <p:sp>
        <p:nvSpPr>
          <p:cNvPr id="8" name="">
            <a:extLst xmlns:a="http://schemas.openxmlformats.org/drawingml/2006/main">
              <a:ext uri="{FF2B5EF4-FFF2-40B4-BE49-F238E27FC236}">
                <a16:creationId xmlns:a16="http://schemas.microsoft.com/office/drawing/2014/main" id="{C900EBDD-7ADD-406D-915E-A220F97F046F}"/>
              </a:ext>
            </a:extLst>
          </p:cNvPr>
          <p:cNvSpPr>
            <a:spLocks xmlns:a="http://schemas.openxmlformats.org/drawingml/2006/main" noGrp="1"/>
          </p:cNvSpPr>
          <p:nvPr/>
        </p:nvSpPr>
        <p:spPr>
          <a:xfrm xmlns:a="http://schemas.openxmlformats.org/drawingml/2006/main">
            <a:off x="6505575" y="3638550"/>
            <a:ext cx="489585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Compare findings and flag contradictions.</a:t>
            </a:r>
          </a:p>
          <a:p xmlns:a="http://schemas.openxmlformats.org/drawingml/2006/main">
            <a:r>
              <a:t/>
            </a:r>
          </a:p>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Suggest explanations and questions to investigate.</a:t>
            </a:r>
          </a:p>
        </p:txBody>
      </p:sp>
      <p:sp>
        <p:nvSpPr>
          <p:cNvPr id="9" name="">
            <a:extLst xmlns:a="http://schemas.openxmlformats.org/drawingml/2006/main">
              <a:ext uri="{FF2B5EF4-FFF2-40B4-BE49-F238E27FC236}">
                <a16:creationId xmlns:a16="http://schemas.microsoft.com/office/drawing/2014/main" id="{41F4403E-5515-4AAB-A4F5-70DF0BB3A41C}"/>
              </a:ext>
            </a:extLst>
          </p:cNvPr>
          <p:cNvSpPr>
            <a:spLocks xmlns:a="http://schemas.openxmlformats.org/drawingml/2006/main" noGrp="1"/>
          </p:cNvSpPr>
          <p:nvPr/>
        </p:nvSpPr>
        <p:spPr>
          <a:xfrm xmlns:a="http://schemas.openxmlformats.org/drawingml/2006/main">
            <a:off x="723900" y="5962650"/>
            <a:ext cx="10744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746E"/>
                </a:solidFill>
                <a:latin typeface="Arial"/>
                <a:ea typeface="Arial"/>
                <a:cs typeface="Arial"/>
              </a:defRPr>
            </a:pPr>
            <a:r>
              <a:rPr sz="1875" b="0">
                <a:solidFill>
                  <a:srgbClr val="68746E"/>
                </a:solidFill>
                <a:latin typeface="Arial"/>
                <a:ea typeface="Arial"/>
                <a:cs typeface="Arial"/>
              </a:rPr>
              <a:t>Benefit: researchers spend more time checking meaning and less time sorting text.</a:t>
            </a:r>
          </a:p>
        </p:txBody>
      </p:sp>
    </p:spTree>
    <p:extLst>
      <p:ext uri="{BB962C8B-B14F-4D97-AF65-F5344CB8AC3E}">
        <p14:creationId xmlns:p14="http://schemas.microsoft.com/office/powerpoint/2010/main" val="1269704844"/>
      </p:ext>
    </p:extLst>
  </p:cSld>
</p:sld>
</file>

<file path=ppt/slides/slide8.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C4ED97-5C98-4803-AD1D-FEDA614860A4}"/>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TabFM: prediction from spreadsheet data</a:t>
            </a:r>
          </a:p>
        </p:txBody>
      </p:sp>
      <p:sp>
        <p:nvSpPr>
          <p:cNvPr id="2" name="">
            <a:extLst xmlns:a="http://schemas.openxmlformats.org/drawingml/2006/main">
              <a:ext uri="{FF2B5EF4-FFF2-40B4-BE49-F238E27FC236}">
                <a16:creationId xmlns:a16="http://schemas.microsoft.com/office/drawing/2014/main" id="{A1AF5C97-41FE-4790-8577-E7AD39590CEB}"/>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9D9AA1A-2C1A-4F77-AFB0-3E1BC40BBB12}"/>
              </a:ext>
            </a:extLst>
          </p:cNvPr>
          <p:cNvSpPr>
            <a:spLocks xmlns:a="http://schemas.openxmlformats.org/drawingml/2006/main" noGrp="1"/>
          </p:cNvSpPr>
          <p:nvPr/>
        </p:nvSpPr>
        <p:spPr>
          <a:xfrm xmlns:a="http://schemas.openxmlformats.org/drawingml/2006/main">
            <a:off x="723900" y="1847850"/>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35D3C"/>
                </a:solidFill>
                <a:latin typeface="Arial"/>
                <a:ea typeface="Arial"/>
                <a:cs typeface="Arial"/>
              </a:defRPr>
            </a:pPr>
            <a:r>
              <a:rPr sz="2250" b="1">
                <a:solidFill>
                  <a:srgbClr val="C35D3C"/>
                </a:solidFill>
                <a:latin typeface="Arial"/>
                <a:ea typeface="Arial"/>
                <a:cs typeface="Arial"/>
              </a:rPr>
              <a:t>What it uses</a:t>
            </a:r>
          </a:p>
        </p:txBody>
      </p:sp>
      <p:sp>
        <p:nvSpPr>
          <p:cNvPr id="4" name="">
            <a:extLst xmlns:a="http://schemas.openxmlformats.org/drawingml/2006/main">
              <a:ext uri="{FF2B5EF4-FFF2-40B4-BE49-F238E27FC236}">
                <a16:creationId xmlns:a16="http://schemas.microsoft.com/office/drawing/2014/main" id="{C5DE9EA5-3C45-4C30-A0C2-F2B6AAF712C7}"/>
              </a:ext>
            </a:extLst>
          </p:cNvPr>
          <p:cNvSpPr>
            <a:spLocks xmlns:a="http://schemas.openxmlformats.org/drawingml/2006/main" noGrp="1"/>
          </p:cNvSpPr>
          <p:nvPr/>
        </p:nvSpPr>
        <p:spPr>
          <a:xfrm xmlns:a="http://schemas.openxmlformats.org/drawingml/2006/main">
            <a:off x="3943350" y="1847850"/>
            <a:ext cx="752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D3B"/>
                </a:solidFill>
                <a:latin typeface="Arial"/>
                <a:ea typeface="Arial"/>
                <a:cs typeface="Arial"/>
              </a:defRPr>
            </a:pPr>
            <a:r>
              <a:rPr sz="2100" b="0">
                <a:solidFill>
                  <a:srgbClr val="163D3B"/>
                </a:solidFill>
                <a:latin typeface="Arial"/>
                <a:ea typeface="Arial"/>
                <a:cs typeface="Arial"/>
              </a:rPr>
              <a:t>Past records with known outcomes, such as participation or completion.</a:t>
            </a:r>
          </a:p>
        </p:txBody>
      </p:sp>
      <p:sp>
        <p:nvSpPr>
          <p:cNvPr id="5" name="">
            <a:extLst xmlns:a="http://schemas.openxmlformats.org/drawingml/2006/main">
              <a:ext uri="{FF2B5EF4-FFF2-40B4-BE49-F238E27FC236}">
                <a16:creationId xmlns:a16="http://schemas.microsoft.com/office/drawing/2014/main" id="{0EC2E4B2-EFFD-4554-A560-BE352143CAEE}"/>
              </a:ext>
            </a:extLst>
          </p:cNvPr>
          <p:cNvSpPr>
            <a:spLocks xmlns:a="http://schemas.openxmlformats.org/drawingml/2006/main" noGrp="1"/>
          </p:cNvSpPr>
          <p:nvPr/>
        </p:nvSpPr>
        <p:spPr>
          <a:xfrm xmlns:a="http://schemas.openxmlformats.org/drawingml/2006/main">
            <a:off x="723900" y="2962275"/>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35D3C"/>
                </a:solidFill>
                <a:latin typeface="Arial"/>
                <a:ea typeface="Arial"/>
                <a:cs typeface="Arial"/>
              </a:defRPr>
            </a:pPr>
            <a:r>
              <a:rPr sz="2250" b="1">
                <a:solidFill>
                  <a:srgbClr val="C35D3C"/>
                </a:solidFill>
                <a:latin typeface="Arial"/>
                <a:ea typeface="Arial"/>
                <a:cs typeface="Arial"/>
              </a:rPr>
              <a:t>What it could estimate</a:t>
            </a:r>
          </a:p>
        </p:txBody>
      </p:sp>
      <p:sp>
        <p:nvSpPr>
          <p:cNvPr id="6" name="">
            <a:extLst xmlns:a="http://schemas.openxmlformats.org/drawingml/2006/main">
              <a:ext uri="{FF2B5EF4-FFF2-40B4-BE49-F238E27FC236}">
                <a16:creationId xmlns:a16="http://schemas.microsoft.com/office/drawing/2014/main" id="{1585C6CC-F378-430D-AED1-A2CE01ACC98B}"/>
              </a:ext>
            </a:extLst>
          </p:cNvPr>
          <p:cNvSpPr>
            <a:spLocks xmlns:a="http://schemas.openxmlformats.org/drawingml/2006/main" noGrp="1"/>
          </p:cNvSpPr>
          <p:nvPr/>
        </p:nvSpPr>
        <p:spPr>
          <a:xfrm xmlns:a="http://schemas.openxmlformats.org/drawingml/2006/main">
            <a:off x="3943350" y="2962275"/>
            <a:ext cx="752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D3B"/>
                </a:solidFill>
                <a:latin typeface="Arial"/>
                <a:ea typeface="Arial"/>
                <a:cs typeface="Arial"/>
              </a:defRPr>
            </a:pPr>
            <a:r>
              <a:rPr sz="2100" b="0">
                <a:solidFill>
                  <a:srgbClr val="163D3B"/>
                </a:solidFill>
                <a:latin typeface="Arial"/>
                <a:ea typeface="Arial"/>
                <a:cs typeface="Arial"/>
              </a:rPr>
              <a:t>Which users may stop participating, or which groups may need extra support.</a:t>
            </a:r>
          </a:p>
        </p:txBody>
      </p:sp>
      <p:sp>
        <p:nvSpPr>
          <p:cNvPr id="7" name="">
            <a:extLst xmlns:a="http://schemas.openxmlformats.org/drawingml/2006/main">
              <a:ext uri="{FF2B5EF4-FFF2-40B4-BE49-F238E27FC236}">
                <a16:creationId xmlns:a16="http://schemas.microsoft.com/office/drawing/2014/main" id="{22C9674A-40DE-4058-8C46-AAF61228A956}"/>
              </a:ext>
            </a:extLst>
          </p:cNvPr>
          <p:cNvSpPr>
            <a:spLocks xmlns:a="http://schemas.openxmlformats.org/drawingml/2006/main" noGrp="1"/>
          </p:cNvSpPr>
          <p:nvPr/>
        </p:nvSpPr>
        <p:spPr>
          <a:xfrm xmlns:a="http://schemas.openxmlformats.org/drawingml/2006/main">
            <a:off x="723900" y="4076700"/>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35D3C"/>
                </a:solidFill>
                <a:latin typeface="Arial"/>
                <a:ea typeface="Arial"/>
                <a:cs typeface="Arial"/>
              </a:defRPr>
            </a:pPr>
            <a:r>
              <a:rPr sz="2250" b="1">
                <a:solidFill>
                  <a:srgbClr val="C35D3C"/>
                </a:solidFill>
                <a:latin typeface="Arial"/>
                <a:ea typeface="Arial"/>
                <a:cs typeface="Arial"/>
              </a:rPr>
              <a:t>How it could help</a:t>
            </a:r>
          </a:p>
        </p:txBody>
      </p:sp>
      <p:sp>
        <p:nvSpPr>
          <p:cNvPr id="8" name="">
            <a:extLst xmlns:a="http://schemas.openxmlformats.org/drawingml/2006/main">
              <a:ext uri="{FF2B5EF4-FFF2-40B4-BE49-F238E27FC236}">
                <a16:creationId xmlns:a16="http://schemas.microsoft.com/office/drawing/2014/main" id="{3C189EE1-55AE-43A1-8CA7-59290AB5D38E}"/>
              </a:ext>
            </a:extLst>
          </p:cNvPr>
          <p:cNvSpPr>
            <a:spLocks xmlns:a="http://schemas.openxmlformats.org/drawingml/2006/main" noGrp="1"/>
          </p:cNvSpPr>
          <p:nvPr/>
        </p:nvSpPr>
        <p:spPr>
          <a:xfrm xmlns:a="http://schemas.openxmlformats.org/drawingml/2006/main">
            <a:off x="3943350" y="4076700"/>
            <a:ext cx="752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D3B"/>
                </a:solidFill>
                <a:latin typeface="Arial"/>
                <a:ea typeface="Arial"/>
                <a:cs typeface="Arial"/>
              </a:defRPr>
            </a:pPr>
            <a:r>
              <a:rPr sz="2100" b="0">
                <a:solidFill>
                  <a:srgbClr val="163D3B"/>
                </a:solidFill>
                <a:latin typeface="Arial"/>
                <a:ea typeface="Arial"/>
                <a:cs typeface="Arial"/>
              </a:rPr>
              <a:t>Test prediction ideas more quickly and prioritise follow-up for review.</a:t>
            </a:r>
          </a:p>
        </p:txBody>
      </p:sp>
      <p:sp>
        <p:nvSpPr>
          <p:cNvPr id="9" name="">
            <a:extLst xmlns:a="http://schemas.openxmlformats.org/drawingml/2006/main">
              <a:ext uri="{FF2B5EF4-FFF2-40B4-BE49-F238E27FC236}">
                <a16:creationId xmlns:a16="http://schemas.microsoft.com/office/drawing/2014/main" id="{D5042F90-557D-4F98-9C1B-31D0E9CDEB6A}"/>
              </a:ext>
            </a:extLst>
          </p:cNvPr>
          <p:cNvSpPr>
            <a:spLocks xmlns:a="http://schemas.openxmlformats.org/drawingml/2006/main" noGrp="1"/>
          </p:cNvSpPr>
          <p:nvPr/>
        </p:nvSpPr>
        <p:spPr>
          <a:xfrm xmlns:a="http://schemas.openxmlformats.org/drawingml/2006/main">
            <a:off x="723900" y="5743575"/>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35D3C"/>
                </a:solidFill>
                <a:latin typeface="Arial"/>
                <a:ea typeface="Arial"/>
                <a:cs typeface="Arial"/>
              </a:defRPr>
            </a:pPr>
            <a:r>
              <a:rPr sz="2100" b="1">
                <a:solidFill>
                  <a:srgbClr val="C35D3C"/>
                </a:solidFill>
                <a:latin typeface="Arial"/>
                <a:ea typeface="Arial"/>
                <a:cs typeface="Arial"/>
              </a:rPr>
              <a:t>A prediction is an estimate. We must test its accuracy before using it.</a:t>
            </a:r>
          </a:p>
        </p:txBody>
      </p:sp>
    </p:spTree>
    <p:extLst>
      <p:ext uri="{BB962C8B-B14F-4D97-AF65-F5344CB8AC3E}">
        <p14:creationId xmlns:p14="http://schemas.microsoft.com/office/powerpoint/2010/main" val="146233968"/>
      </p:ext>
    </p:extLst>
  </p:cSld>
</p:sld>
</file>

<file path=ppt/slides/slide9.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27D5CE-20D7-488B-BD08-0F32D27C4DB1}"/>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Streamlit: an app the team can use</a:t>
            </a:r>
          </a:p>
        </p:txBody>
      </p:sp>
      <p:sp>
        <p:nvSpPr>
          <p:cNvPr id="2" name="">
            <a:extLst xmlns:a="http://schemas.openxmlformats.org/drawingml/2006/main">
              <a:ext uri="{FF2B5EF4-FFF2-40B4-BE49-F238E27FC236}">
                <a16:creationId xmlns:a16="http://schemas.microsoft.com/office/drawing/2014/main" id="{F87BDE26-7FCA-4701-9628-0BE38B5B1D7D}"/>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D47F6B09-64A2-4031-B6B1-FEF2918B62C1}"/>
              </a:ext>
            </a:extLst>
          </p:cNvPr>
          <p:cNvSpPr>
            <a:spLocks xmlns:a="http://schemas.openxmlformats.org/drawingml/2006/main" noGrp="1"/>
          </p:cNvSpPr>
          <p:nvPr/>
        </p:nvSpPr>
        <p:spPr>
          <a:xfrm xmlns:a="http://schemas.openxmlformats.org/drawingml/2006/main">
            <a:off x="723900" y="1943100"/>
            <a:ext cx="48387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C35D3C"/>
                </a:solidFill>
                <a:latin typeface="Arial"/>
                <a:ea typeface="Arial"/>
                <a:cs typeface="Arial"/>
              </a:defRPr>
            </a:pPr>
            <a:r>
              <a:rPr sz="3675" b="1">
                <a:solidFill>
                  <a:srgbClr val="C35D3C"/>
                </a:solidFill>
                <a:latin typeface="Arial"/>
                <a:ea typeface="Arial"/>
                <a:cs typeface="Arial"/>
              </a:rPr>
              <a:t>Explore results</a:t>
            </a:r>
          </a:p>
          <a:p xmlns:a="http://schemas.openxmlformats.org/drawingml/2006/main">
            <a:pPr>
              <a:defRPr sz="3675" b="1">
                <a:solidFill>
                  <a:srgbClr val="C35D3C"/>
                </a:solidFill>
                <a:latin typeface="Arial"/>
                <a:ea typeface="Arial"/>
                <a:cs typeface="Arial"/>
              </a:defRPr>
            </a:pPr>
            <a:r>
              <a:rPr sz="3675" b="1">
                <a:solidFill>
                  <a:srgbClr val="C35D3C"/>
                </a:solidFill>
                <a:latin typeface="Arial"/>
                <a:ea typeface="Arial"/>
                <a:cs typeface="Arial"/>
              </a:rPr>
              <a:t>without editing code</a:t>
            </a:r>
          </a:p>
        </p:txBody>
      </p:sp>
      <p:sp>
        <p:nvSpPr>
          <p:cNvPr id="4" name="">
            <a:extLst xmlns:a="http://schemas.openxmlformats.org/drawingml/2006/main">
              <a:ext uri="{FF2B5EF4-FFF2-40B4-BE49-F238E27FC236}">
                <a16:creationId xmlns:a16="http://schemas.microsoft.com/office/drawing/2014/main" id="{82D8FFC6-4837-4F9E-950A-57F135D62BC9}"/>
              </a:ext>
            </a:extLst>
          </p:cNvPr>
          <p:cNvSpPr>
            <a:spLocks xmlns:a="http://schemas.openxmlformats.org/drawingml/2006/main" noGrp="1"/>
          </p:cNvSpPr>
          <p:nvPr/>
        </p:nvSpPr>
        <p:spPr>
          <a:xfrm xmlns:a="http://schemas.openxmlformats.org/drawingml/2006/main">
            <a:off x="723900" y="4114800"/>
            <a:ext cx="4714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A proposed interface for programme</a:t>
            </a:r>
          </a:p>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and research teams</a:t>
            </a:r>
          </a:p>
        </p:txBody>
      </p:sp>
      <p:sp>
        <p:nvSpPr>
          <p:cNvPr id="5" name="">
            <a:extLst xmlns:a="http://schemas.openxmlformats.org/drawingml/2006/main">
              <a:ext uri="{FF2B5EF4-FFF2-40B4-BE49-F238E27FC236}">
                <a16:creationId xmlns:a16="http://schemas.microsoft.com/office/drawing/2014/main" id="{E6F3C8B8-4B66-4589-8FBE-F9BFE9D1959D}"/>
              </a:ext>
            </a:extLst>
          </p:cNvPr>
          <p:cNvSpPr>
            <a:spLocks xmlns:a="http://schemas.openxmlformats.org/drawingml/2006/main" noGrp="1"/>
          </p:cNvSpPr>
          <p:nvPr/>
        </p:nvSpPr>
        <p:spPr>
          <a:xfrm xmlns:a="http://schemas.openxmlformats.org/drawingml/2006/main">
            <a:off x="6324600" y="1838325"/>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D3B"/>
                </a:solidFill>
                <a:latin typeface="Arial"/>
                <a:ea typeface="Arial"/>
                <a:cs typeface="Arial"/>
              </a:defRPr>
            </a:pPr>
            <a:r>
              <a:rPr sz="2250" b="1">
                <a:solidFill>
                  <a:srgbClr val="163D3B"/>
                </a:solidFill>
                <a:latin typeface="Arial"/>
                <a:ea typeface="Arial"/>
                <a:cs typeface="Arial"/>
              </a:rPr>
              <a:t>Choose</a:t>
            </a:r>
          </a:p>
        </p:txBody>
      </p:sp>
      <p:sp>
        <p:nvSpPr>
          <p:cNvPr id="6" name="">
            <a:extLst xmlns:a="http://schemas.openxmlformats.org/drawingml/2006/main">
              <a:ext uri="{FF2B5EF4-FFF2-40B4-BE49-F238E27FC236}">
                <a16:creationId xmlns:a16="http://schemas.microsoft.com/office/drawing/2014/main" id="{47296426-0512-4856-90D4-A8402C860602}"/>
              </a:ext>
            </a:extLst>
          </p:cNvPr>
          <p:cNvSpPr>
            <a:spLocks xmlns:a="http://schemas.openxmlformats.org/drawingml/2006/main" noGrp="1"/>
          </p:cNvSpPr>
          <p:nvPr/>
        </p:nvSpPr>
        <p:spPr>
          <a:xfrm xmlns:a="http://schemas.openxmlformats.org/drawingml/2006/main">
            <a:off x="6324600" y="227647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D3B"/>
                </a:solidFill>
                <a:latin typeface="Arial"/>
                <a:ea typeface="Arial"/>
                <a:cs typeface="Arial"/>
              </a:defRPr>
            </a:pPr>
            <a:r>
              <a:rPr sz="1950" b="0">
                <a:solidFill>
                  <a:srgbClr val="163D3B"/>
                </a:solidFill>
                <a:latin typeface="Arial"/>
                <a:ea typeface="Arial"/>
                <a:cs typeface="Arial"/>
              </a:rPr>
              <a:t>A project, dataset or analysis question.</a:t>
            </a:r>
          </a:p>
        </p:txBody>
      </p:sp>
      <p:sp>
        <p:nvSpPr>
          <p:cNvPr id="7" name="">
            <a:extLst xmlns:a="http://schemas.openxmlformats.org/drawingml/2006/main">
              <a:ext uri="{FF2B5EF4-FFF2-40B4-BE49-F238E27FC236}">
                <a16:creationId xmlns:a16="http://schemas.microsoft.com/office/drawing/2014/main" id="{FBC46D01-4656-4B07-B2B8-F9E65D5407CF}"/>
              </a:ext>
            </a:extLst>
          </p:cNvPr>
          <p:cNvSpPr>
            <a:spLocks xmlns:a="http://schemas.openxmlformats.org/drawingml/2006/main" noGrp="1"/>
          </p:cNvSpPr>
          <p:nvPr/>
        </p:nvSpPr>
        <p:spPr>
          <a:xfrm xmlns:a="http://schemas.openxmlformats.org/drawingml/2006/main">
            <a:off x="6324600" y="2809875"/>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D3B"/>
                </a:solidFill>
                <a:latin typeface="Arial"/>
                <a:ea typeface="Arial"/>
                <a:cs typeface="Arial"/>
              </a:defRPr>
            </a:pPr>
            <a:r>
              <a:rPr sz="2250" b="1">
                <a:solidFill>
                  <a:srgbClr val="163D3B"/>
                </a:solidFill>
                <a:latin typeface="Arial"/>
                <a:ea typeface="Arial"/>
                <a:cs typeface="Arial"/>
              </a:rPr>
              <a:t>Explore</a:t>
            </a:r>
          </a:p>
        </p:txBody>
      </p:sp>
      <p:sp>
        <p:nvSpPr>
          <p:cNvPr id="8" name="">
            <a:extLst xmlns:a="http://schemas.openxmlformats.org/drawingml/2006/main">
              <a:ext uri="{FF2B5EF4-FFF2-40B4-BE49-F238E27FC236}">
                <a16:creationId xmlns:a16="http://schemas.microsoft.com/office/drawing/2014/main" id="{A43A1479-4461-4EED-9BFE-BC10491D3FCB}"/>
              </a:ext>
            </a:extLst>
          </p:cNvPr>
          <p:cNvSpPr>
            <a:spLocks xmlns:a="http://schemas.openxmlformats.org/drawingml/2006/main" noGrp="1"/>
          </p:cNvSpPr>
          <p:nvPr/>
        </p:nvSpPr>
        <p:spPr>
          <a:xfrm xmlns:a="http://schemas.openxmlformats.org/drawingml/2006/main">
            <a:off x="6324600" y="32480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D3B"/>
                </a:solidFill>
                <a:latin typeface="Arial"/>
                <a:ea typeface="Arial"/>
                <a:cs typeface="Arial"/>
              </a:defRPr>
            </a:pPr>
            <a:r>
              <a:rPr sz="1950" b="0">
                <a:solidFill>
                  <a:srgbClr val="163D3B"/>
                </a:solidFill>
                <a:latin typeface="Arial"/>
                <a:ea typeface="Arial"/>
                <a:cs typeface="Arial"/>
              </a:rPr>
              <a:t>Filter charts by group or period.</a:t>
            </a:r>
          </a:p>
        </p:txBody>
      </p:sp>
      <p:sp>
        <p:nvSpPr>
          <p:cNvPr id="9" name="">
            <a:extLst xmlns:a="http://schemas.openxmlformats.org/drawingml/2006/main">
              <a:ext uri="{FF2B5EF4-FFF2-40B4-BE49-F238E27FC236}">
                <a16:creationId xmlns:a16="http://schemas.microsoft.com/office/drawing/2014/main" id="{AB69192A-F43C-44C8-A0C3-B90426C416CE}"/>
              </a:ext>
            </a:extLst>
          </p:cNvPr>
          <p:cNvSpPr>
            <a:spLocks xmlns:a="http://schemas.openxmlformats.org/drawingml/2006/main" noGrp="1"/>
          </p:cNvSpPr>
          <p:nvPr/>
        </p:nvSpPr>
        <p:spPr>
          <a:xfrm xmlns:a="http://schemas.openxmlformats.org/drawingml/2006/main">
            <a:off x="6324600" y="3781425"/>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D3B"/>
                </a:solidFill>
                <a:latin typeface="Arial"/>
                <a:ea typeface="Arial"/>
                <a:cs typeface="Arial"/>
              </a:defRPr>
            </a:pPr>
            <a:r>
              <a:rPr sz="2250" b="1">
                <a:solidFill>
                  <a:srgbClr val="163D3B"/>
                </a:solidFill>
                <a:latin typeface="Arial"/>
                <a:ea typeface="Arial"/>
                <a:cs typeface="Arial"/>
              </a:rPr>
              <a:t>Review</a:t>
            </a:r>
          </a:p>
        </p:txBody>
      </p:sp>
      <p:sp>
        <p:nvSpPr>
          <p:cNvPr id="10" name="">
            <a:extLst xmlns:a="http://schemas.openxmlformats.org/drawingml/2006/main">
              <a:ext uri="{FF2B5EF4-FFF2-40B4-BE49-F238E27FC236}">
                <a16:creationId xmlns:a16="http://schemas.microsoft.com/office/drawing/2014/main" id="{7E60F97D-E7EE-4F83-92AA-F93757143AA6}"/>
              </a:ext>
            </a:extLst>
          </p:cNvPr>
          <p:cNvSpPr>
            <a:spLocks xmlns:a="http://schemas.openxmlformats.org/drawingml/2006/main" noGrp="1"/>
          </p:cNvSpPr>
          <p:nvPr/>
        </p:nvSpPr>
        <p:spPr>
          <a:xfrm xmlns:a="http://schemas.openxmlformats.org/drawingml/2006/main">
            <a:off x="6324600" y="421957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D3B"/>
                </a:solidFill>
                <a:latin typeface="Arial"/>
                <a:ea typeface="Arial"/>
                <a:cs typeface="Arial"/>
              </a:defRPr>
            </a:pPr>
            <a:r>
              <a:rPr sz="1950" b="0">
                <a:solidFill>
                  <a:srgbClr val="163D3B"/>
                </a:solidFill>
                <a:latin typeface="Arial"/>
                <a:ea typeface="Arial"/>
                <a:cs typeface="Arial"/>
              </a:rPr>
              <a:t>Open evidence behind a finding.</a:t>
            </a:r>
          </a:p>
        </p:txBody>
      </p:sp>
      <p:sp>
        <p:nvSpPr>
          <p:cNvPr id="11" name="">
            <a:extLst xmlns:a="http://schemas.openxmlformats.org/drawingml/2006/main">
              <a:ext uri="{FF2B5EF4-FFF2-40B4-BE49-F238E27FC236}">
                <a16:creationId xmlns:a16="http://schemas.microsoft.com/office/drawing/2014/main" id="{78B31CB3-017D-462C-9EE5-0136F5664BE9}"/>
              </a:ext>
            </a:extLst>
          </p:cNvPr>
          <p:cNvSpPr>
            <a:spLocks xmlns:a="http://schemas.openxmlformats.org/drawingml/2006/main" noGrp="1"/>
          </p:cNvSpPr>
          <p:nvPr/>
        </p:nvSpPr>
        <p:spPr>
          <a:xfrm xmlns:a="http://schemas.openxmlformats.org/drawingml/2006/main">
            <a:off x="6324600" y="4752975"/>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D3B"/>
                </a:solidFill>
                <a:latin typeface="Arial"/>
                <a:ea typeface="Arial"/>
                <a:cs typeface="Arial"/>
              </a:defRPr>
            </a:pPr>
            <a:r>
              <a:rPr sz="2250" b="1">
                <a:solidFill>
                  <a:srgbClr val="163D3B"/>
                </a:solidFill>
                <a:latin typeface="Arial"/>
                <a:ea typeface="Arial"/>
                <a:cs typeface="Arial"/>
              </a:rPr>
              <a:t>Download</a:t>
            </a:r>
          </a:p>
        </p:txBody>
      </p:sp>
      <p:sp>
        <p:nvSpPr>
          <p:cNvPr id="12" name="">
            <a:extLst xmlns:a="http://schemas.openxmlformats.org/drawingml/2006/main">
              <a:ext uri="{FF2B5EF4-FFF2-40B4-BE49-F238E27FC236}">
                <a16:creationId xmlns:a16="http://schemas.microsoft.com/office/drawing/2014/main" id="{E001880F-BD44-44D7-A30E-12F25D9729EA}"/>
              </a:ext>
            </a:extLst>
          </p:cNvPr>
          <p:cNvSpPr>
            <a:spLocks xmlns:a="http://schemas.openxmlformats.org/drawingml/2006/main" noGrp="1"/>
          </p:cNvSpPr>
          <p:nvPr/>
        </p:nvSpPr>
        <p:spPr>
          <a:xfrm xmlns:a="http://schemas.openxmlformats.org/drawingml/2006/main">
            <a:off x="6324600" y="51911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D3B"/>
                </a:solidFill>
                <a:latin typeface="Arial"/>
                <a:ea typeface="Arial"/>
                <a:cs typeface="Arial"/>
              </a:defRPr>
            </a:pPr>
            <a:r>
              <a:rPr sz="1950" b="0">
                <a:solidFill>
                  <a:srgbClr val="163D3B"/>
                </a:solidFill>
                <a:latin typeface="Arial"/>
                <a:ea typeface="Arial"/>
                <a:cs typeface="Arial"/>
              </a:rPr>
              <a:t>An approved summary or results table.</a:t>
            </a:r>
          </a:p>
        </p:txBody>
      </p:sp>
      <p:sp>
        <p:nvSpPr>
          <p:cNvPr id="13" name="">
            <a:extLst xmlns:a="http://schemas.openxmlformats.org/drawingml/2006/main">
              <a:ext uri="{FF2B5EF4-FFF2-40B4-BE49-F238E27FC236}">
                <a16:creationId xmlns:a16="http://schemas.microsoft.com/office/drawing/2014/main" id="{48DD4D26-8956-4DA1-A409-C35703696705}"/>
              </a:ext>
            </a:extLst>
          </p:cNvPr>
          <p:cNvSpPr>
            <a:spLocks xmlns:a="http://schemas.openxmlformats.org/drawingml/2006/main" noGrp="1"/>
          </p:cNvSpPr>
          <p:nvPr/>
        </p:nvSpPr>
        <p:spPr>
          <a:xfrm xmlns:a="http://schemas.openxmlformats.org/drawingml/2006/main">
            <a:off x="723900" y="5972175"/>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746E"/>
                </a:solidFill>
                <a:latin typeface="Arial"/>
                <a:ea typeface="Arial"/>
                <a:cs typeface="Arial"/>
              </a:defRPr>
            </a:pPr>
            <a:r>
              <a:rPr sz="1875" b="0">
                <a:solidFill>
                  <a:srgbClr val="68746E"/>
                </a:solidFill>
                <a:latin typeface="Arial"/>
                <a:ea typeface="Arial"/>
                <a:cs typeface="Arial"/>
              </a:rPr>
              <a:t>Streamlit provides the interface. The connected tools perform the analysis.</a:t>
            </a:r>
          </a:p>
        </p:txBody>
      </p:sp>
    </p:spTree>
    <p:extLst>
      <p:ext uri="{BB962C8B-B14F-4D97-AF65-F5344CB8AC3E}">
        <p14:creationId xmlns:p14="http://schemas.microsoft.com/office/powerpoint/2010/main" val="833292005"/>
      </p:ext>
    </p:extLst>
  </p:cSld>
</p:sld>
</file>

<file path=ppt/slides/slide10.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B9B7AC-13F9-41FF-BC4E-D07D09D804A7}"/>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CRO: combining numbers with field notes</a:t>
            </a:r>
          </a:p>
        </p:txBody>
      </p:sp>
      <p:sp>
        <p:nvSpPr>
          <p:cNvPr id="2" name="">
            <a:extLst xmlns:a="http://schemas.openxmlformats.org/drawingml/2006/main">
              <a:ext uri="{FF2B5EF4-FFF2-40B4-BE49-F238E27FC236}">
                <a16:creationId xmlns:a16="http://schemas.microsoft.com/office/drawing/2014/main" id="{479A5B12-230C-45EF-9525-73E30ED3D6C7}"/>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7F0FF58-1C1D-4160-BD9E-FCFDA7C4D8CA}"/>
              </a:ext>
            </a:extLst>
          </p:cNvPr>
          <p:cNvSpPr>
            <a:spLocks xmlns:a="http://schemas.openxmlformats.org/drawingml/2006/main" noGrp="1"/>
          </p:cNvSpPr>
          <p:nvPr/>
        </p:nvSpPr>
        <p:spPr>
          <a:xfrm xmlns:a="http://schemas.openxmlformats.org/drawingml/2006/main">
            <a:off x="723900" y="1857375"/>
            <a:ext cx="4429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C35D3C"/>
                </a:solidFill>
                <a:latin typeface="Arial"/>
                <a:ea typeface="Arial"/>
                <a:cs typeface="Arial"/>
              </a:defRPr>
            </a:pPr>
            <a:r>
              <a:rPr sz="6375" b="1">
                <a:solidFill>
                  <a:srgbClr val="C35D3C"/>
                </a:solidFill>
                <a:latin typeface="Arial"/>
                <a:ea typeface="Arial"/>
                <a:cs typeface="Arial"/>
              </a:rPr>
              <a:t>1,268</a:t>
            </a:r>
          </a:p>
        </p:txBody>
      </p:sp>
      <p:sp>
        <p:nvSpPr>
          <p:cNvPr id="4" name="">
            <a:extLst xmlns:a="http://schemas.openxmlformats.org/drawingml/2006/main">
              <a:ext uri="{FF2B5EF4-FFF2-40B4-BE49-F238E27FC236}">
                <a16:creationId xmlns:a16="http://schemas.microsoft.com/office/drawing/2014/main" id="{1FA2E359-65A5-464F-A48B-BC7E3F822791}"/>
              </a:ext>
            </a:extLst>
          </p:cNvPr>
          <p:cNvSpPr>
            <a:spLocks xmlns:a="http://schemas.openxmlformats.org/drawingml/2006/main" noGrp="1"/>
          </p:cNvSpPr>
          <p:nvPr/>
        </p:nvSpPr>
        <p:spPr>
          <a:xfrm xmlns:a="http://schemas.openxmlformats.org/drawingml/2006/main">
            <a:off x="723900" y="3209925"/>
            <a:ext cx="4552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3D3B"/>
                </a:solidFill>
                <a:latin typeface="Arial"/>
                <a:ea typeface="Arial"/>
                <a:cs typeface="Arial"/>
              </a:defRPr>
            </a:pPr>
            <a:r>
              <a:rPr sz="2625" b="1">
                <a:solidFill>
                  <a:srgbClr val="163D3B"/>
                </a:solidFill>
                <a:latin typeface="Arial"/>
                <a:ea typeface="Arial"/>
                <a:cs typeface="Arial"/>
              </a:rPr>
              <a:t>note entries grouped</a:t>
            </a:r>
          </a:p>
          <a:p xmlns:a="http://schemas.openxmlformats.org/drawingml/2006/main">
            <a:pPr>
              <a:defRPr sz="2625" b="1">
                <a:solidFill>
                  <a:srgbClr val="163D3B"/>
                </a:solidFill>
                <a:latin typeface="Arial"/>
                <a:ea typeface="Arial"/>
                <a:cs typeface="Arial"/>
              </a:defRPr>
            </a:pPr>
            <a:r>
              <a:rPr sz="2625" b="1">
                <a:solidFill>
                  <a:srgbClr val="163D3B"/>
                </a:solidFill>
                <a:latin typeface="Arial"/>
                <a:ea typeface="Arial"/>
                <a:cs typeface="Arial"/>
              </a:rPr>
              <a:t>in the dashboard</a:t>
            </a:r>
          </a:p>
        </p:txBody>
      </p:sp>
      <p:sp>
        <p:nvSpPr>
          <p:cNvPr id="5" name="">
            <a:extLst xmlns:a="http://schemas.openxmlformats.org/drawingml/2006/main">
              <a:ext uri="{FF2B5EF4-FFF2-40B4-BE49-F238E27FC236}">
                <a16:creationId xmlns:a16="http://schemas.microsoft.com/office/drawing/2014/main" id="{9AE2DD80-FA45-4B31-9509-69928BFF1A0D}"/>
              </a:ext>
            </a:extLst>
          </p:cNvPr>
          <p:cNvSpPr>
            <a:spLocks xmlns:a="http://schemas.openxmlformats.org/drawingml/2006/main" noGrp="1"/>
          </p:cNvSpPr>
          <p:nvPr/>
        </p:nvSpPr>
        <p:spPr>
          <a:xfrm xmlns:a="http://schemas.openxmlformats.org/drawingml/2006/main">
            <a:off x="723900" y="47625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746E"/>
                </a:solidFill>
                <a:latin typeface="Arial"/>
                <a:ea typeface="Arial"/>
                <a:cs typeface="Arial"/>
              </a:defRPr>
            </a:pPr>
            <a:r>
              <a:rPr sz="1800" b="0">
                <a:solidFill>
                  <a:srgbClr val="68746E"/>
                </a:solidFill>
                <a:latin typeface="Arial"/>
                <a:ea typeface="Arial"/>
                <a:cs typeface="Arial"/>
              </a:rPr>
              <a:t>Reported Qwen output</a:t>
            </a:r>
          </a:p>
        </p:txBody>
      </p:sp>
      <p:graphicFrame>
        <p:nvGraphicFramePr>
          <p:cNvPr id="14" name=""/>
          <p:cNvGraphicFramePr/>
          <p:nvPr/>
        </p:nvGraphicFramePr>
        <p:xfrm>
          <a:off xmlns:a="http://schemas.openxmlformats.org/drawingml/2006/main" x="6296025" y="1762125"/>
          <a:ext xmlns:a="http://schemas.openxmlformats.org/drawingml/2006/main" cx="5172075" cy="3267075"/>
        </p:xfrm>
        <a:graphic xmlns:a="http://schemas.openxmlformats.org/drawingml/2006/main">
          <a:graphicData uri="http://schemas.openxmlformats.org/drawingml/2006/table">
            <a:tbl>
              <a:tblPr/>
              <a:tblGrid>
                <a:gridCol w="3876675"/>
                <a:gridCol w="1295400"/>
              </a:tblGrid>
              <a:tr h="653415">
                <a:tc>
                  <a:txBody>
                    <a:bodyPr/>
                    <a:lstStyle/>
                    <a:p>
                      <a:r>
                        <a:rPr sz="1950" b="1">
                          <a:solidFill>
                            <a:srgbClr val="F7F2EA"/>
                          </a:solidFill>
                          <a:latin typeface="Arial"/>
                          <a:ea typeface="Arial"/>
                          <a:cs typeface="Arial"/>
                        </a:rPr>
                        <a:t>Type of note</a:t>
                      </a:r>
                    </a:p>
                  </a:txBody>
                  <a:tcPr marL="91440" marR="91440" marT="45720" marB="45720">
                    <a:solidFill>
                      <a:srgbClr val="163D3B"/>
                    </a:solidFill>
                  </a:tcPr>
                </a:tc>
                <a:tc>
                  <a:txBody>
                    <a:bodyPr/>
                    <a:lstStyle/>
                    <a:p>
                      <a:r>
                        <a:rPr sz="1950" b="1">
                          <a:solidFill>
                            <a:srgbClr val="F7F2EA"/>
                          </a:solidFill>
                          <a:latin typeface="Arial"/>
                          <a:ea typeface="Arial"/>
                          <a:cs typeface="Arial"/>
                        </a:rPr>
                        <a:t>Entries</a:t>
                      </a:r>
                    </a:p>
                  </a:txBody>
                  <a:tcPr marL="91440" marR="91440" marT="45720" marB="45720">
                    <a:solidFill>
                      <a:srgbClr val="163D3B"/>
                    </a:solidFill>
                  </a:tcPr>
                </a:tc>
              </a:tr>
              <a:tr h="653415">
                <a:tc>
                  <a:txBody>
                    <a:bodyPr/>
                    <a:lstStyle/>
                    <a:p>
                      <a:r>
                        <a:rPr sz="1950" b="0">
                          <a:solidFill>
                            <a:srgbClr val="163D3B"/>
                          </a:solidFill>
                          <a:latin typeface="Arial"/>
                          <a:ea typeface="Arial"/>
                          <a:cs typeface="Arial"/>
                        </a:rPr>
                        <a:t>Strengths</a:t>
                      </a:r>
                    </a:p>
                  </a:txBody>
                  <a:tcPr marL="91440" marR="91440" marT="45720" marB="45720">
                    <a:solidFill>
                      <a:srgbClr val="F7F2EA"/>
                    </a:solidFill>
                  </a:tcPr>
                </a:tc>
                <a:tc>
                  <a:txBody>
                    <a:bodyPr/>
                    <a:lstStyle/>
                    <a:p>
                      <a:r>
                        <a:rPr sz="1950" b="0">
                          <a:solidFill>
                            <a:srgbClr val="163D3B"/>
                          </a:solidFill>
                          <a:latin typeface="Arial"/>
                          <a:ea typeface="Arial"/>
                          <a:cs typeface="Arial"/>
                        </a:rPr>
                        <a:t>409</a:t>
                      </a:r>
                    </a:p>
                  </a:txBody>
                  <a:tcPr marL="91440" marR="91440" marT="45720" marB="45720">
                    <a:solidFill>
                      <a:srgbClr val="F7F2EA"/>
                    </a:solidFill>
                  </a:tcPr>
                </a:tc>
              </a:tr>
              <a:tr h="653415">
                <a:tc>
                  <a:txBody>
                    <a:bodyPr/>
                    <a:lstStyle/>
                    <a:p>
                      <a:r>
                        <a:rPr sz="1950" b="0">
                          <a:solidFill>
                            <a:srgbClr val="163D3B"/>
                          </a:solidFill>
                          <a:latin typeface="Arial"/>
                          <a:ea typeface="Arial"/>
                          <a:cs typeface="Arial"/>
                        </a:rPr>
                        <a:t>Teaching gaps</a:t>
                      </a:r>
                    </a:p>
                  </a:txBody>
                  <a:tcPr marL="91440" marR="91440" marT="45720" marB="45720">
                    <a:solidFill>
                      <a:srgbClr val="F7F2EA"/>
                    </a:solidFill>
                  </a:tcPr>
                </a:tc>
                <a:tc>
                  <a:txBody>
                    <a:bodyPr/>
                    <a:lstStyle/>
                    <a:p>
                      <a:r>
                        <a:rPr sz="1950" b="0">
                          <a:solidFill>
                            <a:srgbClr val="163D3B"/>
                          </a:solidFill>
                          <a:latin typeface="Arial"/>
                          <a:ea typeface="Arial"/>
                          <a:cs typeface="Arial"/>
                        </a:rPr>
                        <a:t>410</a:t>
                      </a:r>
                    </a:p>
                  </a:txBody>
                  <a:tcPr marL="91440" marR="91440" marT="45720" marB="45720">
                    <a:solidFill>
                      <a:srgbClr val="F7F2EA"/>
                    </a:solidFill>
                  </a:tcPr>
                </a:tc>
              </a:tr>
              <a:tr h="653415">
                <a:tc>
                  <a:txBody>
                    <a:bodyPr/>
                    <a:lstStyle/>
                    <a:p>
                      <a:r>
                        <a:rPr sz="1950" b="0">
                          <a:solidFill>
                            <a:srgbClr val="163D3B"/>
                          </a:solidFill>
                          <a:latin typeface="Arial"/>
                          <a:ea typeface="Arial"/>
                          <a:cs typeface="Arial"/>
                        </a:rPr>
                        <a:t>Development needs</a:t>
                      </a:r>
                    </a:p>
                  </a:txBody>
                  <a:tcPr marL="91440" marR="91440" marT="45720" marB="45720">
                    <a:solidFill>
                      <a:srgbClr val="F7F2EA"/>
                    </a:solidFill>
                  </a:tcPr>
                </a:tc>
                <a:tc>
                  <a:txBody>
                    <a:bodyPr/>
                    <a:lstStyle/>
                    <a:p>
                      <a:r>
                        <a:rPr sz="1950" b="0">
                          <a:solidFill>
                            <a:srgbClr val="163D3B"/>
                          </a:solidFill>
                          <a:latin typeface="Arial"/>
                          <a:ea typeface="Arial"/>
                          <a:cs typeface="Arial"/>
                        </a:rPr>
                        <a:t>335</a:t>
                      </a:r>
                    </a:p>
                  </a:txBody>
                  <a:tcPr marL="91440" marR="91440" marT="45720" marB="45720">
                    <a:solidFill>
                      <a:srgbClr val="F7F2EA"/>
                    </a:solidFill>
                  </a:tcPr>
                </a:tc>
              </a:tr>
              <a:tr h="653415">
                <a:tc>
                  <a:txBody>
                    <a:bodyPr/>
                    <a:lstStyle/>
                    <a:p>
                      <a:r>
                        <a:rPr sz="1950" b="0">
                          <a:solidFill>
                            <a:srgbClr val="163D3B"/>
                          </a:solidFill>
                          <a:latin typeface="Arial"/>
                          <a:ea typeface="Arial"/>
                          <a:cs typeface="Arial"/>
                        </a:rPr>
                        <a:t>Infrastructure</a:t>
                      </a:r>
                    </a:p>
                  </a:txBody>
                  <a:tcPr marL="91440" marR="91440" marT="45720" marB="45720">
                    <a:solidFill>
                      <a:srgbClr val="F7F2EA"/>
                    </a:solidFill>
                  </a:tcPr>
                </a:tc>
                <a:tc>
                  <a:txBody>
                    <a:bodyPr/>
                    <a:lstStyle/>
                    <a:p>
                      <a:r>
                        <a:rPr sz="1950" b="0">
                          <a:solidFill>
                            <a:srgbClr val="163D3B"/>
                          </a:solidFill>
                          <a:latin typeface="Arial"/>
                          <a:ea typeface="Arial"/>
                          <a:cs typeface="Arial"/>
                        </a:rPr>
                        <a:t>114</a:t>
                      </a:r>
                    </a:p>
                  </a:txBody>
                  <a:tcPr marL="91440" marR="91440" marT="45720" marB="45720">
                    <a:solidFill>
                      <a:srgbClr val="F7F2EA"/>
                    </a:solidFill>
                  </a:tcPr>
                </a:tc>
              </a:tr>
            </a:tbl>
          </a:graphicData>
        </a:graphic>
      </p:graphicFrame>
      <p:sp>
        <p:nvSpPr>
          <p:cNvPr id="7" name="">
            <a:extLst xmlns:a="http://schemas.openxmlformats.org/drawingml/2006/main">
              <a:ext uri="{FF2B5EF4-FFF2-40B4-BE49-F238E27FC236}">
                <a16:creationId xmlns:a16="http://schemas.microsoft.com/office/drawing/2014/main" id="{8FA727AA-4BF5-446A-A495-4FD0D2F1B99A}"/>
              </a:ext>
            </a:extLst>
          </p:cNvPr>
          <p:cNvSpPr>
            <a:spLocks xmlns:a="http://schemas.openxmlformats.org/drawingml/2006/main" noGrp="1"/>
          </p:cNvSpPr>
          <p:nvPr/>
        </p:nvSpPr>
        <p:spPr>
          <a:xfrm xmlns:a="http://schemas.openxmlformats.org/drawingml/2006/main">
            <a:off x="723900" y="55340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3D3B"/>
                </a:solidFill>
                <a:latin typeface="Arial"/>
                <a:ea typeface="Arial"/>
                <a:cs typeface="Arial"/>
              </a:defRPr>
            </a:pPr>
            <a:r>
              <a:rPr sz="2100" b="1">
                <a:solidFill>
                  <a:srgbClr val="163D3B"/>
                </a:solidFill>
                <a:latin typeface="Arial"/>
                <a:ea typeface="Arial"/>
                <a:cs typeface="Arial"/>
              </a:rPr>
              <a:t>Practical use: read development needs alongside the numbers to plan follow-up.</a:t>
            </a:r>
          </a:p>
        </p:txBody>
      </p:sp>
      <p:sp>
        <p:nvSpPr>
          <p:cNvPr id="8" name="">
            <a:extLst xmlns:a="http://schemas.openxmlformats.org/drawingml/2006/main">
              <a:ext uri="{FF2B5EF4-FFF2-40B4-BE49-F238E27FC236}">
                <a16:creationId xmlns:a16="http://schemas.microsoft.com/office/drawing/2014/main" id="{483EA874-28B0-4EAF-B5FC-4E5079A74165}"/>
              </a:ext>
            </a:extLst>
          </p:cNvPr>
          <p:cNvSpPr>
            <a:spLocks xmlns:a="http://schemas.openxmlformats.org/drawingml/2006/main" noGrp="1"/>
          </p:cNvSpPr>
          <p:nvPr/>
        </p:nvSpPr>
        <p:spPr>
          <a:xfrm xmlns:a="http://schemas.openxmlformats.org/drawingml/2006/main">
            <a:off x="723900" y="62674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6E"/>
                </a:solidFill>
                <a:latin typeface="Arial"/>
                <a:ea typeface="Arial"/>
                <a:cs typeface="Arial"/>
              </a:defRPr>
            </a:pPr>
            <a:r>
              <a:rPr sz="1350" b="0">
                <a:solidFill>
                  <a:srgbClr val="68746E"/>
                </a:solidFill>
                <a:latin typeface="Arial"/>
                <a:ea typeface="Arial"/>
                <a:cs typeface="Arial"/>
              </a:rPr>
              <a:t>Source: CRO dashboard, Qualitative Intelligence Coding. Counts are entries, not classrooms.</a:t>
            </a:r>
          </a:p>
        </p:txBody>
      </p:sp>
    </p:spTree>
    <p:extLst>
      <p:ext uri="{BB962C8B-B14F-4D97-AF65-F5344CB8AC3E}">
        <p14:creationId xmlns:p14="http://schemas.microsoft.com/office/powerpoint/2010/main" val="423688256"/>
      </p:ext>
    </p:extLst>
  </p:cSld>
</p:sld>
</file>

<file path=ppt/slides/slide11.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1A815E-85D0-4EB6-B5DF-3BB9FAB6ADFB}"/>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How this could benefit our work</a:t>
            </a:r>
          </a:p>
        </p:txBody>
      </p:sp>
      <p:sp>
        <p:nvSpPr>
          <p:cNvPr id="2" name="">
            <a:extLst xmlns:a="http://schemas.openxmlformats.org/drawingml/2006/main">
              <a:ext uri="{FF2B5EF4-FFF2-40B4-BE49-F238E27FC236}">
                <a16:creationId xmlns:a16="http://schemas.microsoft.com/office/drawing/2014/main" id="{FCC454AA-D75B-4F04-942C-8CCB5DAB6FE3}"/>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E7EEADE4-4F8D-4ABF-905B-BB4904AD160F}"/>
              </a:ext>
            </a:extLst>
          </p:cNvPr>
          <p:cNvSpPr>
            <a:spLocks xmlns:a="http://schemas.openxmlformats.org/drawingml/2006/main" noGrp="1"/>
          </p:cNvSpPr>
          <p:nvPr/>
        </p:nvSpPr>
        <p:spPr>
          <a:xfrm xmlns:a="http://schemas.openxmlformats.org/drawingml/2006/main">
            <a:off x="723900" y="1809750"/>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35D3C"/>
                </a:solidFill>
                <a:latin typeface="Arial"/>
                <a:ea typeface="Arial"/>
                <a:cs typeface="Arial"/>
              </a:defRPr>
            </a:pPr>
            <a:r>
              <a:rPr sz="2250" b="1">
                <a:solidFill>
                  <a:srgbClr val="C35D3C"/>
                </a:solidFill>
                <a:latin typeface="Arial"/>
                <a:ea typeface="Arial"/>
                <a:cs typeface="Arial"/>
              </a:rPr>
              <a:t>Faster first drafts</a:t>
            </a:r>
          </a:p>
        </p:txBody>
      </p:sp>
      <p:sp>
        <p:nvSpPr>
          <p:cNvPr id="4" name="">
            <a:extLst xmlns:a="http://schemas.openxmlformats.org/drawingml/2006/main">
              <a:ext uri="{FF2B5EF4-FFF2-40B4-BE49-F238E27FC236}">
                <a16:creationId xmlns:a16="http://schemas.microsoft.com/office/drawing/2014/main" id="{129DB957-8460-40B7-82CC-FE2E66B15BB7}"/>
              </a:ext>
            </a:extLst>
          </p:cNvPr>
          <p:cNvSpPr>
            <a:spLocks xmlns:a="http://schemas.openxmlformats.org/drawingml/2006/main" noGrp="1"/>
          </p:cNvSpPr>
          <p:nvPr/>
        </p:nvSpPr>
        <p:spPr>
          <a:xfrm xmlns:a="http://schemas.openxmlformats.org/drawingml/2006/main">
            <a:off x="3943350" y="1809750"/>
            <a:ext cx="752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D3B"/>
                </a:solidFill>
                <a:latin typeface="Arial"/>
                <a:ea typeface="Arial"/>
                <a:cs typeface="Arial"/>
              </a:defRPr>
            </a:pPr>
            <a:r>
              <a:rPr sz="2100" b="0">
                <a:solidFill>
                  <a:srgbClr val="163D3B"/>
                </a:solidFill>
                <a:latin typeface="Arial"/>
                <a:ea typeface="Arial"/>
                <a:cs typeface="Arial"/>
              </a:rPr>
              <a:t>Reduce repeated reading, sorting and report preparation.</a:t>
            </a:r>
          </a:p>
        </p:txBody>
      </p:sp>
      <p:sp>
        <p:nvSpPr>
          <p:cNvPr id="5" name="">
            <a:extLst xmlns:a="http://schemas.openxmlformats.org/drawingml/2006/main">
              <a:ext uri="{FF2B5EF4-FFF2-40B4-BE49-F238E27FC236}">
                <a16:creationId xmlns:a16="http://schemas.microsoft.com/office/drawing/2014/main" id="{71CE524F-1F87-49A0-8FDF-FA5F3D67467F}"/>
              </a:ext>
            </a:extLst>
          </p:cNvPr>
          <p:cNvSpPr>
            <a:spLocks xmlns:a="http://schemas.openxmlformats.org/drawingml/2006/main" noGrp="1"/>
          </p:cNvSpPr>
          <p:nvPr/>
        </p:nvSpPr>
        <p:spPr>
          <a:xfrm xmlns:a="http://schemas.openxmlformats.org/drawingml/2006/main">
            <a:off x="723900" y="2876550"/>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35D3C"/>
                </a:solidFill>
                <a:latin typeface="Arial"/>
                <a:ea typeface="Arial"/>
                <a:cs typeface="Arial"/>
              </a:defRPr>
            </a:pPr>
            <a:r>
              <a:rPr sz="2250" b="1">
                <a:solidFill>
                  <a:srgbClr val="C35D3C"/>
                </a:solidFill>
                <a:latin typeface="Arial"/>
                <a:ea typeface="Arial"/>
                <a:cs typeface="Arial"/>
              </a:rPr>
              <a:t>More comparisons</a:t>
            </a:r>
          </a:p>
        </p:txBody>
      </p:sp>
      <p:sp>
        <p:nvSpPr>
          <p:cNvPr id="6" name="">
            <a:extLst xmlns:a="http://schemas.openxmlformats.org/drawingml/2006/main">
              <a:ext uri="{FF2B5EF4-FFF2-40B4-BE49-F238E27FC236}">
                <a16:creationId xmlns:a16="http://schemas.microsoft.com/office/drawing/2014/main" id="{D83070D0-EA35-48A1-983D-02114BC2316E}"/>
              </a:ext>
            </a:extLst>
          </p:cNvPr>
          <p:cNvSpPr>
            <a:spLocks xmlns:a="http://schemas.openxmlformats.org/drawingml/2006/main" noGrp="1"/>
          </p:cNvSpPr>
          <p:nvPr/>
        </p:nvSpPr>
        <p:spPr>
          <a:xfrm xmlns:a="http://schemas.openxmlformats.org/drawingml/2006/main">
            <a:off x="3943350" y="2876550"/>
            <a:ext cx="752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D3B"/>
                </a:solidFill>
                <a:latin typeface="Arial"/>
                <a:ea typeface="Arial"/>
                <a:cs typeface="Arial"/>
              </a:defRPr>
            </a:pPr>
            <a:r>
              <a:rPr sz="2100" b="0">
                <a:solidFill>
                  <a:srgbClr val="163D3B"/>
                </a:solidFill>
                <a:latin typeface="Arial"/>
                <a:ea typeface="Arial"/>
                <a:cs typeface="Arial"/>
              </a:rPr>
              <a:t>Explore differences across groups, periods and projects.</a:t>
            </a:r>
          </a:p>
        </p:txBody>
      </p:sp>
      <p:sp>
        <p:nvSpPr>
          <p:cNvPr id="7" name="">
            <a:extLst xmlns:a="http://schemas.openxmlformats.org/drawingml/2006/main">
              <a:ext uri="{FF2B5EF4-FFF2-40B4-BE49-F238E27FC236}">
                <a16:creationId xmlns:a16="http://schemas.microsoft.com/office/drawing/2014/main" id="{92F74735-6018-4574-90D8-624482ED693E}"/>
              </a:ext>
            </a:extLst>
          </p:cNvPr>
          <p:cNvSpPr>
            <a:spLocks xmlns:a="http://schemas.openxmlformats.org/drawingml/2006/main" noGrp="1"/>
          </p:cNvSpPr>
          <p:nvPr/>
        </p:nvSpPr>
        <p:spPr>
          <a:xfrm xmlns:a="http://schemas.openxmlformats.org/drawingml/2006/main">
            <a:off x="723900" y="3943350"/>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35D3C"/>
                </a:solidFill>
                <a:latin typeface="Arial"/>
                <a:ea typeface="Arial"/>
                <a:cs typeface="Arial"/>
              </a:defRPr>
            </a:pPr>
            <a:r>
              <a:rPr sz="2250" b="1">
                <a:solidFill>
                  <a:srgbClr val="C35D3C"/>
                </a:solidFill>
                <a:latin typeface="Arial"/>
                <a:ea typeface="Arial"/>
                <a:cs typeface="Arial"/>
              </a:rPr>
              <a:t>Easier access</a:t>
            </a:r>
          </a:p>
        </p:txBody>
      </p:sp>
      <p:sp>
        <p:nvSpPr>
          <p:cNvPr id="8" name="">
            <a:extLst xmlns:a="http://schemas.openxmlformats.org/drawingml/2006/main">
              <a:ext uri="{FF2B5EF4-FFF2-40B4-BE49-F238E27FC236}">
                <a16:creationId xmlns:a16="http://schemas.microsoft.com/office/drawing/2014/main" id="{5A447D4C-1201-4726-935D-639CF22B46BF}"/>
              </a:ext>
            </a:extLst>
          </p:cNvPr>
          <p:cNvSpPr>
            <a:spLocks xmlns:a="http://schemas.openxmlformats.org/drawingml/2006/main" noGrp="1"/>
          </p:cNvSpPr>
          <p:nvPr/>
        </p:nvSpPr>
        <p:spPr>
          <a:xfrm xmlns:a="http://schemas.openxmlformats.org/drawingml/2006/main">
            <a:off x="3943350" y="3943350"/>
            <a:ext cx="752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D3B"/>
                </a:solidFill>
                <a:latin typeface="Arial"/>
                <a:ea typeface="Arial"/>
                <a:cs typeface="Arial"/>
              </a:defRPr>
            </a:pPr>
            <a:r>
              <a:rPr sz="2100" b="0">
                <a:solidFill>
                  <a:srgbClr val="163D3B"/>
                </a:solidFill>
                <a:latin typeface="Arial"/>
                <a:ea typeface="Arial"/>
                <a:cs typeface="Arial"/>
              </a:rPr>
              <a:t>Let teams explore the same checked results through an app.</a:t>
            </a:r>
          </a:p>
        </p:txBody>
      </p:sp>
      <p:sp>
        <p:nvSpPr>
          <p:cNvPr id="9" name="">
            <a:extLst xmlns:a="http://schemas.openxmlformats.org/drawingml/2006/main">
              <a:ext uri="{FF2B5EF4-FFF2-40B4-BE49-F238E27FC236}">
                <a16:creationId xmlns:a16="http://schemas.microsoft.com/office/drawing/2014/main" id="{A77A631E-19AF-4A10-B152-CCF01CBD4C07}"/>
              </a:ext>
            </a:extLst>
          </p:cNvPr>
          <p:cNvSpPr>
            <a:spLocks xmlns:a="http://schemas.openxmlformats.org/drawingml/2006/main" noGrp="1"/>
          </p:cNvSpPr>
          <p:nvPr/>
        </p:nvSpPr>
        <p:spPr>
          <a:xfrm xmlns:a="http://schemas.openxmlformats.org/drawingml/2006/main">
            <a:off x="723900" y="5010150"/>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35D3C"/>
                </a:solidFill>
                <a:latin typeface="Arial"/>
                <a:ea typeface="Arial"/>
                <a:cs typeface="Arial"/>
              </a:defRPr>
            </a:pPr>
            <a:r>
              <a:rPr sz="2250" b="1">
                <a:solidFill>
                  <a:srgbClr val="C35D3C"/>
                </a:solidFill>
                <a:latin typeface="Arial"/>
                <a:ea typeface="Arial"/>
                <a:cs typeface="Arial"/>
              </a:rPr>
              <a:t>Traceable findings</a:t>
            </a:r>
          </a:p>
        </p:txBody>
      </p:sp>
      <p:sp>
        <p:nvSpPr>
          <p:cNvPr id="10" name="">
            <a:extLst xmlns:a="http://schemas.openxmlformats.org/drawingml/2006/main">
              <a:ext uri="{FF2B5EF4-FFF2-40B4-BE49-F238E27FC236}">
                <a16:creationId xmlns:a16="http://schemas.microsoft.com/office/drawing/2014/main" id="{EC6A60CD-2D37-4E9B-9429-19CEE0145B8B}"/>
              </a:ext>
            </a:extLst>
          </p:cNvPr>
          <p:cNvSpPr>
            <a:spLocks xmlns:a="http://schemas.openxmlformats.org/drawingml/2006/main" noGrp="1"/>
          </p:cNvSpPr>
          <p:nvPr/>
        </p:nvSpPr>
        <p:spPr>
          <a:xfrm xmlns:a="http://schemas.openxmlformats.org/drawingml/2006/main">
            <a:off x="3943350" y="5010150"/>
            <a:ext cx="7524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D3B"/>
                </a:solidFill>
                <a:latin typeface="Arial"/>
                <a:ea typeface="Arial"/>
                <a:cs typeface="Arial"/>
              </a:defRPr>
            </a:pPr>
            <a:r>
              <a:rPr sz="2100" b="0">
                <a:solidFill>
                  <a:srgbClr val="163D3B"/>
                </a:solidFill>
                <a:latin typeface="Arial"/>
                <a:ea typeface="Arial"/>
                <a:cs typeface="Arial"/>
              </a:rPr>
              <a:t>Keep evidence and reviewer decisions beside each conclusion.</a:t>
            </a:r>
          </a:p>
        </p:txBody>
      </p:sp>
    </p:spTree>
    <p:extLst>
      <p:ext uri="{BB962C8B-B14F-4D97-AF65-F5344CB8AC3E}">
        <p14:creationId xmlns:p14="http://schemas.microsoft.com/office/powerpoint/2010/main" val="1757064575"/>
      </p:ext>
    </p:extLst>
  </p:cSld>
</p:sld>
</file>

<file path=ppt/slides/slide12.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A4C86E-7EE4-4767-BEE0-5B5BE5C8288E}"/>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63D3B"/>
                </a:solidFill>
                <a:latin typeface="Arial"/>
                <a:ea typeface="Arial"/>
                <a:cs typeface="Arial"/>
              </a:defRPr>
            </a:pPr>
            <a:r>
              <a:rPr sz="3750" b="1">
                <a:solidFill>
                  <a:srgbClr val="163D3B"/>
                </a:solidFill>
                <a:latin typeface="Arial"/>
                <a:ea typeface="Arial"/>
                <a:cs typeface="Arial"/>
              </a:rPr>
              <a:t>A pilot across different types of analysis</a:t>
            </a:r>
          </a:p>
        </p:txBody>
      </p:sp>
      <p:sp>
        <p:nvSpPr>
          <p:cNvPr id="2" name="">
            <a:extLst xmlns:a="http://schemas.openxmlformats.org/drawingml/2006/main">
              <a:ext uri="{FF2B5EF4-FFF2-40B4-BE49-F238E27FC236}">
                <a16:creationId xmlns:a16="http://schemas.microsoft.com/office/drawing/2014/main" id="{3201F5E3-E2CF-44DA-A521-79AD783FA23B}"/>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8746E"/>
                </a:solidFill>
                <a:latin typeface="Arial"/>
                <a:ea typeface="Arial"/>
                <a:cs typeface="Arial"/>
              </a:defRPr>
            </a:pPr>
            <a:r>
              <a:rPr sz="1275" b="0">
                <a:solidFill>
                  <a:srgbClr val="68746E"/>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28BBF88-477D-4BEC-A950-538CD0F389A8}"/>
              </a:ext>
            </a:extLst>
          </p:cNvPr>
          <p:cNvSpPr>
            <a:spLocks xmlns:a="http://schemas.openxmlformats.org/drawingml/2006/main" noGrp="1"/>
          </p:cNvSpPr>
          <p:nvPr/>
        </p:nvSpPr>
        <p:spPr>
          <a:xfrm xmlns:a="http://schemas.openxmlformats.org/drawingml/2006/main">
            <a:off x="723900" y="1838325"/>
            <a:ext cx="4876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35D3C"/>
                </a:solidFill>
                <a:latin typeface="Arial"/>
                <a:ea typeface="Arial"/>
                <a:cs typeface="Arial"/>
              </a:defRPr>
            </a:pPr>
            <a:r>
              <a:rPr sz="3225" b="1">
                <a:solidFill>
                  <a:srgbClr val="C35D3C"/>
                </a:solidFill>
                <a:latin typeface="Arial"/>
                <a:ea typeface="Arial"/>
                <a:cs typeface="Arial"/>
              </a:rPr>
              <a:t>Two test cases</a:t>
            </a:r>
          </a:p>
        </p:txBody>
      </p:sp>
      <p:sp>
        <p:nvSpPr>
          <p:cNvPr id="4" name="">
            <a:extLst xmlns:a="http://schemas.openxmlformats.org/drawingml/2006/main">
              <a:ext uri="{FF2B5EF4-FFF2-40B4-BE49-F238E27FC236}">
                <a16:creationId xmlns:a16="http://schemas.microsoft.com/office/drawing/2014/main" id="{6BA5D08B-D9C4-4D36-9545-5B76EDC937B5}"/>
              </a:ext>
            </a:extLst>
          </p:cNvPr>
          <p:cNvSpPr>
            <a:spLocks xmlns:a="http://schemas.openxmlformats.org/drawingml/2006/main" noGrp="1"/>
          </p:cNvSpPr>
          <p:nvPr/>
        </p:nvSpPr>
        <p:spPr>
          <a:xfrm xmlns:a="http://schemas.openxmlformats.org/drawingml/2006/main">
            <a:off x="723900" y="2886075"/>
            <a:ext cx="50101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3D3B"/>
                </a:solidFill>
                <a:latin typeface="Arial"/>
                <a:ea typeface="Arial"/>
                <a:cs typeface="Arial"/>
              </a:defRPr>
            </a:pPr>
            <a:r>
              <a:rPr sz="2475" b="1">
                <a:solidFill>
                  <a:srgbClr val="163D3B"/>
                </a:solidFill>
                <a:latin typeface="Arial"/>
                <a:ea typeface="Arial"/>
                <a:cs typeface="Arial"/>
              </a:rPr>
              <a:t>One text analysis</a:t>
            </a:r>
          </a:p>
          <a:p xmlns:a="http://schemas.openxmlformats.org/drawingml/2006/main">
            <a:pPr>
              <a:defRPr sz="2475" b="1">
                <a:solidFill>
                  <a:srgbClr val="163D3B"/>
                </a:solidFill>
                <a:latin typeface="Arial"/>
                <a:ea typeface="Arial"/>
                <a:cs typeface="Arial"/>
              </a:defRPr>
            </a:pPr>
            <a:r>
              <a:rPr sz="2475" b="1">
                <a:solidFill>
                  <a:srgbClr val="163D3B"/>
                </a:solidFill>
                <a:latin typeface="Arial"/>
                <a:ea typeface="Arial"/>
                <a:cs typeface="Arial"/>
              </a:rPr>
              <a:t>One survey or usage analysis</a:t>
            </a:r>
          </a:p>
        </p:txBody>
      </p:sp>
      <p:sp>
        <p:nvSpPr>
          <p:cNvPr id="5" name="">
            <a:extLst xmlns:a="http://schemas.openxmlformats.org/drawingml/2006/main">
              <a:ext uri="{FF2B5EF4-FFF2-40B4-BE49-F238E27FC236}">
                <a16:creationId xmlns:a16="http://schemas.microsoft.com/office/drawing/2014/main" id="{8240D5F2-DA60-4E90-9FAE-DE2153284045}"/>
              </a:ext>
            </a:extLst>
          </p:cNvPr>
          <p:cNvSpPr>
            <a:spLocks xmlns:a="http://schemas.openxmlformats.org/drawingml/2006/main" noGrp="1"/>
          </p:cNvSpPr>
          <p:nvPr/>
        </p:nvSpPr>
        <p:spPr>
          <a:xfrm xmlns:a="http://schemas.openxmlformats.org/drawingml/2006/main">
            <a:off x="723900" y="4552950"/>
            <a:ext cx="4876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Selected from the reports</a:t>
            </a:r>
          </a:p>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already explored</a:t>
            </a:r>
          </a:p>
        </p:txBody>
      </p:sp>
      <p:sp>
        <p:nvSpPr>
          <p:cNvPr id="6" name="">
            <a:extLst xmlns:a="http://schemas.openxmlformats.org/drawingml/2006/main">
              <a:ext uri="{FF2B5EF4-FFF2-40B4-BE49-F238E27FC236}">
                <a16:creationId xmlns:a16="http://schemas.microsoft.com/office/drawing/2014/main" id="{58E4878A-81AE-4E86-893E-CA4551C99010}"/>
              </a:ext>
            </a:extLst>
          </p:cNvPr>
          <p:cNvSpPr>
            <a:spLocks xmlns:a="http://schemas.openxmlformats.org/drawingml/2006/main" noGrp="1"/>
          </p:cNvSpPr>
          <p:nvPr/>
        </p:nvSpPr>
        <p:spPr>
          <a:xfrm xmlns:a="http://schemas.openxmlformats.org/drawingml/2006/main">
            <a:off x="6524625" y="1838325"/>
            <a:ext cx="4924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35D3C"/>
                </a:solidFill>
                <a:latin typeface="Arial"/>
                <a:ea typeface="Arial"/>
                <a:cs typeface="Arial"/>
              </a:defRPr>
            </a:pPr>
            <a:r>
              <a:rPr sz="3225" b="1">
                <a:solidFill>
                  <a:srgbClr val="C35D3C"/>
                </a:solidFill>
                <a:latin typeface="Arial"/>
                <a:ea typeface="Arial"/>
                <a:cs typeface="Arial"/>
              </a:rPr>
              <a:t>What we measure</a:t>
            </a:r>
          </a:p>
        </p:txBody>
      </p:sp>
      <p:sp>
        <p:nvSpPr>
          <p:cNvPr id="7" name="">
            <a:extLst xmlns:a="http://schemas.openxmlformats.org/drawingml/2006/main">
              <a:ext uri="{FF2B5EF4-FFF2-40B4-BE49-F238E27FC236}">
                <a16:creationId xmlns:a16="http://schemas.microsoft.com/office/drawing/2014/main" id="{1ED5DD1D-D00A-4B3E-995F-4E3326392F71}"/>
              </a:ext>
            </a:extLst>
          </p:cNvPr>
          <p:cNvSpPr>
            <a:spLocks xmlns:a="http://schemas.openxmlformats.org/drawingml/2006/main" noGrp="1"/>
          </p:cNvSpPr>
          <p:nvPr/>
        </p:nvSpPr>
        <p:spPr>
          <a:xfrm xmlns:a="http://schemas.openxmlformats.org/drawingml/2006/main">
            <a:off x="6524625" y="2876550"/>
            <a:ext cx="495300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Total time, including corrections</a:t>
            </a:r>
          </a:p>
          <a:p xmlns:a="http://schemas.openxmlformats.org/drawingml/2006/main">
            <a:r>
              <a:t/>
            </a:r>
          </a:p>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Accuracy and missed findings</a:t>
            </a:r>
          </a:p>
          <a:p xmlns:a="http://schemas.openxmlformats.org/drawingml/2006/main">
            <a:r>
              <a:t/>
            </a:r>
          </a:p>
          <a:p xmlns:a="http://schemas.openxmlformats.org/drawingml/2006/main">
            <a:pPr>
              <a:defRPr sz="2175" b="0">
                <a:solidFill>
                  <a:srgbClr val="163D3B"/>
                </a:solidFill>
                <a:latin typeface="Arial"/>
                <a:ea typeface="Arial"/>
                <a:cs typeface="Arial"/>
              </a:defRPr>
            </a:pPr>
            <a:r>
              <a:rPr sz="2175" b="0">
                <a:solidFill>
                  <a:srgbClr val="163D3B"/>
                </a:solidFill>
                <a:latin typeface="Arial"/>
                <a:ea typeface="Arial"/>
                <a:cs typeface="Arial"/>
              </a:rPr>
              <a:t>Evidence, usefulness and cost</a:t>
            </a:r>
          </a:p>
        </p:txBody>
      </p:sp>
      <p:sp>
        <p:nvSpPr>
          <p:cNvPr id="8" name="">
            <a:extLst xmlns:a="http://schemas.openxmlformats.org/drawingml/2006/main">
              <a:ext uri="{FF2B5EF4-FFF2-40B4-BE49-F238E27FC236}">
                <a16:creationId xmlns:a16="http://schemas.microsoft.com/office/drawing/2014/main" id="{89B875AA-70F1-4C0E-ABC4-0D40440648C9}"/>
              </a:ext>
            </a:extLst>
          </p:cNvPr>
          <p:cNvSpPr>
            <a:spLocks xmlns:a="http://schemas.openxmlformats.org/drawingml/2006/main" noGrp="1"/>
          </p:cNvSpPr>
          <p:nvPr/>
        </p:nvSpPr>
        <p:spPr>
          <a:xfrm xmlns:a="http://schemas.openxmlformats.org/drawingml/2006/main">
            <a:off x="723900" y="5972175"/>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746E"/>
                </a:solidFill>
                <a:latin typeface="Arial"/>
                <a:ea typeface="Arial"/>
                <a:cs typeface="Arial"/>
              </a:defRPr>
            </a:pPr>
            <a:r>
              <a:rPr sz="1875" b="0">
                <a:solidFill>
                  <a:srgbClr val="68746E"/>
                </a:solidFill>
                <a:latin typeface="Arial"/>
                <a:ea typeface="Arial"/>
                <a:cs typeface="Arial"/>
              </a:rPr>
              <a:t>Expand when the approach delivers useful findings with acceptable quality and cost.</a:t>
            </a:r>
          </a:p>
        </p:txBody>
      </p:sp>
    </p:spTree>
    <p:extLst>
      <p:ext uri="{BB962C8B-B14F-4D97-AF65-F5344CB8AC3E}">
        <p14:creationId xmlns:p14="http://schemas.microsoft.com/office/powerpoint/2010/main" val="1522093653"/>
      </p:ext>
    </p:extLst>
  </p:cSld>
</p:sld>
</file>

<file path=ppt/slides/slide13.xml><?xml version="1.0" encoding="utf-8"?>
<p:sld xmlns:p="http://schemas.openxmlformats.org/presentationml/2006/main">
  <p:cSld>
    <p:bg>
      <p:bgPr>
        <a:solidFill xmlns:a="http://schemas.openxmlformats.org/drawingml/2006/main">
          <a:srgbClr val="163D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B3B4AD-2AF8-4349-BBF0-69C46CA5B1AE}"/>
              </a:ext>
            </a:extLst>
          </p:cNvPr>
          <p:cNvSpPr>
            <a:spLocks xmlns:a="http://schemas.openxmlformats.org/drawingml/2006/main" noGrp="1"/>
          </p:cNvSpPr>
          <p:nvPr/>
        </p:nvSpPr>
        <p:spPr>
          <a:xfrm xmlns:a="http://schemas.openxmlformats.org/drawingml/2006/main">
            <a:off x="704850" y="59055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7F2EA"/>
                </a:solidFill>
                <a:latin typeface="Arial"/>
                <a:ea typeface="Arial"/>
                <a:cs typeface="Arial"/>
              </a:defRPr>
            </a:pPr>
            <a:r>
              <a:rPr sz="3750" b="1">
                <a:solidFill>
                  <a:srgbClr val="F7F2EA"/>
                </a:solidFill>
                <a:latin typeface="Arial"/>
                <a:ea typeface="Arial"/>
                <a:cs typeface="Arial"/>
              </a:rPr>
              <a:t>A shared approach across our projects</a:t>
            </a:r>
          </a:p>
        </p:txBody>
      </p:sp>
      <p:sp>
        <p:nvSpPr>
          <p:cNvPr id="2" name="">
            <a:extLst xmlns:a="http://schemas.openxmlformats.org/drawingml/2006/main">
              <a:ext uri="{FF2B5EF4-FFF2-40B4-BE49-F238E27FC236}">
                <a16:creationId xmlns:a16="http://schemas.microsoft.com/office/drawing/2014/main" id="{C25790E6-AD0F-41DF-A888-1ABA269E83F6}"/>
              </a:ext>
            </a:extLst>
          </p:cNvPr>
          <p:cNvSpPr>
            <a:spLocks xmlns:a="http://schemas.openxmlformats.org/drawingml/2006/main" noGrp="1"/>
          </p:cNvSpPr>
          <p:nvPr/>
        </p:nvSpPr>
        <p:spPr>
          <a:xfrm xmlns:a="http://schemas.openxmlformats.org/drawingml/2006/main">
            <a:off x="11125200" y="6257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4C4BC"/>
                </a:solidFill>
                <a:latin typeface="Arial"/>
                <a:ea typeface="Arial"/>
                <a:cs typeface="Arial"/>
              </a:defRPr>
            </a:pPr>
            <a:r>
              <a:rPr sz="1275" b="0">
                <a:solidFill>
                  <a:srgbClr val="B4C4BC"/>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68444C1E-72FB-4746-B4DF-E4CE6DFD00FE}"/>
              </a:ext>
            </a:extLst>
          </p:cNvPr>
          <p:cNvSpPr>
            <a:spLocks xmlns:a="http://schemas.openxmlformats.org/drawingml/2006/main" noGrp="1"/>
          </p:cNvSpPr>
          <p:nvPr/>
        </p:nvSpPr>
        <p:spPr>
          <a:xfrm xmlns:a="http://schemas.openxmlformats.org/drawingml/2006/main">
            <a:off x="723900" y="2114550"/>
            <a:ext cx="107442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7F2EA"/>
                </a:solidFill>
                <a:latin typeface="Arial"/>
                <a:ea typeface="Arial"/>
                <a:cs typeface="Arial"/>
              </a:defRPr>
            </a:pPr>
            <a:r>
              <a:rPr sz="4425" b="1">
                <a:solidFill>
                  <a:srgbClr val="F7F2EA"/>
                </a:solidFill>
                <a:latin typeface="Arial"/>
                <a:ea typeface="Arial"/>
                <a:cs typeface="Arial"/>
              </a:rPr>
              <a:t>AI supports the analysis.</a:t>
            </a:r>
          </a:p>
          <a:p xmlns:a="http://schemas.openxmlformats.org/drawingml/2006/main">
            <a:pPr>
              <a:defRPr sz="4425" b="1">
                <a:solidFill>
                  <a:srgbClr val="F7F2EA"/>
                </a:solidFill>
                <a:latin typeface="Arial"/>
                <a:ea typeface="Arial"/>
                <a:cs typeface="Arial"/>
              </a:defRPr>
            </a:pPr>
            <a:r>
              <a:rPr sz="4425" b="1">
                <a:solidFill>
                  <a:srgbClr val="F7F2EA"/>
                </a:solidFill>
                <a:latin typeface="Arial"/>
                <a:ea typeface="Arial"/>
                <a:cs typeface="Arial"/>
              </a:rPr>
              <a:t>Our team owns the findings.</a:t>
            </a:r>
          </a:p>
        </p:txBody>
      </p:sp>
      <p:sp>
        <p:nvSpPr>
          <p:cNvPr id="4" name="">
            <a:extLst xmlns:a="http://schemas.openxmlformats.org/drawingml/2006/main">
              <a:ext uri="{FF2B5EF4-FFF2-40B4-BE49-F238E27FC236}">
                <a16:creationId xmlns:a16="http://schemas.microsoft.com/office/drawing/2014/main" id="{0C9B2E90-2AC5-4E24-AAFE-2F82284D6C7C}"/>
              </a:ext>
            </a:extLst>
          </p:cNvPr>
          <p:cNvSpPr>
            <a:spLocks xmlns:a="http://schemas.openxmlformats.org/drawingml/2006/main" noGrp="1"/>
          </p:cNvSpPr>
          <p:nvPr/>
        </p:nvSpPr>
        <p:spPr>
          <a:xfrm xmlns:a="http://schemas.openxmlformats.org/drawingml/2006/main">
            <a:off x="723900" y="4476750"/>
            <a:ext cx="10744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D2DED4"/>
                </a:solidFill>
                <a:latin typeface="Arial"/>
                <a:ea typeface="Arial"/>
                <a:cs typeface="Arial"/>
              </a:defRPr>
            </a:pPr>
            <a:r>
              <a:rPr sz="2400" b="0">
                <a:solidFill>
                  <a:srgbClr val="D2DED4"/>
                </a:solidFill>
                <a:latin typeface="Arial"/>
                <a:ea typeface="Arial"/>
                <a:cs typeface="Arial"/>
              </a:rPr>
              <a:t>Agree two pilot cases and a review process.</a:t>
            </a:r>
          </a:p>
          <a:p xmlns:a="http://schemas.openxmlformats.org/drawingml/2006/main">
            <a:pPr>
              <a:defRPr sz="2400" b="0">
                <a:solidFill>
                  <a:srgbClr val="D2DED4"/>
                </a:solidFill>
                <a:latin typeface="Arial"/>
                <a:ea typeface="Arial"/>
                <a:cs typeface="Arial"/>
              </a:defRPr>
            </a:pPr>
            <a:r>
              <a:rPr sz="2400" b="0">
                <a:solidFill>
                  <a:srgbClr val="D2DED4"/>
                </a:solidFill>
                <a:latin typeface="Arial"/>
                <a:ea typeface="Arial"/>
                <a:cs typeface="Arial"/>
              </a:rPr>
              <a:t>Then build a reusable workflow for future projects.</a:t>
            </a:r>
          </a:p>
        </p:txBody>
      </p:sp>
      <p:sp>
        <p:nvSpPr>
          <p:cNvPr id="5" name="">
            <a:extLst xmlns:a="http://schemas.openxmlformats.org/drawingml/2006/main">
              <a:ext uri="{FF2B5EF4-FFF2-40B4-BE49-F238E27FC236}">
                <a16:creationId xmlns:a16="http://schemas.microsoft.com/office/drawing/2014/main" id="{DBA24408-2CCF-4C25-A8E0-A3C2673EDB06}"/>
              </a:ext>
            </a:extLst>
          </p:cNvPr>
          <p:cNvSpPr>
            <a:spLocks xmlns:a="http://schemas.openxmlformats.org/drawingml/2006/main" noGrp="1"/>
          </p:cNvSpPr>
          <p:nvPr/>
        </p:nvSpPr>
        <p:spPr>
          <a:xfrm xmlns:a="http://schemas.openxmlformats.org/drawingml/2006/main">
            <a:off x="723900" y="5981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6AD91"/>
                </a:solidFill>
                <a:latin typeface="Arial"/>
                <a:ea typeface="Arial"/>
                <a:cs typeface="Arial"/>
              </a:defRPr>
            </a:pPr>
            <a:r>
              <a:rPr sz="2025" b="1">
                <a:solidFill>
                  <a:srgbClr val="E6AD91"/>
                </a:solidFill>
                <a:latin typeface="Arial"/>
                <a:ea typeface="Arial"/>
                <a:cs typeface="Arial"/>
              </a:rPr>
              <a:t>Qwen     DeepSeek     TabFM     Streamlit</a:t>
            </a:r>
          </a:p>
        </p:txBody>
      </p:sp>
    </p:spTree>
    <p:extLst>
      <p:ext uri="{BB962C8B-B14F-4D97-AF65-F5344CB8AC3E}">
        <p14:creationId xmlns:p14="http://schemas.microsoft.com/office/powerpoint/2010/main" val="1762118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2026-09-11T18:38:11.2920000Z</dcterms:created>
  <dcterms:modified xsi:type="dcterms:W3CDTF">2026-09-11T18:38:11.2920000Z</dcterms:modified>
</coreProperties>
</file>