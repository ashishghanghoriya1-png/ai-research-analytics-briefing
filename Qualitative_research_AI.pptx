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Override2.xml" ContentType="application/vnd.openxmlformats-officedocument.themeOverr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D73236-C062-438D-9CBA-BC8D3B196009}" type="doc">
      <dgm:prSet loTypeId="urn:microsoft.com/office/officeart/2005/8/layout/default" loCatId="list" qsTypeId="urn:microsoft.com/office/officeart/2005/8/quickstyle/simple1#1" qsCatId="simple" csTypeId="urn:microsoft.com/office/officeart/2005/8/colors/colorful5#1" csCatId="colorful" phldr="1"/>
      <dgm:spPr/>
      <dgm:t>
        <a:bodyPr/>
        <a:lstStyle/>
        <a:p>
          <a:endParaRPr lang="en-US"/>
        </a:p>
      </dgm:t>
    </dgm:pt>
    <dgm:pt modelId="{C605271C-4576-4DDD-AED9-0CCE75FAA689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Multilingual Field Notes: Researchers collect unstructured Hindi &amp; English observation notes from CLSS / CM RISE visits.</a:t>
          </a:r>
        </a:p>
      </dgm:t>
    </dgm:pt>
    <dgm:pt modelId="{6E54F429-ADF7-489B-ABE5-A155AD7595EA}" type="parTrans" cxnId="{F09235A9-CEAE-4CF6-90C4-04360923786D}">
      <dgm:prSet/>
      <dgm:spPr/>
      <dgm:t>
        <a:bodyPr/>
        <a:lstStyle/>
        <a:p>
          <a:endParaRPr lang="en-US" sz="1800"/>
        </a:p>
      </dgm:t>
    </dgm:pt>
    <dgm:pt modelId="{4E018EED-CA3A-4E41-8FF2-7F95720C666E}" type="sibTrans" cxnId="{F09235A9-CEAE-4CF6-90C4-04360923786D}">
      <dgm:prSet phldrT="01"/>
      <dgm:spPr/>
      <dgm:t>
        <a:bodyPr/>
        <a:lstStyle/>
        <a:p>
          <a:endParaRPr lang="en-US"/>
        </a:p>
      </dgm:t>
    </dgm:pt>
    <dgm:pt modelId="{EB0E9520-E28D-4D4B-B8AE-1E891743C719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Manual Thematic Coding: Bottlenecked by manual reading to code themes (e.g., Compliance Barriers, Informal Cascades).</a:t>
          </a:r>
        </a:p>
      </dgm:t>
    </dgm:pt>
    <dgm:pt modelId="{DB9DF6B0-4A76-445A-B923-A2AD5A7C81B7}" type="parTrans" cxnId="{508BE85B-E172-49D1-A927-52897DD1E7C6}">
      <dgm:prSet/>
      <dgm:spPr/>
      <dgm:t>
        <a:bodyPr/>
        <a:lstStyle/>
        <a:p>
          <a:endParaRPr lang="en-US" sz="1800"/>
        </a:p>
      </dgm:t>
    </dgm:pt>
    <dgm:pt modelId="{9FB8B26D-7869-42FA-AB70-88E2AE4E882D}" type="sibTrans" cxnId="{508BE85B-E172-49D1-A927-52897DD1E7C6}">
      <dgm:prSet phldrT="02"/>
      <dgm:spPr/>
      <dgm:t>
        <a:bodyPr/>
        <a:lstStyle/>
        <a:p>
          <a:endParaRPr lang="en-US"/>
        </a:p>
      </dgm:t>
    </dgm:pt>
    <dgm:pt modelId="{DC107BD8-BB18-4C8C-A4AE-268589EA76B3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Time &amp; Scalability </a:t>
          </a:r>
          <a:r>
            <a:rPr lang="en-US" dirty="0" err="1"/>
            <a:t>ConstraintsRisk</a:t>
          </a:r>
          <a:r>
            <a:rPr lang="en-US" dirty="0"/>
            <a:t> of Nuance Loss: High volume of text increases the risk of overlooking subtle qualitative insights.</a:t>
          </a:r>
        </a:p>
      </dgm:t>
    </dgm:pt>
    <dgm:pt modelId="{B37B4722-D9F6-4C9D-B456-3E2591768891}" type="parTrans" cxnId="{821BF32C-4B2D-4EEA-ADA8-3B9578FF9B0C}">
      <dgm:prSet/>
      <dgm:spPr/>
      <dgm:t>
        <a:bodyPr/>
        <a:lstStyle/>
        <a:p>
          <a:endParaRPr lang="en-US" sz="1800"/>
        </a:p>
      </dgm:t>
    </dgm:pt>
    <dgm:pt modelId="{638B753C-CEF4-4B12-873D-1F9FD05A694B}" type="sibTrans" cxnId="{821BF32C-4B2D-4EEA-ADA8-3B9578FF9B0C}">
      <dgm:prSet phldrT="04"/>
      <dgm:spPr/>
      <dgm:t>
        <a:bodyPr/>
        <a:lstStyle/>
        <a:p>
          <a:endParaRPr lang="en-US"/>
        </a:p>
      </dgm:t>
    </dgm:pt>
    <dgm:pt modelId="{390E2DAC-E6CD-44B3-9A58-A79073F09A18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Field Notes -&gt; manual coding -&gt; Synthesis -&gt; Report </a:t>
          </a:r>
        </a:p>
      </dgm:t>
    </dgm:pt>
    <dgm:pt modelId="{E6DDB984-5916-4362-818A-3C12D3B53F9F}" type="parTrans" cxnId="{38567A76-8FD3-4074-BC51-2D56850A43DC}">
      <dgm:prSet/>
      <dgm:spPr/>
      <dgm:t>
        <a:bodyPr/>
        <a:lstStyle/>
        <a:p>
          <a:endParaRPr lang="en-US" sz="1800"/>
        </a:p>
      </dgm:t>
    </dgm:pt>
    <dgm:pt modelId="{EFCABB4D-DDDE-4BC9-9EEC-08EB80116365}" type="sibTrans" cxnId="{38567A76-8FD3-4074-BC51-2D56850A43DC}">
      <dgm:prSet phldrT="03"/>
      <dgm:spPr/>
      <dgm:t>
        <a:bodyPr/>
        <a:lstStyle/>
        <a:p>
          <a:endParaRPr lang="en-US"/>
        </a:p>
      </dgm:t>
    </dgm:pt>
    <dgm:pt modelId="{6E8ADCC1-CA55-47BE-A9BC-77D6085EAE28}" type="pres">
      <dgm:prSet presAssocID="{29D73236-C062-438D-9CBA-BC8D3B196009}" presName="diagram" presStyleCnt="0">
        <dgm:presLayoutVars>
          <dgm:dir/>
          <dgm:resizeHandles val="exact"/>
        </dgm:presLayoutVars>
      </dgm:prSet>
      <dgm:spPr/>
    </dgm:pt>
    <dgm:pt modelId="{5B059DEC-0557-483A-AE7A-43A05C528812}" type="pres">
      <dgm:prSet presAssocID="{C605271C-4576-4DDD-AED9-0CCE75FAA689}" presName="node" presStyleLbl="node1" presStyleIdx="0" presStyleCnt="4">
        <dgm:presLayoutVars>
          <dgm:bulletEnabled val="1"/>
        </dgm:presLayoutVars>
      </dgm:prSet>
      <dgm:spPr/>
    </dgm:pt>
    <dgm:pt modelId="{68DC6246-EB1C-473D-9C45-C0D4665B91EB}" type="pres">
      <dgm:prSet presAssocID="{4E018EED-CA3A-4E41-8FF2-7F95720C666E}" presName="sibTrans" presStyleCnt="0"/>
      <dgm:spPr/>
    </dgm:pt>
    <dgm:pt modelId="{2808E24B-7FF2-4C34-94CF-ABE39EDD8483}" type="pres">
      <dgm:prSet presAssocID="{EB0E9520-E28D-4D4B-B8AE-1E891743C719}" presName="node" presStyleLbl="node1" presStyleIdx="1" presStyleCnt="4">
        <dgm:presLayoutVars>
          <dgm:bulletEnabled val="1"/>
        </dgm:presLayoutVars>
      </dgm:prSet>
      <dgm:spPr/>
    </dgm:pt>
    <dgm:pt modelId="{499474EE-04D6-4463-9A04-6DFFC7865925}" type="pres">
      <dgm:prSet presAssocID="{9FB8B26D-7869-42FA-AB70-88E2AE4E882D}" presName="sibTrans" presStyleCnt="0"/>
      <dgm:spPr/>
    </dgm:pt>
    <dgm:pt modelId="{6B794135-305A-44FD-B712-BB5FCC259175}" type="pres">
      <dgm:prSet presAssocID="{390E2DAC-E6CD-44B3-9A58-A79073F09A18}" presName="node" presStyleLbl="node1" presStyleIdx="2" presStyleCnt="4">
        <dgm:presLayoutVars>
          <dgm:bulletEnabled val="1"/>
        </dgm:presLayoutVars>
      </dgm:prSet>
      <dgm:spPr/>
    </dgm:pt>
    <dgm:pt modelId="{2A759AB7-1C09-46D0-AA91-C19EF988A630}" type="pres">
      <dgm:prSet presAssocID="{EFCABB4D-DDDE-4BC9-9EEC-08EB80116365}" presName="sibTrans" presStyleCnt="0"/>
      <dgm:spPr/>
    </dgm:pt>
    <dgm:pt modelId="{F0FA6EE4-0E87-493A-BEFB-F0355F817F7B}" type="pres">
      <dgm:prSet presAssocID="{DC107BD8-BB18-4C8C-A4AE-268589EA76B3}" presName="node" presStyleLbl="node1" presStyleIdx="3" presStyleCnt="4">
        <dgm:presLayoutVars>
          <dgm:bulletEnabled val="1"/>
        </dgm:presLayoutVars>
      </dgm:prSet>
      <dgm:spPr/>
    </dgm:pt>
  </dgm:ptLst>
  <dgm:cxnLst>
    <dgm:cxn modelId="{E39B842B-7ABF-442E-AF96-ED3C6C51D099}" type="presOf" srcId="{DC107BD8-BB18-4C8C-A4AE-268589EA76B3}" destId="{F0FA6EE4-0E87-493A-BEFB-F0355F817F7B}" srcOrd="0" destOrd="0" presId="urn:microsoft.com/office/officeart/2005/8/layout/default"/>
    <dgm:cxn modelId="{821BF32C-4B2D-4EEA-ADA8-3B9578FF9B0C}" srcId="{29D73236-C062-438D-9CBA-BC8D3B196009}" destId="{DC107BD8-BB18-4C8C-A4AE-268589EA76B3}" srcOrd="3" destOrd="0" parTransId="{B37B4722-D9F6-4C9D-B456-3E2591768891}" sibTransId="{638B753C-CEF4-4B12-873D-1F9FD05A694B}"/>
    <dgm:cxn modelId="{0396012F-831D-480D-B29C-49926D1790E4}" type="presOf" srcId="{C605271C-4576-4DDD-AED9-0CCE75FAA689}" destId="{5B059DEC-0557-483A-AE7A-43A05C528812}" srcOrd="0" destOrd="0" presId="urn:microsoft.com/office/officeart/2005/8/layout/default"/>
    <dgm:cxn modelId="{508BE85B-E172-49D1-A927-52897DD1E7C6}" srcId="{29D73236-C062-438D-9CBA-BC8D3B196009}" destId="{EB0E9520-E28D-4D4B-B8AE-1E891743C719}" srcOrd="1" destOrd="0" parTransId="{DB9DF6B0-4A76-445A-B923-A2AD5A7C81B7}" sibTransId="{9FB8B26D-7869-42FA-AB70-88E2AE4E882D}"/>
    <dgm:cxn modelId="{38567A76-8FD3-4074-BC51-2D56850A43DC}" srcId="{29D73236-C062-438D-9CBA-BC8D3B196009}" destId="{390E2DAC-E6CD-44B3-9A58-A79073F09A18}" srcOrd="2" destOrd="0" parTransId="{E6DDB984-5916-4362-818A-3C12D3B53F9F}" sibTransId="{EFCABB4D-DDDE-4BC9-9EEC-08EB80116365}"/>
    <dgm:cxn modelId="{F09235A9-CEAE-4CF6-90C4-04360923786D}" srcId="{29D73236-C062-438D-9CBA-BC8D3B196009}" destId="{C605271C-4576-4DDD-AED9-0CCE75FAA689}" srcOrd="0" destOrd="0" parTransId="{6E54F429-ADF7-489B-ABE5-A155AD7595EA}" sibTransId="{4E018EED-CA3A-4E41-8FF2-7F95720C666E}"/>
    <dgm:cxn modelId="{A7128CD7-879E-4BAC-A94A-751002C8B115}" type="presOf" srcId="{29D73236-C062-438D-9CBA-BC8D3B196009}" destId="{6E8ADCC1-CA55-47BE-A9BC-77D6085EAE28}" srcOrd="0" destOrd="0" presId="urn:microsoft.com/office/officeart/2005/8/layout/default"/>
    <dgm:cxn modelId="{311B06E6-26E5-4ECC-9E53-E6457E0AD329}" type="presOf" srcId="{EB0E9520-E28D-4D4B-B8AE-1E891743C719}" destId="{2808E24B-7FF2-4C34-94CF-ABE39EDD8483}" srcOrd="0" destOrd="0" presId="urn:microsoft.com/office/officeart/2005/8/layout/default"/>
    <dgm:cxn modelId="{01D32BFC-D296-486F-A1E5-96EFFB461725}" type="presOf" srcId="{390E2DAC-E6CD-44B3-9A58-A79073F09A18}" destId="{6B794135-305A-44FD-B712-BB5FCC259175}" srcOrd="0" destOrd="0" presId="urn:microsoft.com/office/officeart/2005/8/layout/default"/>
    <dgm:cxn modelId="{39257A5F-0847-44A1-B8EC-AD63DC0300EC}" type="presParOf" srcId="{6E8ADCC1-CA55-47BE-A9BC-77D6085EAE28}" destId="{5B059DEC-0557-483A-AE7A-43A05C528812}" srcOrd="0" destOrd="0" presId="urn:microsoft.com/office/officeart/2005/8/layout/default"/>
    <dgm:cxn modelId="{3EFE7873-160E-4527-9FE4-4A7FDB7371C2}" type="presParOf" srcId="{6E8ADCC1-CA55-47BE-A9BC-77D6085EAE28}" destId="{68DC6246-EB1C-473D-9C45-C0D4665B91EB}" srcOrd="1" destOrd="0" presId="urn:microsoft.com/office/officeart/2005/8/layout/default"/>
    <dgm:cxn modelId="{1DC43C0D-093B-4F7A-B50D-8CB653B6FA2C}" type="presParOf" srcId="{6E8ADCC1-CA55-47BE-A9BC-77D6085EAE28}" destId="{2808E24B-7FF2-4C34-94CF-ABE39EDD8483}" srcOrd="2" destOrd="0" presId="urn:microsoft.com/office/officeart/2005/8/layout/default"/>
    <dgm:cxn modelId="{E298DFF0-D64C-4BDE-BD45-175C59519B55}" type="presParOf" srcId="{6E8ADCC1-CA55-47BE-A9BC-77D6085EAE28}" destId="{499474EE-04D6-4463-9A04-6DFFC7865925}" srcOrd="3" destOrd="0" presId="urn:microsoft.com/office/officeart/2005/8/layout/default"/>
    <dgm:cxn modelId="{B1517CA5-1C41-4585-85C4-D29ABCA3833F}" type="presParOf" srcId="{6E8ADCC1-CA55-47BE-A9BC-77D6085EAE28}" destId="{6B794135-305A-44FD-B712-BB5FCC259175}" srcOrd="4" destOrd="0" presId="urn:microsoft.com/office/officeart/2005/8/layout/default"/>
    <dgm:cxn modelId="{BFFF82AE-3C72-49E6-B86E-A3F21831AB82}" type="presParOf" srcId="{6E8ADCC1-CA55-47BE-A9BC-77D6085EAE28}" destId="{2A759AB7-1C09-46D0-AA91-C19EF988A630}" srcOrd="5" destOrd="0" presId="urn:microsoft.com/office/officeart/2005/8/layout/default"/>
    <dgm:cxn modelId="{D54E6303-0006-408F-8B91-BB6F4E461180}" type="presParOf" srcId="{6E8ADCC1-CA55-47BE-A9BC-77D6085EAE28}" destId="{F0FA6EE4-0E87-493A-BEFB-F0355F817F7B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E73AE1-C897-4FF8-933A-C8A7429A4394}" type="doc">
      <dgm:prSet loTypeId="urn:microsoft.com/office/officeart/2005/8/layout/process5" loCatId="process" qsTypeId="urn:microsoft.com/office/officeart/2005/8/quickstyle/simple1#2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4BF82556-7B27-44B2-BC3B-F7532D55C621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I experimented with Google’s </a:t>
          </a:r>
          <a:r>
            <a:rPr lang="en-US" dirty="0" err="1"/>
            <a:t>TabFM</a:t>
          </a:r>
          <a:r>
            <a:rPr lang="en-US" dirty="0"/>
            <a:t>, a zero-shot foundation model for tabular data.</a:t>
          </a:r>
        </a:p>
      </dgm:t>
    </dgm:pt>
    <dgm:pt modelId="{D23FDB04-8EFA-4282-978B-B39F20B63FBA}" type="parTrans" cxnId="{D267174A-6B66-4E5A-99F7-241C7F38AC1F}">
      <dgm:prSet/>
      <dgm:spPr/>
      <dgm:t>
        <a:bodyPr/>
        <a:lstStyle/>
        <a:p>
          <a:endParaRPr lang="en-US"/>
        </a:p>
      </dgm:t>
    </dgm:pt>
    <dgm:pt modelId="{9D1B95C6-2253-4E00-831C-6BD6B0459459}" type="sibTrans" cxnId="{D267174A-6B66-4E5A-99F7-241C7F38AC1F}">
      <dgm:prSet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endParaRPr lang="en-US"/>
        </a:p>
      </dgm:t>
    </dgm:pt>
    <dgm:pt modelId="{5DA39C56-2CAC-4A9F-BF09-AD5D05F4800A}">
      <dgm:prSet/>
      <dgm:spPr>
        <a:solidFill>
          <a:schemeClr val="accent2"/>
        </a:solidFill>
      </dgm:spPr>
      <dgm:t>
        <a:bodyPr/>
        <a:lstStyle/>
        <a:p>
          <a:r>
            <a:rPr lang="en-US" dirty="0" err="1"/>
            <a:t>TabFM</a:t>
          </a:r>
          <a:r>
            <a:rPr lang="en-US" dirty="0"/>
            <a:t> can read an entire spreadsheet and run classification/regression without training a separate model per dataset.</a:t>
          </a:r>
        </a:p>
      </dgm:t>
    </dgm:pt>
    <dgm:pt modelId="{0A838086-4D9B-4F26-8738-5B362A888052}" type="parTrans" cxnId="{A3324EF9-F0F5-419E-AFEC-2CEDD992FFE3}">
      <dgm:prSet/>
      <dgm:spPr/>
      <dgm:t>
        <a:bodyPr/>
        <a:lstStyle/>
        <a:p>
          <a:endParaRPr lang="en-US"/>
        </a:p>
      </dgm:t>
    </dgm:pt>
    <dgm:pt modelId="{6A9F7829-EE37-4D37-B39C-B296958CCEBA}" type="sibTrans" cxnId="{A3324EF9-F0F5-419E-AFEC-2CEDD992FFE3}">
      <dgm:prSet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endParaRPr lang="en-US"/>
        </a:p>
      </dgm:t>
    </dgm:pt>
    <dgm:pt modelId="{9C6CEAED-018A-48EA-9077-DA01DA94DCE5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I applied </a:t>
          </a:r>
          <a:r>
            <a:rPr lang="en-US" dirty="0" err="1"/>
            <a:t>TabFM</a:t>
          </a:r>
          <a:r>
            <a:rPr lang="en-US" dirty="0"/>
            <a:t> to the 60-teacher EDS dataset (103 features) to forecast brand recall, lesson-plan execution and digital module completion.</a:t>
          </a:r>
        </a:p>
      </dgm:t>
    </dgm:pt>
    <dgm:pt modelId="{0B7C9804-2DBC-4798-93B0-9F5713920429}" type="parTrans" cxnId="{01ADE810-07DF-4695-8752-CBCBE3D98F1F}">
      <dgm:prSet/>
      <dgm:spPr/>
      <dgm:t>
        <a:bodyPr/>
        <a:lstStyle/>
        <a:p>
          <a:endParaRPr lang="en-US"/>
        </a:p>
      </dgm:t>
    </dgm:pt>
    <dgm:pt modelId="{CA1E1BED-07FF-4F46-BA57-7A0B15B78E35}" type="sibTrans" cxnId="{01ADE810-07DF-4695-8752-CBCBE3D98F1F}">
      <dgm:prSet/>
      <dgm:spPr/>
      <dgm:t>
        <a:bodyPr/>
        <a:lstStyle/>
        <a:p>
          <a:endParaRPr lang="en-US"/>
        </a:p>
      </dgm:t>
    </dgm:pt>
    <dgm:pt modelId="{BBF9E008-CE11-4757-968C-F235201B9B88}" type="pres">
      <dgm:prSet presAssocID="{51E73AE1-C897-4FF8-933A-C8A7429A4394}" presName="diagram" presStyleCnt="0">
        <dgm:presLayoutVars>
          <dgm:dir/>
          <dgm:resizeHandles val="exact"/>
        </dgm:presLayoutVars>
      </dgm:prSet>
      <dgm:spPr/>
    </dgm:pt>
    <dgm:pt modelId="{4AFF77BA-ED10-4FC7-9371-7EFC4BD5A332}" type="pres">
      <dgm:prSet presAssocID="{4BF82556-7B27-44B2-BC3B-F7532D55C621}" presName="node" presStyleLbl="node1" presStyleIdx="0" presStyleCnt="3">
        <dgm:presLayoutVars>
          <dgm:bulletEnabled val="1"/>
        </dgm:presLayoutVars>
      </dgm:prSet>
      <dgm:spPr/>
    </dgm:pt>
    <dgm:pt modelId="{F8CCA3C1-CD41-4A4D-A38C-CA0FB49BE894}" type="pres">
      <dgm:prSet presAssocID="{9D1B95C6-2253-4E00-831C-6BD6B0459459}" presName="sibTrans" presStyleLbl="sibTrans2D1" presStyleIdx="0" presStyleCnt="2"/>
      <dgm:spPr/>
    </dgm:pt>
    <dgm:pt modelId="{071E6DCF-D4B6-4DD4-B0E5-0F7E7B08A43E}" type="pres">
      <dgm:prSet presAssocID="{9D1B95C6-2253-4E00-831C-6BD6B0459459}" presName="connectorText" presStyleLbl="sibTrans2D1" presStyleIdx="0" presStyleCnt="2"/>
      <dgm:spPr/>
    </dgm:pt>
    <dgm:pt modelId="{35E3E015-994C-4250-B079-1B7D843DBFFE}" type="pres">
      <dgm:prSet presAssocID="{5DA39C56-2CAC-4A9F-BF09-AD5D05F4800A}" presName="node" presStyleLbl="node1" presStyleIdx="1" presStyleCnt="3">
        <dgm:presLayoutVars>
          <dgm:bulletEnabled val="1"/>
        </dgm:presLayoutVars>
      </dgm:prSet>
      <dgm:spPr/>
    </dgm:pt>
    <dgm:pt modelId="{50712CF3-3FCB-40DA-9666-A2D8646E8545}" type="pres">
      <dgm:prSet presAssocID="{6A9F7829-EE37-4D37-B39C-B296958CCEBA}" presName="sibTrans" presStyleLbl="sibTrans2D1" presStyleIdx="1" presStyleCnt="2"/>
      <dgm:spPr/>
    </dgm:pt>
    <dgm:pt modelId="{0554FD72-DE56-4CF2-B44C-1EBD83567108}" type="pres">
      <dgm:prSet presAssocID="{6A9F7829-EE37-4D37-B39C-B296958CCEBA}" presName="connectorText" presStyleLbl="sibTrans2D1" presStyleIdx="1" presStyleCnt="2"/>
      <dgm:spPr/>
    </dgm:pt>
    <dgm:pt modelId="{230F7EAE-781E-4417-B749-49DE7314D294}" type="pres">
      <dgm:prSet presAssocID="{9C6CEAED-018A-48EA-9077-DA01DA94DCE5}" presName="node" presStyleLbl="node1" presStyleIdx="2" presStyleCnt="3">
        <dgm:presLayoutVars>
          <dgm:bulletEnabled val="1"/>
        </dgm:presLayoutVars>
      </dgm:prSet>
      <dgm:spPr/>
    </dgm:pt>
  </dgm:ptLst>
  <dgm:cxnLst>
    <dgm:cxn modelId="{FC226503-6DDB-4151-A3DF-27AFEC50F398}" type="presOf" srcId="{5DA39C56-2CAC-4A9F-BF09-AD5D05F4800A}" destId="{35E3E015-994C-4250-B079-1B7D843DBFFE}" srcOrd="0" destOrd="0" presId="urn:microsoft.com/office/officeart/2005/8/layout/process5"/>
    <dgm:cxn modelId="{01ADE810-07DF-4695-8752-CBCBE3D98F1F}" srcId="{51E73AE1-C897-4FF8-933A-C8A7429A4394}" destId="{9C6CEAED-018A-48EA-9077-DA01DA94DCE5}" srcOrd="2" destOrd="0" parTransId="{0B7C9804-2DBC-4798-93B0-9F5713920429}" sibTransId="{CA1E1BED-07FF-4F46-BA57-7A0B15B78E35}"/>
    <dgm:cxn modelId="{DDE3FB27-314A-4984-BACC-4EC52B2BEA4B}" type="presOf" srcId="{9C6CEAED-018A-48EA-9077-DA01DA94DCE5}" destId="{230F7EAE-781E-4417-B749-49DE7314D294}" srcOrd="0" destOrd="0" presId="urn:microsoft.com/office/officeart/2005/8/layout/process5"/>
    <dgm:cxn modelId="{A394C32A-BA69-4A89-8135-B031C017B1F7}" type="presOf" srcId="{4BF82556-7B27-44B2-BC3B-F7532D55C621}" destId="{4AFF77BA-ED10-4FC7-9371-7EFC4BD5A332}" srcOrd="0" destOrd="0" presId="urn:microsoft.com/office/officeart/2005/8/layout/process5"/>
    <dgm:cxn modelId="{A6F1572F-44B6-4974-8BB9-4E3588AB82A4}" type="presOf" srcId="{6A9F7829-EE37-4D37-B39C-B296958CCEBA}" destId="{0554FD72-DE56-4CF2-B44C-1EBD83567108}" srcOrd="1" destOrd="0" presId="urn:microsoft.com/office/officeart/2005/8/layout/process5"/>
    <dgm:cxn modelId="{7C4F483A-E117-4020-AE45-E593D3641441}" type="presOf" srcId="{9D1B95C6-2253-4E00-831C-6BD6B0459459}" destId="{F8CCA3C1-CD41-4A4D-A38C-CA0FB49BE894}" srcOrd="0" destOrd="0" presId="urn:microsoft.com/office/officeart/2005/8/layout/process5"/>
    <dgm:cxn modelId="{D267174A-6B66-4E5A-99F7-241C7F38AC1F}" srcId="{51E73AE1-C897-4FF8-933A-C8A7429A4394}" destId="{4BF82556-7B27-44B2-BC3B-F7532D55C621}" srcOrd="0" destOrd="0" parTransId="{D23FDB04-8EFA-4282-978B-B39F20B63FBA}" sibTransId="{9D1B95C6-2253-4E00-831C-6BD6B0459459}"/>
    <dgm:cxn modelId="{F50CB553-AF0A-4352-BB62-E81790441D54}" type="presOf" srcId="{51E73AE1-C897-4FF8-933A-C8A7429A4394}" destId="{BBF9E008-CE11-4757-968C-F235201B9B88}" srcOrd="0" destOrd="0" presId="urn:microsoft.com/office/officeart/2005/8/layout/process5"/>
    <dgm:cxn modelId="{F4ADB67F-B179-46C7-8422-32C7C8C4342B}" type="presOf" srcId="{6A9F7829-EE37-4D37-B39C-B296958CCEBA}" destId="{50712CF3-3FCB-40DA-9666-A2D8646E8545}" srcOrd="0" destOrd="0" presId="urn:microsoft.com/office/officeart/2005/8/layout/process5"/>
    <dgm:cxn modelId="{B6D4E8C1-125E-4319-9ABB-5E8B970E0E35}" type="presOf" srcId="{9D1B95C6-2253-4E00-831C-6BD6B0459459}" destId="{071E6DCF-D4B6-4DD4-B0E5-0F7E7B08A43E}" srcOrd="1" destOrd="0" presId="urn:microsoft.com/office/officeart/2005/8/layout/process5"/>
    <dgm:cxn modelId="{A3324EF9-F0F5-419E-AFEC-2CEDD992FFE3}" srcId="{51E73AE1-C897-4FF8-933A-C8A7429A4394}" destId="{5DA39C56-2CAC-4A9F-BF09-AD5D05F4800A}" srcOrd="1" destOrd="0" parTransId="{0A838086-4D9B-4F26-8738-5B362A888052}" sibTransId="{6A9F7829-EE37-4D37-B39C-B296958CCEBA}"/>
    <dgm:cxn modelId="{96786EEB-5C76-4237-9265-18F756C8976D}" type="presParOf" srcId="{BBF9E008-CE11-4757-968C-F235201B9B88}" destId="{4AFF77BA-ED10-4FC7-9371-7EFC4BD5A332}" srcOrd="0" destOrd="0" presId="urn:microsoft.com/office/officeart/2005/8/layout/process5"/>
    <dgm:cxn modelId="{BB63A1EE-1B72-4624-9306-4D12B779D670}" type="presParOf" srcId="{BBF9E008-CE11-4757-968C-F235201B9B88}" destId="{F8CCA3C1-CD41-4A4D-A38C-CA0FB49BE894}" srcOrd="1" destOrd="0" presId="urn:microsoft.com/office/officeart/2005/8/layout/process5"/>
    <dgm:cxn modelId="{E8C875F5-D8B6-4352-AD4D-5494D7998F5E}" type="presParOf" srcId="{F8CCA3C1-CD41-4A4D-A38C-CA0FB49BE894}" destId="{071E6DCF-D4B6-4DD4-B0E5-0F7E7B08A43E}" srcOrd="0" destOrd="0" presId="urn:microsoft.com/office/officeart/2005/8/layout/process5"/>
    <dgm:cxn modelId="{02B60888-20A9-45ED-A900-38C1D8A8E77E}" type="presParOf" srcId="{BBF9E008-CE11-4757-968C-F235201B9B88}" destId="{35E3E015-994C-4250-B079-1B7D843DBFFE}" srcOrd="2" destOrd="0" presId="urn:microsoft.com/office/officeart/2005/8/layout/process5"/>
    <dgm:cxn modelId="{2768A966-B982-4F18-8E15-AA7E2D9EE26B}" type="presParOf" srcId="{BBF9E008-CE11-4757-968C-F235201B9B88}" destId="{50712CF3-3FCB-40DA-9666-A2D8646E8545}" srcOrd="3" destOrd="0" presId="urn:microsoft.com/office/officeart/2005/8/layout/process5"/>
    <dgm:cxn modelId="{5D44AC0A-C475-4790-A0B8-C298B54E4223}" type="presParOf" srcId="{50712CF3-3FCB-40DA-9666-A2D8646E8545}" destId="{0554FD72-DE56-4CF2-B44C-1EBD83567108}" srcOrd="0" destOrd="0" presId="urn:microsoft.com/office/officeart/2005/8/layout/process5"/>
    <dgm:cxn modelId="{5F719A6D-BFA1-48CB-BEC1-E6ECFACC6D9D}" type="presParOf" srcId="{BBF9E008-CE11-4757-968C-F235201B9B88}" destId="{230F7EAE-781E-4417-B749-49DE7314D294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1471936-5B15-4928-A0A3-890434E9E7F5}" type="doc">
      <dgm:prSet loTypeId="urn:microsoft.com/office/officeart/2008/layout/LinedList" loCatId="list" qsTypeId="urn:microsoft.com/office/officeart/2005/8/quickstyle/simple1#3" qsCatId="simple" csTypeId="urn:microsoft.com/office/officeart/2018/5/colors/Iconchunking_neutralicon_accent2_2" csCatId="accent2" phldr="1"/>
      <dgm:spPr/>
      <dgm:t>
        <a:bodyPr/>
        <a:lstStyle/>
        <a:p>
          <a:endParaRPr lang="en-US"/>
        </a:p>
      </dgm:t>
    </dgm:pt>
    <dgm:pt modelId="{99C4A521-C730-46A7-9560-56653F544A7A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800" b="1" dirty="0">
              <a:latin typeface="Monsterrat"/>
              <a:ea typeface="Cambria" panose="02040503050406030204" pitchFamily="18" charset="0"/>
            </a:rPr>
            <a:t>Compliance vs engagement: </a:t>
          </a:r>
          <a:r>
            <a:rPr lang="en-US" sz="1800" dirty="0">
              <a:latin typeface="Monsterrat"/>
              <a:ea typeface="Cambria" panose="02040503050406030204" pitchFamily="18" charset="0"/>
            </a:rPr>
            <a:t>many teachers complete digital courses mainly for compliance, requesting PDFs of answers or multitasking during videos.</a:t>
          </a:r>
        </a:p>
      </dgm:t>
    </dgm:pt>
    <dgm:pt modelId="{1DF94279-9606-4ACE-9346-37FC436E5FA4}" type="parTrans" cxnId="{AC8EA10C-242A-4B65-97B5-F645358C968E}">
      <dgm:prSet/>
      <dgm:spPr/>
      <dgm:t>
        <a:bodyPr/>
        <a:lstStyle/>
        <a:p>
          <a:pPr algn="just"/>
          <a:endParaRPr lang="en-US" sz="1800"/>
        </a:p>
      </dgm:t>
    </dgm:pt>
    <dgm:pt modelId="{A3D097CD-0682-4896-BE4A-F1AFCB796767}" type="sibTrans" cxnId="{AC8EA10C-242A-4B65-97B5-F645358C968E}">
      <dgm:prSet/>
      <dgm:spPr/>
      <dgm:t>
        <a:bodyPr/>
        <a:lstStyle/>
        <a:p>
          <a:pPr algn="just">
            <a:lnSpc>
              <a:spcPct val="100000"/>
            </a:lnSpc>
          </a:pPr>
          <a:endParaRPr lang="en-US" sz="1800"/>
        </a:p>
      </dgm:t>
    </dgm:pt>
    <dgm:pt modelId="{AD7B8309-2AF9-4AF2-BB3E-B80969FA3869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800" b="1" dirty="0">
              <a:latin typeface="Monsterrat"/>
            </a:rPr>
            <a:t>Systemic barriers: </a:t>
          </a:r>
          <a:r>
            <a:rPr lang="en-US" sz="1800" dirty="0">
              <a:latin typeface="Monsterrat"/>
            </a:rPr>
            <a:t>teachers report implementing only a small portion of training due to time, administrative load, large classes and single-teacher school constraints.</a:t>
          </a:r>
        </a:p>
      </dgm:t>
    </dgm:pt>
    <dgm:pt modelId="{A6CB2D30-80E4-4AFF-879F-1E31C11976BA}" type="parTrans" cxnId="{2B05DA5E-C27D-406C-88E5-115F7B58B084}">
      <dgm:prSet/>
      <dgm:spPr/>
      <dgm:t>
        <a:bodyPr/>
        <a:lstStyle/>
        <a:p>
          <a:pPr algn="just"/>
          <a:endParaRPr lang="en-US" sz="1800"/>
        </a:p>
      </dgm:t>
    </dgm:pt>
    <dgm:pt modelId="{DA9D7257-541F-4CEB-AF13-104ED102C58B}" type="sibTrans" cxnId="{2B05DA5E-C27D-406C-88E5-115F7B58B084}">
      <dgm:prSet/>
      <dgm:spPr/>
      <dgm:t>
        <a:bodyPr/>
        <a:lstStyle/>
        <a:p>
          <a:pPr algn="just">
            <a:lnSpc>
              <a:spcPct val="100000"/>
            </a:lnSpc>
          </a:pPr>
          <a:endParaRPr lang="en-US" sz="1800"/>
        </a:p>
      </dgm:t>
    </dgm:pt>
    <dgm:pt modelId="{878F4A39-2F1E-418A-AFB2-21774AC0ED14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800" b="1" dirty="0">
              <a:latin typeface="Monsterrat"/>
            </a:rPr>
            <a:t>Informal cascade: </a:t>
          </a:r>
          <a:r>
            <a:rPr lang="en-US" sz="1800" dirty="0">
              <a:latin typeface="Monsterrat"/>
            </a:rPr>
            <a:t>CLSS learnings are shared through informal conversations; WhatsApp groups become inactive and there is no formal CLSS debrief slot.</a:t>
          </a:r>
        </a:p>
      </dgm:t>
    </dgm:pt>
    <dgm:pt modelId="{4C1EE71D-FB2D-4E54-A12A-418BD0F49BB1}" type="parTrans" cxnId="{54A2171F-CE0D-4BE6-96F0-5A0584B506C9}">
      <dgm:prSet/>
      <dgm:spPr/>
      <dgm:t>
        <a:bodyPr/>
        <a:lstStyle/>
        <a:p>
          <a:pPr algn="just"/>
          <a:endParaRPr lang="en-US" sz="1800"/>
        </a:p>
      </dgm:t>
    </dgm:pt>
    <dgm:pt modelId="{A0DE5EA8-E6E5-4325-8B69-1814F869E900}" type="sibTrans" cxnId="{54A2171F-CE0D-4BE6-96F0-5A0584B506C9}">
      <dgm:prSet/>
      <dgm:spPr/>
      <dgm:t>
        <a:bodyPr/>
        <a:lstStyle/>
        <a:p>
          <a:pPr algn="just">
            <a:lnSpc>
              <a:spcPct val="100000"/>
            </a:lnSpc>
          </a:pPr>
          <a:endParaRPr lang="en-US" sz="1800"/>
        </a:p>
      </dgm:t>
    </dgm:pt>
    <dgm:pt modelId="{425EF6A9-175E-4CB2-A3E6-14CC77C3A696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800" b="1" dirty="0">
              <a:latin typeface="Monsterrat"/>
            </a:rPr>
            <a:t>Digital funnel: </a:t>
          </a:r>
          <a:r>
            <a:rPr lang="en-US" sz="1800" dirty="0">
              <a:latin typeface="Monsterrat"/>
            </a:rPr>
            <a:t>only 38% of teachers are actively aware of digital training, yet WhatsApp links drive strong participation.</a:t>
          </a:r>
        </a:p>
      </dgm:t>
    </dgm:pt>
    <dgm:pt modelId="{7898D5A4-28BA-4559-AA64-402A23D38261}" type="parTrans" cxnId="{647A8C65-4E64-4567-A28A-3971D5F42DBD}">
      <dgm:prSet/>
      <dgm:spPr/>
      <dgm:t>
        <a:bodyPr/>
        <a:lstStyle/>
        <a:p>
          <a:pPr algn="just"/>
          <a:endParaRPr lang="en-US" sz="1800"/>
        </a:p>
      </dgm:t>
    </dgm:pt>
    <dgm:pt modelId="{067DF0C5-B857-44EE-A167-FD0386130493}" type="sibTrans" cxnId="{647A8C65-4E64-4567-A28A-3971D5F42DBD}">
      <dgm:prSet/>
      <dgm:spPr/>
      <dgm:t>
        <a:bodyPr/>
        <a:lstStyle/>
        <a:p>
          <a:pPr algn="just">
            <a:lnSpc>
              <a:spcPct val="100000"/>
            </a:lnSpc>
          </a:pPr>
          <a:endParaRPr lang="en-US" sz="1800"/>
        </a:p>
      </dgm:t>
    </dgm:pt>
    <dgm:pt modelId="{70AC542B-2A74-49E5-BFFF-3D00AE55B03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800" dirty="0">
              <a:latin typeface="Monsterrat"/>
            </a:rPr>
            <a:t>Preference for after-hours, short, interactive modules, and strong evidence for consolidating on DIKSHA and introducing micro-learning formats.</a:t>
          </a:r>
        </a:p>
      </dgm:t>
    </dgm:pt>
    <dgm:pt modelId="{86115256-DEFC-46A0-BE22-B9D9CF4AE782}" type="parTrans" cxnId="{EC93BF0C-8365-4F07-9FA7-8A3CED33B51E}">
      <dgm:prSet/>
      <dgm:spPr/>
      <dgm:t>
        <a:bodyPr/>
        <a:lstStyle/>
        <a:p>
          <a:pPr algn="just"/>
          <a:endParaRPr lang="en-US" sz="1800"/>
        </a:p>
      </dgm:t>
    </dgm:pt>
    <dgm:pt modelId="{E6CB3E0D-1C7F-4336-8DB9-ED3A522B7380}" type="sibTrans" cxnId="{EC93BF0C-8365-4F07-9FA7-8A3CED33B51E}">
      <dgm:prSet/>
      <dgm:spPr/>
      <dgm:t>
        <a:bodyPr/>
        <a:lstStyle/>
        <a:p>
          <a:pPr algn="just"/>
          <a:endParaRPr lang="en-US" sz="1800"/>
        </a:p>
      </dgm:t>
    </dgm:pt>
    <dgm:pt modelId="{DCCC4AC2-ABC6-41E8-84AA-5CE2F925503E}" type="pres">
      <dgm:prSet presAssocID="{11471936-5B15-4928-A0A3-890434E9E7F5}" presName="vert0" presStyleCnt="0">
        <dgm:presLayoutVars>
          <dgm:dir/>
          <dgm:animOne val="branch"/>
          <dgm:animLvl val="lvl"/>
        </dgm:presLayoutVars>
      </dgm:prSet>
      <dgm:spPr/>
    </dgm:pt>
    <dgm:pt modelId="{E31AE1CA-29CA-4D15-AD94-9AB0D6529415}" type="pres">
      <dgm:prSet presAssocID="{99C4A521-C730-46A7-9560-56653F544A7A}" presName="thickLine" presStyleLbl="alignNode1" presStyleIdx="0" presStyleCnt="5"/>
      <dgm:spPr/>
    </dgm:pt>
    <dgm:pt modelId="{8AD49F68-2570-4940-B87B-AA1ECECE31CD}" type="pres">
      <dgm:prSet presAssocID="{99C4A521-C730-46A7-9560-56653F544A7A}" presName="horz1" presStyleCnt="0"/>
      <dgm:spPr/>
    </dgm:pt>
    <dgm:pt modelId="{FF939AC6-C6EF-486D-9B51-74DF848EB333}" type="pres">
      <dgm:prSet presAssocID="{99C4A521-C730-46A7-9560-56653F544A7A}" presName="tx1" presStyleLbl="revTx" presStyleIdx="0" presStyleCnt="5"/>
      <dgm:spPr/>
    </dgm:pt>
    <dgm:pt modelId="{86B16F1A-CFCA-4CC9-A245-3EA864C4357F}" type="pres">
      <dgm:prSet presAssocID="{99C4A521-C730-46A7-9560-56653F544A7A}" presName="vert1" presStyleCnt="0"/>
      <dgm:spPr/>
    </dgm:pt>
    <dgm:pt modelId="{38F1C9F8-3D9C-4840-8F22-8E299203C324}" type="pres">
      <dgm:prSet presAssocID="{AD7B8309-2AF9-4AF2-BB3E-B80969FA3869}" presName="thickLine" presStyleLbl="alignNode1" presStyleIdx="1" presStyleCnt="5"/>
      <dgm:spPr/>
    </dgm:pt>
    <dgm:pt modelId="{75E0D905-C7DC-42A7-B70F-4F77BEFBC465}" type="pres">
      <dgm:prSet presAssocID="{AD7B8309-2AF9-4AF2-BB3E-B80969FA3869}" presName="horz1" presStyleCnt="0"/>
      <dgm:spPr/>
    </dgm:pt>
    <dgm:pt modelId="{C809F35E-7977-4B5A-8B1F-F1647775D55D}" type="pres">
      <dgm:prSet presAssocID="{AD7B8309-2AF9-4AF2-BB3E-B80969FA3869}" presName="tx1" presStyleLbl="revTx" presStyleIdx="1" presStyleCnt="5"/>
      <dgm:spPr/>
    </dgm:pt>
    <dgm:pt modelId="{09384D19-0096-46BA-BD9C-57B8C1830158}" type="pres">
      <dgm:prSet presAssocID="{AD7B8309-2AF9-4AF2-BB3E-B80969FA3869}" presName="vert1" presStyleCnt="0"/>
      <dgm:spPr/>
    </dgm:pt>
    <dgm:pt modelId="{AAE316E6-3319-4F96-80BA-39ED188CCB27}" type="pres">
      <dgm:prSet presAssocID="{878F4A39-2F1E-418A-AFB2-21774AC0ED14}" presName="thickLine" presStyleLbl="alignNode1" presStyleIdx="2" presStyleCnt="5"/>
      <dgm:spPr/>
    </dgm:pt>
    <dgm:pt modelId="{825FAFD1-1659-44E1-87F1-E3792CF587D3}" type="pres">
      <dgm:prSet presAssocID="{878F4A39-2F1E-418A-AFB2-21774AC0ED14}" presName="horz1" presStyleCnt="0"/>
      <dgm:spPr/>
    </dgm:pt>
    <dgm:pt modelId="{CA9EFDE7-BAEE-4D9D-B378-CADBE907C891}" type="pres">
      <dgm:prSet presAssocID="{878F4A39-2F1E-418A-AFB2-21774AC0ED14}" presName="tx1" presStyleLbl="revTx" presStyleIdx="2" presStyleCnt="5"/>
      <dgm:spPr/>
    </dgm:pt>
    <dgm:pt modelId="{00C81B7A-8940-450D-BE27-890C9E0F3293}" type="pres">
      <dgm:prSet presAssocID="{878F4A39-2F1E-418A-AFB2-21774AC0ED14}" presName="vert1" presStyleCnt="0"/>
      <dgm:spPr/>
    </dgm:pt>
    <dgm:pt modelId="{72BCF380-AAAB-4B76-985C-29B6FE733FF1}" type="pres">
      <dgm:prSet presAssocID="{425EF6A9-175E-4CB2-A3E6-14CC77C3A696}" presName="thickLine" presStyleLbl="alignNode1" presStyleIdx="3" presStyleCnt="5"/>
      <dgm:spPr/>
    </dgm:pt>
    <dgm:pt modelId="{17EF4A90-B969-4D84-9326-F9ACDB702037}" type="pres">
      <dgm:prSet presAssocID="{425EF6A9-175E-4CB2-A3E6-14CC77C3A696}" presName="horz1" presStyleCnt="0"/>
      <dgm:spPr/>
    </dgm:pt>
    <dgm:pt modelId="{6C10BBC4-D8FF-435F-9E83-3101D1B93B78}" type="pres">
      <dgm:prSet presAssocID="{425EF6A9-175E-4CB2-A3E6-14CC77C3A696}" presName="tx1" presStyleLbl="revTx" presStyleIdx="3" presStyleCnt="5"/>
      <dgm:spPr/>
    </dgm:pt>
    <dgm:pt modelId="{59320144-BFA2-4F58-AFA9-731872D8799E}" type="pres">
      <dgm:prSet presAssocID="{425EF6A9-175E-4CB2-A3E6-14CC77C3A696}" presName="vert1" presStyleCnt="0"/>
      <dgm:spPr/>
    </dgm:pt>
    <dgm:pt modelId="{4BC8865D-9741-45B3-B5C4-360146864D9A}" type="pres">
      <dgm:prSet presAssocID="{70AC542B-2A74-49E5-BFFF-3D00AE55B038}" presName="thickLine" presStyleLbl="alignNode1" presStyleIdx="4" presStyleCnt="5"/>
      <dgm:spPr/>
    </dgm:pt>
    <dgm:pt modelId="{27B2B60B-A382-4127-AA89-1D5F13E59DC7}" type="pres">
      <dgm:prSet presAssocID="{70AC542B-2A74-49E5-BFFF-3D00AE55B038}" presName="horz1" presStyleCnt="0"/>
      <dgm:spPr/>
    </dgm:pt>
    <dgm:pt modelId="{5C747761-A63D-4757-B7BD-357C867E7F1D}" type="pres">
      <dgm:prSet presAssocID="{70AC542B-2A74-49E5-BFFF-3D00AE55B038}" presName="tx1" presStyleLbl="revTx" presStyleIdx="4" presStyleCnt="5"/>
      <dgm:spPr/>
    </dgm:pt>
    <dgm:pt modelId="{6F95B499-1F38-4C1C-89BA-49766B38052E}" type="pres">
      <dgm:prSet presAssocID="{70AC542B-2A74-49E5-BFFF-3D00AE55B038}" presName="vert1" presStyleCnt="0"/>
      <dgm:spPr/>
    </dgm:pt>
  </dgm:ptLst>
  <dgm:cxnLst>
    <dgm:cxn modelId="{A06C8806-8C9A-4301-9C15-4EED1D86CFE5}" type="presOf" srcId="{70AC542B-2A74-49E5-BFFF-3D00AE55B038}" destId="{5C747761-A63D-4757-B7BD-357C867E7F1D}" srcOrd="0" destOrd="0" presId="urn:microsoft.com/office/officeart/2008/layout/LinedList"/>
    <dgm:cxn modelId="{3574740A-9A9C-40DF-BE70-62D2F2351C73}" type="presOf" srcId="{11471936-5B15-4928-A0A3-890434E9E7F5}" destId="{DCCC4AC2-ABC6-41E8-84AA-5CE2F925503E}" srcOrd="0" destOrd="0" presId="urn:microsoft.com/office/officeart/2008/layout/LinedList"/>
    <dgm:cxn modelId="{AC8EA10C-242A-4B65-97B5-F645358C968E}" srcId="{11471936-5B15-4928-A0A3-890434E9E7F5}" destId="{99C4A521-C730-46A7-9560-56653F544A7A}" srcOrd="0" destOrd="0" parTransId="{1DF94279-9606-4ACE-9346-37FC436E5FA4}" sibTransId="{A3D097CD-0682-4896-BE4A-F1AFCB796767}"/>
    <dgm:cxn modelId="{EC93BF0C-8365-4F07-9FA7-8A3CED33B51E}" srcId="{11471936-5B15-4928-A0A3-890434E9E7F5}" destId="{70AC542B-2A74-49E5-BFFF-3D00AE55B038}" srcOrd="4" destOrd="0" parTransId="{86115256-DEFC-46A0-BE22-B9D9CF4AE782}" sibTransId="{E6CB3E0D-1C7F-4336-8DB9-ED3A522B7380}"/>
    <dgm:cxn modelId="{08358C12-2DA1-49CC-92EC-D36254668801}" type="presOf" srcId="{99C4A521-C730-46A7-9560-56653F544A7A}" destId="{FF939AC6-C6EF-486D-9B51-74DF848EB333}" srcOrd="0" destOrd="0" presId="urn:microsoft.com/office/officeart/2008/layout/LinedList"/>
    <dgm:cxn modelId="{54A2171F-CE0D-4BE6-96F0-5A0584B506C9}" srcId="{11471936-5B15-4928-A0A3-890434E9E7F5}" destId="{878F4A39-2F1E-418A-AFB2-21774AC0ED14}" srcOrd="2" destOrd="0" parTransId="{4C1EE71D-FB2D-4E54-A12A-418BD0F49BB1}" sibTransId="{A0DE5EA8-E6E5-4325-8B69-1814F869E900}"/>
    <dgm:cxn modelId="{8806B82E-D8A1-47CB-A81B-C11D6C87F569}" type="presOf" srcId="{878F4A39-2F1E-418A-AFB2-21774AC0ED14}" destId="{CA9EFDE7-BAEE-4D9D-B378-CADBE907C891}" srcOrd="0" destOrd="0" presId="urn:microsoft.com/office/officeart/2008/layout/LinedList"/>
    <dgm:cxn modelId="{2B05DA5E-C27D-406C-88E5-115F7B58B084}" srcId="{11471936-5B15-4928-A0A3-890434E9E7F5}" destId="{AD7B8309-2AF9-4AF2-BB3E-B80969FA3869}" srcOrd="1" destOrd="0" parTransId="{A6CB2D30-80E4-4AFF-879F-1E31C11976BA}" sibTransId="{DA9D7257-541F-4CEB-AF13-104ED102C58B}"/>
    <dgm:cxn modelId="{647A8C65-4E64-4567-A28A-3971D5F42DBD}" srcId="{11471936-5B15-4928-A0A3-890434E9E7F5}" destId="{425EF6A9-175E-4CB2-A3E6-14CC77C3A696}" srcOrd="3" destOrd="0" parTransId="{7898D5A4-28BA-4559-AA64-402A23D38261}" sibTransId="{067DF0C5-B857-44EE-A167-FD0386130493}"/>
    <dgm:cxn modelId="{942DB56A-1A00-4B80-AE5A-690AB8909257}" type="presOf" srcId="{AD7B8309-2AF9-4AF2-BB3E-B80969FA3869}" destId="{C809F35E-7977-4B5A-8B1F-F1647775D55D}" srcOrd="0" destOrd="0" presId="urn:microsoft.com/office/officeart/2008/layout/LinedList"/>
    <dgm:cxn modelId="{2D53A3DE-C9D4-40A8-A49A-CEF957A64AE1}" type="presOf" srcId="{425EF6A9-175E-4CB2-A3E6-14CC77C3A696}" destId="{6C10BBC4-D8FF-435F-9E83-3101D1B93B78}" srcOrd="0" destOrd="0" presId="urn:microsoft.com/office/officeart/2008/layout/LinedList"/>
    <dgm:cxn modelId="{5E753301-892C-4C8F-90BA-C267173BCC66}" type="presParOf" srcId="{DCCC4AC2-ABC6-41E8-84AA-5CE2F925503E}" destId="{E31AE1CA-29CA-4D15-AD94-9AB0D6529415}" srcOrd="0" destOrd="0" presId="urn:microsoft.com/office/officeart/2008/layout/LinedList"/>
    <dgm:cxn modelId="{B7C8666B-7C40-440F-AE0B-1947E099F4A9}" type="presParOf" srcId="{DCCC4AC2-ABC6-41E8-84AA-5CE2F925503E}" destId="{8AD49F68-2570-4940-B87B-AA1ECECE31CD}" srcOrd="1" destOrd="0" presId="urn:microsoft.com/office/officeart/2008/layout/LinedList"/>
    <dgm:cxn modelId="{E5AD6C43-3BFD-4F25-9B9D-BF0D78574CFB}" type="presParOf" srcId="{8AD49F68-2570-4940-B87B-AA1ECECE31CD}" destId="{FF939AC6-C6EF-486D-9B51-74DF848EB333}" srcOrd="0" destOrd="0" presId="urn:microsoft.com/office/officeart/2008/layout/LinedList"/>
    <dgm:cxn modelId="{35C9DB10-9C62-4DDF-9B32-D3A942FDA0E5}" type="presParOf" srcId="{8AD49F68-2570-4940-B87B-AA1ECECE31CD}" destId="{86B16F1A-CFCA-4CC9-A245-3EA864C4357F}" srcOrd="1" destOrd="0" presId="urn:microsoft.com/office/officeart/2008/layout/LinedList"/>
    <dgm:cxn modelId="{39C9577D-7B65-40D1-92F5-40953381A613}" type="presParOf" srcId="{DCCC4AC2-ABC6-41E8-84AA-5CE2F925503E}" destId="{38F1C9F8-3D9C-4840-8F22-8E299203C324}" srcOrd="2" destOrd="0" presId="urn:microsoft.com/office/officeart/2008/layout/LinedList"/>
    <dgm:cxn modelId="{65610F8B-ABAF-4C60-BF56-A379B9310E5C}" type="presParOf" srcId="{DCCC4AC2-ABC6-41E8-84AA-5CE2F925503E}" destId="{75E0D905-C7DC-42A7-B70F-4F77BEFBC465}" srcOrd="3" destOrd="0" presId="urn:microsoft.com/office/officeart/2008/layout/LinedList"/>
    <dgm:cxn modelId="{03A6AA9F-1D34-4BB3-8EBA-CD9CDB806891}" type="presParOf" srcId="{75E0D905-C7DC-42A7-B70F-4F77BEFBC465}" destId="{C809F35E-7977-4B5A-8B1F-F1647775D55D}" srcOrd="0" destOrd="0" presId="urn:microsoft.com/office/officeart/2008/layout/LinedList"/>
    <dgm:cxn modelId="{82FB8B45-640B-4DD6-8198-24C22DDE574D}" type="presParOf" srcId="{75E0D905-C7DC-42A7-B70F-4F77BEFBC465}" destId="{09384D19-0096-46BA-BD9C-57B8C1830158}" srcOrd="1" destOrd="0" presId="urn:microsoft.com/office/officeart/2008/layout/LinedList"/>
    <dgm:cxn modelId="{34B49D54-DDC7-4DCD-B4FC-2BCCB648E281}" type="presParOf" srcId="{DCCC4AC2-ABC6-41E8-84AA-5CE2F925503E}" destId="{AAE316E6-3319-4F96-80BA-39ED188CCB27}" srcOrd="4" destOrd="0" presId="urn:microsoft.com/office/officeart/2008/layout/LinedList"/>
    <dgm:cxn modelId="{9B529505-3EF1-4A2B-B224-5D5E363F7980}" type="presParOf" srcId="{DCCC4AC2-ABC6-41E8-84AA-5CE2F925503E}" destId="{825FAFD1-1659-44E1-87F1-E3792CF587D3}" srcOrd="5" destOrd="0" presId="urn:microsoft.com/office/officeart/2008/layout/LinedList"/>
    <dgm:cxn modelId="{21524820-124A-43D5-BC4C-094C14D28A81}" type="presParOf" srcId="{825FAFD1-1659-44E1-87F1-E3792CF587D3}" destId="{CA9EFDE7-BAEE-4D9D-B378-CADBE907C891}" srcOrd="0" destOrd="0" presId="urn:microsoft.com/office/officeart/2008/layout/LinedList"/>
    <dgm:cxn modelId="{FC557AB1-8B7B-4266-A876-68737DDCD30F}" type="presParOf" srcId="{825FAFD1-1659-44E1-87F1-E3792CF587D3}" destId="{00C81B7A-8940-450D-BE27-890C9E0F3293}" srcOrd="1" destOrd="0" presId="urn:microsoft.com/office/officeart/2008/layout/LinedList"/>
    <dgm:cxn modelId="{3985642C-ABB8-427D-AA71-6DC870C5FC4F}" type="presParOf" srcId="{DCCC4AC2-ABC6-41E8-84AA-5CE2F925503E}" destId="{72BCF380-AAAB-4B76-985C-29B6FE733FF1}" srcOrd="6" destOrd="0" presId="urn:microsoft.com/office/officeart/2008/layout/LinedList"/>
    <dgm:cxn modelId="{0B351DB5-077D-45F5-8BAA-4D3FDBD7B8FD}" type="presParOf" srcId="{DCCC4AC2-ABC6-41E8-84AA-5CE2F925503E}" destId="{17EF4A90-B969-4D84-9326-F9ACDB702037}" srcOrd="7" destOrd="0" presId="urn:microsoft.com/office/officeart/2008/layout/LinedList"/>
    <dgm:cxn modelId="{FE5B63A2-BA72-4892-A6AA-6B3663CE685D}" type="presParOf" srcId="{17EF4A90-B969-4D84-9326-F9ACDB702037}" destId="{6C10BBC4-D8FF-435F-9E83-3101D1B93B78}" srcOrd="0" destOrd="0" presId="urn:microsoft.com/office/officeart/2008/layout/LinedList"/>
    <dgm:cxn modelId="{07944EA0-32AE-420E-8E99-0F664973647C}" type="presParOf" srcId="{17EF4A90-B969-4D84-9326-F9ACDB702037}" destId="{59320144-BFA2-4F58-AFA9-731872D8799E}" srcOrd="1" destOrd="0" presId="urn:microsoft.com/office/officeart/2008/layout/LinedList"/>
    <dgm:cxn modelId="{A721C860-5B1E-4C36-9FA3-859DFCF7EF1D}" type="presParOf" srcId="{DCCC4AC2-ABC6-41E8-84AA-5CE2F925503E}" destId="{4BC8865D-9741-45B3-B5C4-360146864D9A}" srcOrd="8" destOrd="0" presId="urn:microsoft.com/office/officeart/2008/layout/LinedList"/>
    <dgm:cxn modelId="{293C7663-593C-4BA4-99B4-0A3B9AB9F075}" type="presParOf" srcId="{DCCC4AC2-ABC6-41E8-84AA-5CE2F925503E}" destId="{27B2B60B-A382-4127-AA89-1D5F13E59DC7}" srcOrd="9" destOrd="0" presId="urn:microsoft.com/office/officeart/2008/layout/LinedList"/>
    <dgm:cxn modelId="{B234C21B-9312-4FAB-A03D-FE489186913C}" type="presParOf" srcId="{27B2B60B-A382-4127-AA89-1D5F13E59DC7}" destId="{5C747761-A63D-4757-B7BD-357C867E7F1D}" srcOrd="0" destOrd="0" presId="urn:microsoft.com/office/officeart/2008/layout/LinedList"/>
    <dgm:cxn modelId="{FE2F19B1-EE51-4639-A2E6-AE53C83C58EF}" type="presParOf" srcId="{27B2B60B-A382-4127-AA89-1D5F13E59DC7}" destId="{6F95B499-1F38-4C1C-89BA-49766B38052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51B0EE6-3059-4EC6-A574-4FD8698078AC}" type="doc">
      <dgm:prSet loTypeId="urn:microsoft.com/office/officeart/2018/2/layout/IconVerticalSolidList" loCatId="icon" qsTypeId="urn:microsoft.com/office/officeart/2005/8/quickstyle/simple1#4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EA4F39A0-AB00-4F26-BE7E-69D5530960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Multilingual Zero-Shot Coding: Qwen 2.5 extracts initial codebooks from bilingual (Hindi/English) notes.</a:t>
          </a:r>
        </a:p>
      </dgm:t>
    </dgm:pt>
    <dgm:pt modelId="{2FAD914F-FEA3-490F-819A-4DB281D64C2A}" type="parTrans" cxnId="{29D853D9-0BC4-4344-9652-EE3BEE47513E}">
      <dgm:prSet/>
      <dgm:spPr/>
      <dgm:t>
        <a:bodyPr/>
        <a:lstStyle/>
        <a:p>
          <a:endParaRPr lang="en-US"/>
        </a:p>
      </dgm:t>
    </dgm:pt>
    <dgm:pt modelId="{3AE02707-B7E8-420E-BAF9-EE722597B5C9}" type="sibTrans" cxnId="{29D853D9-0BC4-4344-9652-EE3BEE47513E}">
      <dgm:prSet/>
      <dgm:spPr/>
      <dgm:t>
        <a:bodyPr/>
        <a:lstStyle/>
        <a:p>
          <a:endParaRPr lang="en-US"/>
        </a:p>
      </dgm:t>
    </dgm:pt>
    <dgm:pt modelId="{7888E48F-E5C8-4E7E-B11C-84C53DA9AD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Auditable Reasoning Chains: DeepSeek-R1's &lt;think&gt; tags provide transparent, step-by-step logic for theme classification.</a:t>
          </a:r>
        </a:p>
      </dgm:t>
    </dgm:pt>
    <dgm:pt modelId="{E877A6C9-4D98-43FD-8119-73605696CDAE}" type="parTrans" cxnId="{560E5B5E-5F27-45BB-AEFC-AFA986955468}">
      <dgm:prSet/>
      <dgm:spPr/>
      <dgm:t>
        <a:bodyPr/>
        <a:lstStyle/>
        <a:p>
          <a:endParaRPr lang="en-US"/>
        </a:p>
      </dgm:t>
    </dgm:pt>
    <dgm:pt modelId="{1B1A0715-8EB0-4394-91FB-55EF9CC76157}" type="sibTrans" cxnId="{560E5B5E-5F27-45BB-AEFC-AFA986955468}">
      <dgm:prSet/>
      <dgm:spPr/>
      <dgm:t>
        <a:bodyPr/>
        <a:lstStyle/>
        <a:p>
          <a:endParaRPr lang="en-US"/>
        </a:p>
      </dgm:t>
    </dgm:pt>
    <dgm:pt modelId="{33C1657C-B579-41A4-9661-E38113F982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Human-in-the-Loop Supervision: AI acts strictly as a copilot—suggesting themes while researchers retain final validation.</a:t>
          </a:r>
        </a:p>
      </dgm:t>
    </dgm:pt>
    <dgm:pt modelId="{61C55EA2-9548-4214-BF06-C36A6BC907BE}" type="parTrans" cxnId="{5CD946CB-2BD3-41B9-B916-A484212CEE8A}">
      <dgm:prSet/>
      <dgm:spPr/>
      <dgm:t>
        <a:bodyPr/>
        <a:lstStyle/>
        <a:p>
          <a:endParaRPr lang="en-US"/>
        </a:p>
      </dgm:t>
    </dgm:pt>
    <dgm:pt modelId="{BCE09E6E-33B1-4DBB-882D-82D51CC7891D}" type="sibTrans" cxnId="{5CD946CB-2BD3-41B9-B916-A484212CEE8A}">
      <dgm:prSet/>
      <dgm:spPr/>
      <dgm:t>
        <a:bodyPr/>
        <a:lstStyle/>
        <a:p>
          <a:endParaRPr lang="en-US"/>
        </a:p>
      </dgm:t>
    </dgm:pt>
    <dgm:pt modelId="{8D3F5EA0-681A-48E2-AD09-B762FF15ED0F}" type="pres">
      <dgm:prSet presAssocID="{D51B0EE6-3059-4EC6-A574-4FD8698078AC}" presName="root" presStyleCnt="0">
        <dgm:presLayoutVars>
          <dgm:dir/>
          <dgm:resizeHandles val="exact"/>
        </dgm:presLayoutVars>
      </dgm:prSet>
      <dgm:spPr/>
    </dgm:pt>
    <dgm:pt modelId="{6CBB4A41-7D51-4198-B942-A2D22B028229}" type="pres">
      <dgm:prSet presAssocID="{EA4F39A0-AB00-4F26-BE7E-69D55309600F}" presName="compNode" presStyleCnt="0"/>
      <dgm:spPr/>
    </dgm:pt>
    <dgm:pt modelId="{66E466C2-6778-40C9-9928-07228EDA1218}" type="pres">
      <dgm:prSet presAssocID="{EA4F39A0-AB00-4F26-BE7E-69D55309600F}" presName="bgRect" presStyleLbl="bgShp" presStyleIdx="0" presStyleCnt="3"/>
      <dgm:spPr/>
    </dgm:pt>
    <dgm:pt modelId="{BFF0F3A2-497B-4102-A8C4-2D72357F38FE}" type="pres">
      <dgm:prSet presAssocID="{EA4F39A0-AB00-4F26-BE7E-69D55309600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6936E55A-87EF-43A5-9AA0-EA99CFDECABF}" type="pres">
      <dgm:prSet presAssocID="{EA4F39A0-AB00-4F26-BE7E-69D55309600F}" presName="spaceRect" presStyleCnt="0"/>
      <dgm:spPr/>
    </dgm:pt>
    <dgm:pt modelId="{83B0836A-7D8D-4786-849E-69E9A8EC7956}" type="pres">
      <dgm:prSet presAssocID="{EA4F39A0-AB00-4F26-BE7E-69D55309600F}" presName="parTx" presStyleLbl="revTx" presStyleIdx="0" presStyleCnt="3">
        <dgm:presLayoutVars>
          <dgm:chMax val="0"/>
          <dgm:chPref val="0"/>
        </dgm:presLayoutVars>
      </dgm:prSet>
      <dgm:spPr/>
    </dgm:pt>
    <dgm:pt modelId="{3C221E9F-007F-4C12-8D16-E7B8AA3522C6}" type="pres">
      <dgm:prSet presAssocID="{3AE02707-B7E8-420E-BAF9-EE722597B5C9}" presName="sibTrans" presStyleCnt="0"/>
      <dgm:spPr/>
    </dgm:pt>
    <dgm:pt modelId="{B442F929-71C7-4D89-8D44-184DA827E093}" type="pres">
      <dgm:prSet presAssocID="{7888E48F-E5C8-4E7E-B11C-84C53DA9AD37}" presName="compNode" presStyleCnt="0"/>
      <dgm:spPr/>
    </dgm:pt>
    <dgm:pt modelId="{79BF826F-F35F-4AA7-941E-2F9C882E5887}" type="pres">
      <dgm:prSet presAssocID="{7888E48F-E5C8-4E7E-B11C-84C53DA9AD37}" presName="bgRect" presStyleLbl="bgShp" presStyleIdx="1" presStyleCnt="3"/>
      <dgm:spPr/>
    </dgm:pt>
    <dgm:pt modelId="{42DBE3AB-C385-48E7-A865-07865E70F182}" type="pres">
      <dgm:prSet presAssocID="{7888E48F-E5C8-4E7E-B11C-84C53DA9AD3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B785F863-2ED8-4721-8E55-66FB864D3374}" type="pres">
      <dgm:prSet presAssocID="{7888E48F-E5C8-4E7E-B11C-84C53DA9AD37}" presName="spaceRect" presStyleCnt="0"/>
      <dgm:spPr/>
    </dgm:pt>
    <dgm:pt modelId="{7BF2C3BE-7F8A-4167-A265-7EBB03B0056A}" type="pres">
      <dgm:prSet presAssocID="{7888E48F-E5C8-4E7E-B11C-84C53DA9AD37}" presName="parTx" presStyleLbl="revTx" presStyleIdx="1" presStyleCnt="3">
        <dgm:presLayoutVars>
          <dgm:chMax val="0"/>
          <dgm:chPref val="0"/>
        </dgm:presLayoutVars>
      </dgm:prSet>
      <dgm:spPr/>
    </dgm:pt>
    <dgm:pt modelId="{1048C367-07CB-41BA-B751-209528234344}" type="pres">
      <dgm:prSet presAssocID="{1B1A0715-8EB0-4394-91FB-55EF9CC76157}" presName="sibTrans" presStyleCnt="0"/>
      <dgm:spPr/>
    </dgm:pt>
    <dgm:pt modelId="{8613D5EE-400B-4783-8E34-8550403DC4A1}" type="pres">
      <dgm:prSet presAssocID="{33C1657C-B579-41A4-9661-E38113F98239}" presName="compNode" presStyleCnt="0"/>
      <dgm:spPr/>
    </dgm:pt>
    <dgm:pt modelId="{DF7752AB-FEB8-4DE2-9B0D-F02C8A5AA221}" type="pres">
      <dgm:prSet presAssocID="{33C1657C-B579-41A4-9661-E38113F98239}" presName="bgRect" presStyleLbl="bgShp" presStyleIdx="2" presStyleCnt="3"/>
      <dgm:spPr/>
    </dgm:pt>
    <dgm:pt modelId="{0D181BF4-AD81-4F66-AF6E-CC0BA09D6357}" type="pres">
      <dgm:prSet presAssocID="{33C1657C-B579-41A4-9661-E38113F9823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A206E64A-4BA0-45E3-9551-51A77CC0522B}" type="pres">
      <dgm:prSet presAssocID="{33C1657C-B579-41A4-9661-E38113F98239}" presName="spaceRect" presStyleCnt="0"/>
      <dgm:spPr/>
    </dgm:pt>
    <dgm:pt modelId="{51C2B1DD-CC4C-4528-9512-05A1A4336902}" type="pres">
      <dgm:prSet presAssocID="{33C1657C-B579-41A4-9661-E38113F9823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7893507-63AE-477F-814C-1E18086F3F3B}" type="presOf" srcId="{D51B0EE6-3059-4EC6-A574-4FD8698078AC}" destId="{8D3F5EA0-681A-48E2-AD09-B762FF15ED0F}" srcOrd="0" destOrd="0" presId="urn:microsoft.com/office/officeart/2018/2/layout/IconVerticalSolidList"/>
    <dgm:cxn modelId="{560E5B5E-5F27-45BB-AEFC-AFA986955468}" srcId="{D51B0EE6-3059-4EC6-A574-4FD8698078AC}" destId="{7888E48F-E5C8-4E7E-B11C-84C53DA9AD37}" srcOrd="1" destOrd="0" parTransId="{E877A6C9-4D98-43FD-8119-73605696CDAE}" sibTransId="{1B1A0715-8EB0-4394-91FB-55EF9CC76157}"/>
    <dgm:cxn modelId="{A41044B9-8D9A-4CB6-8A84-EEA5BFC98812}" type="presOf" srcId="{7888E48F-E5C8-4E7E-B11C-84C53DA9AD37}" destId="{7BF2C3BE-7F8A-4167-A265-7EBB03B0056A}" srcOrd="0" destOrd="0" presId="urn:microsoft.com/office/officeart/2018/2/layout/IconVerticalSolidList"/>
    <dgm:cxn modelId="{7339CCBF-2273-4137-AEF5-314C40C0A74B}" type="presOf" srcId="{33C1657C-B579-41A4-9661-E38113F98239}" destId="{51C2B1DD-CC4C-4528-9512-05A1A4336902}" srcOrd="0" destOrd="0" presId="urn:microsoft.com/office/officeart/2018/2/layout/IconVerticalSolidList"/>
    <dgm:cxn modelId="{F7C064CB-B13A-4BA8-A124-8BEAAA755FAC}" type="presOf" srcId="{EA4F39A0-AB00-4F26-BE7E-69D55309600F}" destId="{83B0836A-7D8D-4786-849E-69E9A8EC7956}" srcOrd="0" destOrd="0" presId="urn:microsoft.com/office/officeart/2018/2/layout/IconVerticalSolidList"/>
    <dgm:cxn modelId="{5CD946CB-2BD3-41B9-B916-A484212CEE8A}" srcId="{D51B0EE6-3059-4EC6-A574-4FD8698078AC}" destId="{33C1657C-B579-41A4-9661-E38113F98239}" srcOrd="2" destOrd="0" parTransId="{61C55EA2-9548-4214-BF06-C36A6BC907BE}" sibTransId="{BCE09E6E-33B1-4DBB-882D-82D51CC7891D}"/>
    <dgm:cxn modelId="{29D853D9-0BC4-4344-9652-EE3BEE47513E}" srcId="{D51B0EE6-3059-4EC6-A574-4FD8698078AC}" destId="{EA4F39A0-AB00-4F26-BE7E-69D55309600F}" srcOrd="0" destOrd="0" parTransId="{2FAD914F-FEA3-490F-819A-4DB281D64C2A}" sibTransId="{3AE02707-B7E8-420E-BAF9-EE722597B5C9}"/>
    <dgm:cxn modelId="{62F3846E-2642-4774-B356-FE0A14560E3B}" type="presParOf" srcId="{8D3F5EA0-681A-48E2-AD09-B762FF15ED0F}" destId="{6CBB4A41-7D51-4198-B942-A2D22B028229}" srcOrd="0" destOrd="0" presId="urn:microsoft.com/office/officeart/2018/2/layout/IconVerticalSolidList"/>
    <dgm:cxn modelId="{859DF64C-30E2-4A84-87DC-5DF90F64012E}" type="presParOf" srcId="{6CBB4A41-7D51-4198-B942-A2D22B028229}" destId="{66E466C2-6778-40C9-9928-07228EDA1218}" srcOrd="0" destOrd="0" presId="urn:microsoft.com/office/officeart/2018/2/layout/IconVerticalSolidList"/>
    <dgm:cxn modelId="{8E880EF5-E4C6-4AFB-8BB2-8CB647DB6C90}" type="presParOf" srcId="{6CBB4A41-7D51-4198-B942-A2D22B028229}" destId="{BFF0F3A2-497B-4102-A8C4-2D72357F38FE}" srcOrd="1" destOrd="0" presId="urn:microsoft.com/office/officeart/2018/2/layout/IconVerticalSolidList"/>
    <dgm:cxn modelId="{D1CA22D5-75CA-433D-9353-78FA087C7EDE}" type="presParOf" srcId="{6CBB4A41-7D51-4198-B942-A2D22B028229}" destId="{6936E55A-87EF-43A5-9AA0-EA99CFDECABF}" srcOrd="2" destOrd="0" presId="urn:microsoft.com/office/officeart/2018/2/layout/IconVerticalSolidList"/>
    <dgm:cxn modelId="{650B8BCD-1CC6-463D-B8A5-353E15270860}" type="presParOf" srcId="{6CBB4A41-7D51-4198-B942-A2D22B028229}" destId="{83B0836A-7D8D-4786-849E-69E9A8EC7956}" srcOrd="3" destOrd="0" presId="urn:microsoft.com/office/officeart/2018/2/layout/IconVerticalSolidList"/>
    <dgm:cxn modelId="{B54A54FE-0040-4FE1-9011-7D625BF48A53}" type="presParOf" srcId="{8D3F5EA0-681A-48E2-AD09-B762FF15ED0F}" destId="{3C221E9F-007F-4C12-8D16-E7B8AA3522C6}" srcOrd="1" destOrd="0" presId="urn:microsoft.com/office/officeart/2018/2/layout/IconVerticalSolidList"/>
    <dgm:cxn modelId="{529F996E-5608-46F8-9C28-7BC991134348}" type="presParOf" srcId="{8D3F5EA0-681A-48E2-AD09-B762FF15ED0F}" destId="{B442F929-71C7-4D89-8D44-184DA827E093}" srcOrd="2" destOrd="0" presId="urn:microsoft.com/office/officeart/2018/2/layout/IconVerticalSolidList"/>
    <dgm:cxn modelId="{3DF0E7F0-5027-4B9E-BA54-F6E22B9A98E5}" type="presParOf" srcId="{B442F929-71C7-4D89-8D44-184DA827E093}" destId="{79BF826F-F35F-4AA7-941E-2F9C882E5887}" srcOrd="0" destOrd="0" presId="urn:microsoft.com/office/officeart/2018/2/layout/IconVerticalSolidList"/>
    <dgm:cxn modelId="{7E98D00B-8A3A-4D68-99C9-567A692B0327}" type="presParOf" srcId="{B442F929-71C7-4D89-8D44-184DA827E093}" destId="{42DBE3AB-C385-48E7-A865-07865E70F182}" srcOrd="1" destOrd="0" presId="urn:microsoft.com/office/officeart/2018/2/layout/IconVerticalSolidList"/>
    <dgm:cxn modelId="{2A240212-CC1A-412A-AFE4-D6E9232DC027}" type="presParOf" srcId="{B442F929-71C7-4D89-8D44-184DA827E093}" destId="{B785F863-2ED8-4721-8E55-66FB864D3374}" srcOrd="2" destOrd="0" presId="urn:microsoft.com/office/officeart/2018/2/layout/IconVerticalSolidList"/>
    <dgm:cxn modelId="{01A79A76-33EB-4718-9913-11F6E6010431}" type="presParOf" srcId="{B442F929-71C7-4D89-8D44-184DA827E093}" destId="{7BF2C3BE-7F8A-4167-A265-7EBB03B0056A}" srcOrd="3" destOrd="0" presId="urn:microsoft.com/office/officeart/2018/2/layout/IconVerticalSolidList"/>
    <dgm:cxn modelId="{D1641E6C-2505-4D62-83A5-9E497025C7EB}" type="presParOf" srcId="{8D3F5EA0-681A-48E2-AD09-B762FF15ED0F}" destId="{1048C367-07CB-41BA-B751-209528234344}" srcOrd="3" destOrd="0" presId="urn:microsoft.com/office/officeart/2018/2/layout/IconVerticalSolidList"/>
    <dgm:cxn modelId="{03DE97DF-5152-43A7-B815-8E358618D28B}" type="presParOf" srcId="{8D3F5EA0-681A-48E2-AD09-B762FF15ED0F}" destId="{8613D5EE-400B-4783-8E34-8550403DC4A1}" srcOrd="4" destOrd="0" presId="urn:microsoft.com/office/officeart/2018/2/layout/IconVerticalSolidList"/>
    <dgm:cxn modelId="{ED2C0245-862F-48B4-A961-81D0807B78BC}" type="presParOf" srcId="{8613D5EE-400B-4783-8E34-8550403DC4A1}" destId="{DF7752AB-FEB8-4DE2-9B0D-F02C8A5AA221}" srcOrd="0" destOrd="0" presId="urn:microsoft.com/office/officeart/2018/2/layout/IconVerticalSolidList"/>
    <dgm:cxn modelId="{F491332B-0BE8-4BDC-B982-B2565A043BDE}" type="presParOf" srcId="{8613D5EE-400B-4783-8E34-8550403DC4A1}" destId="{0D181BF4-AD81-4F66-AF6E-CC0BA09D6357}" srcOrd="1" destOrd="0" presId="urn:microsoft.com/office/officeart/2018/2/layout/IconVerticalSolidList"/>
    <dgm:cxn modelId="{B295026F-633B-4BE7-8E2F-48C52C0DB32A}" type="presParOf" srcId="{8613D5EE-400B-4783-8E34-8550403DC4A1}" destId="{A206E64A-4BA0-45E3-9551-51A77CC0522B}" srcOrd="2" destOrd="0" presId="urn:microsoft.com/office/officeart/2018/2/layout/IconVerticalSolidList"/>
    <dgm:cxn modelId="{A5FEF1AC-EF85-4D61-8B05-A608CD2A0DBB}" type="presParOf" srcId="{8613D5EE-400B-4783-8E34-8550403DC4A1}" destId="{51C2B1DD-CC4C-4528-9512-05A1A433690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09788A2-43D7-49D3-8505-E16A81756376}" type="doc">
      <dgm:prSet loTypeId="urn:microsoft.com/office/officeart/2018/2/layout/IconVerticalSolidList" loCatId="icon" qsTypeId="urn:microsoft.com/office/officeart/2005/8/quickstyle/simple1#5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E98E2F9-113B-4297-B37B-E6344D82DC14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800" dirty="0"/>
            <a:t>Local Execution &amp; Confidentiality: Running models locally in </a:t>
          </a:r>
          <a:r>
            <a:rPr lang="en-US" sz="1800" dirty="0" err="1"/>
            <a:t>Colab</a:t>
          </a:r>
          <a:r>
            <a:rPr lang="en-US" sz="1800" dirty="0"/>
            <a:t> ensures sensitive field data is never sent to 3rd-party APIs.</a:t>
          </a:r>
          <a:endParaRPr lang="en-US" sz="1800" b="1" dirty="0"/>
        </a:p>
      </dgm:t>
    </dgm:pt>
    <dgm:pt modelId="{414F320F-6525-4469-B44B-1589E311F5F2}" type="parTrans" cxnId="{0AC44EFC-004B-496C-B1E5-59559E61571D}">
      <dgm:prSet/>
      <dgm:spPr/>
      <dgm:t>
        <a:bodyPr/>
        <a:lstStyle/>
        <a:p>
          <a:pPr algn="just"/>
          <a:endParaRPr lang="en-US" sz="2800"/>
        </a:p>
      </dgm:t>
    </dgm:pt>
    <dgm:pt modelId="{3BCADC1B-9BA5-4633-BCAF-420966C9E4AE}" type="sibTrans" cxnId="{0AC44EFC-004B-496C-B1E5-59559E61571D}">
      <dgm:prSet/>
      <dgm:spPr/>
      <dgm:t>
        <a:bodyPr/>
        <a:lstStyle/>
        <a:p>
          <a:pPr algn="just"/>
          <a:endParaRPr lang="en-US" sz="2800"/>
        </a:p>
      </dgm:t>
    </dgm:pt>
    <dgm:pt modelId="{CEDD0A75-02B4-418D-AFEE-84C9E9549140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800" dirty="0"/>
            <a:t>RAG Context Integration: Models are anchored with project-specific domain documents to eliminate hallucinations.</a:t>
          </a:r>
        </a:p>
      </dgm:t>
    </dgm:pt>
    <dgm:pt modelId="{429A2B59-E979-424F-B98E-27082484E964}" type="parTrans" cxnId="{43F066C6-31A7-4309-8079-161A31C136A9}">
      <dgm:prSet/>
      <dgm:spPr/>
      <dgm:t>
        <a:bodyPr/>
        <a:lstStyle/>
        <a:p>
          <a:pPr algn="just"/>
          <a:endParaRPr lang="en-US" sz="2800"/>
        </a:p>
      </dgm:t>
    </dgm:pt>
    <dgm:pt modelId="{E66260D6-724D-4D00-954A-D6DAC0E7B09A}" type="sibTrans" cxnId="{43F066C6-31A7-4309-8079-161A31C136A9}">
      <dgm:prSet/>
      <dgm:spPr/>
      <dgm:t>
        <a:bodyPr/>
        <a:lstStyle/>
        <a:p>
          <a:pPr algn="just"/>
          <a:endParaRPr lang="en-US" sz="2800"/>
        </a:p>
      </dgm:t>
    </dgm:pt>
    <dgm:pt modelId="{42A09A6D-2A14-429D-8A8F-95C40D8DB645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800" dirty="0"/>
            <a:t>Bias Mitigation Protocols: Regular spot-checks and interpretable reasoning chains ensure academic </a:t>
          </a:r>
          <a:r>
            <a:rPr lang="en-US" sz="1800" dirty="0" err="1"/>
            <a:t>rigour</a:t>
          </a:r>
          <a:r>
            <a:rPr lang="en-US" sz="1800" dirty="0"/>
            <a:t>.</a:t>
          </a:r>
        </a:p>
      </dgm:t>
    </dgm:pt>
    <dgm:pt modelId="{153F8834-E524-4E97-BD13-5914DD5255EE}" type="parTrans" cxnId="{3B609D1B-3D47-421C-9531-C573CAE1ED35}">
      <dgm:prSet/>
      <dgm:spPr/>
      <dgm:t>
        <a:bodyPr/>
        <a:lstStyle/>
        <a:p>
          <a:pPr algn="just"/>
          <a:endParaRPr lang="en-US" sz="2800"/>
        </a:p>
      </dgm:t>
    </dgm:pt>
    <dgm:pt modelId="{C3693459-E640-4A77-9E95-57AA5768BCAC}" type="sibTrans" cxnId="{3B609D1B-3D47-421C-9531-C573CAE1ED35}">
      <dgm:prSet/>
      <dgm:spPr/>
      <dgm:t>
        <a:bodyPr/>
        <a:lstStyle/>
        <a:p>
          <a:pPr algn="just"/>
          <a:endParaRPr lang="en-US" sz="2800"/>
        </a:p>
      </dgm:t>
    </dgm:pt>
    <dgm:pt modelId="{E98FE277-ED19-420B-8F1B-6356EAD42D1D}" type="pres">
      <dgm:prSet presAssocID="{109788A2-43D7-49D3-8505-E16A81756376}" presName="root" presStyleCnt="0">
        <dgm:presLayoutVars>
          <dgm:dir/>
          <dgm:resizeHandles val="exact"/>
        </dgm:presLayoutVars>
      </dgm:prSet>
      <dgm:spPr/>
    </dgm:pt>
    <dgm:pt modelId="{018CA244-73BD-40C5-973E-DACA0AD59C97}" type="pres">
      <dgm:prSet presAssocID="{8E98E2F9-113B-4297-B37B-E6344D82DC14}" presName="compNode" presStyleCnt="0"/>
      <dgm:spPr/>
    </dgm:pt>
    <dgm:pt modelId="{A6BB1487-6201-4CE8-B9C6-2DB753B89D00}" type="pres">
      <dgm:prSet presAssocID="{8E98E2F9-113B-4297-B37B-E6344D82DC14}" presName="bgRect" presStyleLbl="bgShp" presStyleIdx="0" presStyleCnt="3"/>
      <dgm:spPr/>
    </dgm:pt>
    <dgm:pt modelId="{4351D9F1-09E2-4CD5-89B1-0CD292015546}" type="pres">
      <dgm:prSet presAssocID="{8E98E2F9-113B-4297-B37B-E6344D82DC1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4216842-9BE7-4DCE-8D83-6BF4C91568A3}" type="pres">
      <dgm:prSet presAssocID="{8E98E2F9-113B-4297-B37B-E6344D82DC14}" presName="spaceRect" presStyleCnt="0"/>
      <dgm:spPr/>
    </dgm:pt>
    <dgm:pt modelId="{EED77302-58C7-45C1-B6F0-6B236B2E537D}" type="pres">
      <dgm:prSet presAssocID="{8E98E2F9-113B-4297-B37B-E6344D82DC14}" presName="parTx" presStyleLbl="revTx" presStyleIdx="0" presStyleCnt="3">
        <dgm:presLayoutVars>
          <dgm:chMax val="0"/>
          <dgm:chPref val="0"/>
        </dgm:presLayoutVars>
      </dgm:prSet>
      <dgm:spPr/>
    </dgm:pt>
    <dgm:pt modelId="{8008780D-D813-4342-BAF6-1072615904A9}" type="pres">
      <dgm:prSet presAssocID="{3BCADC1B-9BA5-4633-BCAF-420966C9E4AE}" presName="sibTrans" presStyleCnt="0"/>
      <dgm:spPr/>
    </dgm:pt>
    <dgm:pt modelId="{A074CB9D-B167-4802-9DF1-2FA83C962CC8}" type="pres">
      <dgm:prSet presAssocID="{CEDD0A75-02B4-418D-AFEE-84C9E9549140}" presName="compNode" presStyleCnt="0"/>
      <dgm:spPr/>
    </dgm:pt>
    <dgm:pt modelId="{3185EB31-368D-4385-A661-57EEAC6B2D25}" type="pres">
      <dgm:prSet presAssocID="{CEDD0A75-02B4-418D-AFEE-84C9E9549140}" presName="bgRect" presStyleLbl="bgShp" presStyleIdx="1" presStyleCnt="3"/>
      <dgm:spPr/>
    </dgm:pt>
    <dgm:pt modelId="{26AB5C7F-684D-45E6-8518-4D3A6E900658}" type="pres">
      <dgm:prSet presAssocID="{CEDD0A75-02B4-418D-AFEE-84C9E954914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etcar"/>
        </a:ext>
      </dgm:extLst>
    </dgm:pt>
    <dgm:pt modelId="{1CBFEACC-F319-4C13-B70A-56AE3A61C458}" type="pres">
      <dgm:prSet presAssocID="{CEDD0A75-02B4-418D-AFEE-84C9E9549140}" presName="spaceRect" presStyleCnt="0"/>
      <dgm:spPr/>
    </dgm:pt>
    <dgm:pt modelId="{4FA17084-9CD8-4631-8A08-208D0A327392}" type="pres">
      <dgm:prSet presAssocID="{CEDD0A75-02B4-418D-AFEE-84C9E9549140}" presName="parTx" presStyleLbl="revTx" presStyleIdx="1" presStyleCnt="3">
        <dgm:presLayoutVars>
          <dgm:chMax val="0"/>
          <dgm:chPref val="0"/>
        </dgm:presLayoutVars>
      </dgm:prSet>
      <dgm:spPr/>
    </dgm:pt>
    <dgm:pt modelId="{00AC3068-64CD-4FCC-85BA-FCA96E0C73D7}" type="pres">
      <dgm:prSet presAssocID="{E66260D6-724D-4D00-954A-D6DAC0E7B09A}" presName="sibTrans" presStyleCnt="0"/>
      <dgm:spPr/>
    </dgm:pt>
    <dgm:pt modelId="{FA2419DF-1F96-43C8-9CAC-9B9FE3A2DB88}" type="pres">
      <dgm:prSet presAssocID="{42A09A6D-2A14-429D-8A8F-95C40D8DB645}" presName="compNode" presStyleCnt="0"/>
      <dgm:spPr/>
    </dgm:pt>
    <dgm:pt modelId="{01BED435-4687-4C2B-B2DD-3B484436CE76}" type="pres">
      <dgm:prSet presAssocID="{42A09A6D-2A14-429D-8A8F-95C40D8DB645}" presName="bgRect" presStyleLbl="bgShp" presStyleIdx="2" presStyleCnt="3"/>
      <dgm:spPr/>
    </dgm:pt>
    <dgm:pt modelId="{0F583038-D527-45C4-AF87-18F75935EF8E}" type="pres">
      <dgm:prSet presAssocID="{42A09A6D-2A14-429D-8A8F-95C40D8DB64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FADEDC6-C151-439F-88D3-49D66761CAFD}" type="pres">
      <dgm:prSet presAssocID="{42A09A6D-2A14-429D-8A8F-95C40D8DB645}" presName="spaceRect" presStyleCnt="0"/>
      <dgm:spPr/>
    </dgm:pt>
    <dgm:pt modelId="{C5E07DBD-C92D-4FE4-981E-433101B93A10}" type="pres">
      <dgm:prSet presAssocID="{42A09A6D-2A14-429D-8A8F-95C40D8DB64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B609D1B-3D47-421C-9531-C573CAE1ED35}" srcId="{109788A2-43D7-49D3-8505-E16A81756376}" destId="{42A09A6D-2A14-429D-8A8F-95C40D8DB645}" srcOrd="2" destOrd="0" parTransId="{153F8834-E524-4E97-BD13-5914DD5255EE}" sibTransId="{C3693459-E640-4A77-9E95-57AA5768BCAC}"/>
    <dgm:cxn modelId="{D7ACBE22-9D00-4038-A689-28CAC2BAA619}" type="presOf" srcId="{CEDD0A75-02B4-418D-AFEE-84C9E9549140}" destId="{4FA17084-9CD8-4631-8A08-208D0A327392}" srcOrd="0" destOrd="0" presId="urn:microsoft.com/office/officeart/2018/2/layout/IconVerticalSolidList"/>
    <dgm:cxn modelId="{3D2A3238-D5D3-4ABB-8881-9B0DBFFB9A9C}" type="presOf" srcId="{8E98E2F9-113B-4297-B37B-E6344D82DC14}" destId="{EED77302-58C7-45C1-B6F0-6B236B2E537D}" srcOrd="0" destOrd="0" presId="urn:microsoft.com/office/officeart/2018/2/layout/IconVerticalSolidList"/>
    <dgm:cxn modelId="{75D89E9F-781D-4621-9EE3-F7219EFCB822}" type="presOf" srcId="{109788A2-43D7-49D3-8505-E16A81756376}" destId="{E98FE277-ED19-420B-8F1B-6356EAD42D1D}" srcOrd="0" destOrd="0" presId="urn:microsoft.com/office/officeart/2018/2/layout/IconVerticalSolidList"/>
    <dgm:cxn modelId="{501802A5-7B07-44A3-82E2-7A35527ADD3B}" type="presOf" srcId="{42A09A6D-2A14-429D-8A8F-95C40D8DB645}" destId="{C5E07DBD-C92D-4FE4-981E-433101B93A10}" srcOrd="0" destOrd="0" presId="urn:microsoft.com/office/officeart/2018/2/layout/IconVerticalSolidList"/>
    <dgm:cxn modelId="{43F066C6-31A7-4309-8079-161A31C136A9}" srcId="{109788A2-43D7-49D3-8505-E16A81756376}" destId="{CEDD0A75-02B4-418D-AFEE-84C9E9549140}" srcOrd="1" destOrd="0" parTransId="{429A2B59-E979-424F-B98E-27082484E964}" sibTransId="{E66260D6-724D-4D00-954A-D6DAC0E7B09A}"/>
    <dgm:cxn modelId="{0AC44EFC-004B-496C-B1E5-59559E61571D}" srcId="{109788A2-43D7-49D3-8505-E16A81756376}" destId="{8E98E2F9-113B-4297-B37B-E6344D82DC14}" srcOrd="0" destOrd="0" parTransId="{414F320F-6525-4469-B44B-1589E311F5F2}" sibTransId="{3BCADC1B-9BA5-4633-BCAF-420966C9E4AE}"/>
    <dgm:cxn modelId="{7D78F84E-7CD2-46B7-8421-B543DF56181F}" type="presParOf" srcId="{E98FE277-ED19-420B-8F1B-6356EAD42D1D}" destId="{018CA244-73BD-40C5-973E-DACA0AD59C97}" srcOrd="0" destOrd="0" presId="urn:microsoft.com/office/officeart/2018/2/layout/IconVerticalSolidList"/>
    <dgm:cxn modelId="{499D7A9B-443D-43CE-BCAC-CA519A77A58F}" type="presParOf" srcId="{018CA244-73BD-40C5-973E-DACA0AD59C97}" destId="{A6BB1487-6201-4CE8-B9C6-2DB753B89D00}" srcOrd="0" destOrd="0" presId="urn:microsoft.com/office/officeart/2018/2/layout/IconVerticalSolidList"/>
    <dgm:cxn modelId="{484DECF2-C351-4558-92A1-2664EB3D12E8}" type="presParOf" srcId="{018CA244-73BD-40C5-973E-DACA0AD59C97}" destId="{4351D9F1-09E2-4CD5-89B1-0CD292015546}" srcOrd="1" destOrd="0" presId="urn:microsoft.com/office/officeart/2018/2/layout/IconVerticalSolidList"/>
    <dgm:cxn modelId="{B4770A93-1757-41E4-B5A5-476EC905C41A}" type="presParOf" srcId="{018CA244-73BD-40C5-973E-DACA0AD59C97}" destId="{74216842-9BE7-4DCE-8D83-6BF4C91568A3}" srcOrd="2" destOrd="0" presId="urn:microsoft.com/office/officeart/2018/2/layout/IconVerticalSolidList"/>
    <dgm:cxn modelId="{D455148A-DF09-46FC-9914-D66CDE86CD7F}" type="presParOf" srcId="{018CA244-73BD-40C5-973E-DACA0AD59C97}" destId="{EED77302-58C7-45C1-B6F0-6B236B2E537D}" srcOrd="3" destOrd="0" presId="urn:microsoft.com/office/officeart/2018/2/layout/IconVerticalSolidList"/>
    <dgm:cxn modelId="{46781704-19B6-4204-8A46-D49780D8C905}" type="presParOf" srcId="{E98FE277-ED19-420B-8F1B-6356EAD42D1D}" destId="{8008780D-D813-4342-BAF6-1072615904A9}" srcOrd="1" destOrd="0" presId="urn:microsoft.com/office/officeart/2018/2/layout/IconVerticalSolidList"/>
    <dgm:cxn modelId="{8E583AF0-6E2D-4EF2-864A-03A8457F878F}" type="presParOf" srcId="{E98FE277-ED19-420B-8F1B-6356EAD42D1D}" destId="{A074CB9D-B167-4802-9DF1-2FA83C962CC8}" srcOrd="2" destOrd="0" presId="urn:microsoft.com/office/officeart/2018/2/layout/IconVerticalSolidList"/>
    <dgm:cxn modelId="{FD437D5D-0E85-4AEE-B222-9D4C6D62A4AA}" type="presParOf" srcId="{A074CB9D-B167-4802-9DF1-2FA83C962CC8}" destId="{3185EB31-368D-4385-A661-57EEAC6B2D25}" srcOrd="0" destOrd="0" presId="urn:microsoft.com/office/officeart/2018/2/layout/IconVerticalSolidList"/>
    <dgm:cxn modelId="{9A0E01FA-0E34-489F-B9CD-E008BB057994}" type="presParOf" srcId="{A074CB9D-B167-4802-9DF1-2FA83C962CC8}" destId="{26AB5C7F-684D-45E6-8518-4D3A6E900658}" srcOrd="1" destOrd="0" presId="urn:microsoft.com/office/officeart/2018/2/layout/IconVerticalSolidList"/>
    <dgm:cxn modelId="{7F118ADF-FAE4-4310-9DB8-1A95A4D94854}" type="presParOf" srcId="{A074CB9D-B167-4802-9DF1-2FA83C962CC8}" destId="{1CBFEACC-F319-4C13-B70A-56AE3A61C458}" srcOrd="2" destOrd="0" presId="urn:microsoft.com/office/officeart/2018/2/layout/IconVerticalSolidList"/>
    <dgm:cxn modelId="{3EA577D7-8332-4074-9EE9-C2FF7DB646EC}" type="presParOf" srcId="{A074CB9D-B167-4802-9DF1-2FA83C962CC8}" destId="{4FA17084-9CD8-4631-8A08-208D0A327392}" srcOrd="3" destOrd="0" presId="urn:microsoft.com/office/officeart/2018/2/layout/IconVerticalSolidList"/>
    <dgm:cxn modelId="{8310FA37-11F1-4FC4-8359-48518C50AA7C}" type="presParOf" srcId="{E98FE277-ED19-420B-8F1B-6356EAD42D1D}" destId="{00AC3068-64CD-4FCC-85BA-FCA96E0C73D7}" srcOrd="3" destOrd="0" presId="urn:microsoft.com/office/officeart/2018/2/layout/IconVerticalSolidList"/>
    <dgm:cxn modelId="{B713D46A-E519-439D-96B0-DA2962575604}" type="presParOf" srcId="{E98FE277-ED19-420B-8F1B-6356EAD42D1D}" destId="{FA2419DF-1F96-43C8-9CAC-9B9FE3A2DB88}" srcOrd="4" destOrd="0" presId="urn:microsoft.com/office/officeart/2018/2/layout/IconVerticalSolidList"/>
    <dgm:cxn modelId="{822C6206-DB11-43B2-AA1B-AA51E4E52C53}" type="presParOf" srcId="{FA2419DF-1F96-43C8-9CAC-9B9FE3A2DB88}" destId="{01BED435-4687-4C2B-B2DD-3B484436CE76}" srcOrd="0" destOrd="0" presId="urn:microsoft.com/office/officeart/2018/2/layout/IconVerticalSolidList"/>
    <dgm:cxn modelId="{852DFC22-3CB8-45DF-AA21-7A9A34983AAE}" type="presParOf" srcId="{FA2419DF-1F96-43C8-9CAC-9B9FE3A2DB88}" destId="{0F583038-D527-45C4-AF87-18F75935EF8E}" srcOrd="1" destOrd="0" presId="urn:microsoft.com/office/officeart/2018/2/layout/IconVerticalSolidList"/>
    <dgm:cxn modelId="{94CE3529-66E4-4505-BAB7-CC79E1280BB1}" type="presParOf" srcId="{FA2419DF-1F96-43C8-9CAC-9B9FE3A2DB88}" destId="{2FADEDC6-C151-439F-88D3-49D66761CAFD}" srcOrd="2" destOrd="0" presId="urn:microsoft.com/office/officeart/2018/2/layout/IconVerticalSolidList"/>
    <dgm:cxn modelId="{75BD3490-0248-44B2-AF2A-E2A889238AF1}" type="presParOf" srcId="{FA2419DF-1F96-43C8-9CAC-9B9FE3A2DB88}" destId="{C5E07DBD-C92D-4FE4-981E-433101B93A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059DEC-0557-483A-AE7A-43A05C528812}">
      <dsp:nvSpPr>
        <dsp:cNvPr id="0" name=""/>
        <dsp:cNvSpPr/>
      </dsp:nvSpPr>
      <dsp:spPr>
        <a:xfrm>
          <a:off x="757092" y="1992"/>
          <a:ext cx="3034531" cy="1820718"/>
        </a:xfrm>
        <a:prstGeom prst="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Multilingual Field Notes: Researchers collect unstructured Hindi &amp; English observation notes from CLSS / CM RISE visits.</a:t>
          </a:r>
        </a:p>
      </dsp:txBody>
      <dsp:txXfrm>
        <a:off x="757092" y="1992"/>
        <a:ext cx="3034531" cy="1820718"/>
      </dsp:txXfrm>
    </dsp:sp>
    <dsp:sp modelId="{2808E24B-7FF2-4C34-94CF-ABE39EDD8483}">
      <dsp:nvSpPr>
        <dsp:cNvPr id="0" name=""/>
        <dsp:cNvSpPr/>
      </dsp:nvSpPr>
      <dsp:spPr>
        <a:xfrm>
          <a:off x="4095076" y="1992"/>
          <a:ext cx="3034531" cy="1820718"/>
        </a:xfrm>
        <a:prstGeom prst="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Manual Thematic Coding: Bottlenecked by manual reading to code themes (e.g., Compliance Barriers, Informal Cascades).</a:t>
          </a:r>
        </a:p>
      </dsp:txBody>
      <dsp:txXfrm>
        <a:off x="4095076" y="1992"/>
        <a:ext cx="3034531" cy="1820718"/>
      </dsp:txXfrm>
    </dsp:sp>
    <dsp:sp modelId="{6B794135-305A-44FD-B712-BB5FCC259175}">
      <dsp:nvSpPr>
        <dsp:cNvPr id="0" name=""/>
        <dsp:cNvSpPr/>
      </dsp:nvSpPr>
      <dsp:spPr>
        <a:xfrm>
          <a:off x="757092" y="2126164"/>
          <a:ext cx="3034531" cy="1820718"/>
        </a:xfrm>
        <a:prstGeom prst="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Notes -&gt; manual coding -&gt; Synthesis -&gt; Report </a:t>
          </a:r>
        </a:p>
      </dsp:txBody>
      <dsp:txXfrm>
        <a:off x="757092" y="2126164"/>
        <a:ext cx="3034531" cy="1820718"/>
      </dsp:txXfrm>
    </dsp:sp>
    <dsp:sp modelId="{F0FA6EE4-0E87-493A-BEFB-F0355F817F7B}">
      <dsp:nvSpPr>
        <dsp:cNvPr id="0" name=""/>
        <dsp:cNvSpPr/>
      </dsp:nvSpPr>
      <dsp:spPr>
        <a:xfrm>
          <a:off x="4095076" y="2126164"/>
          <a:ext cx="3034531" cy="1820718"/>
        </a:xfrm>
        <a:prstGeom prst="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Time &amp; Scalability </a:t>
          </a:r>
          <a:r>
            <a:rPr lang="en-US" sz="1700" kern="1200" dirty="0" err="1"/>
            <a:t>ConstraintsRisk</a:t>
          </a:r>
          <a:r>
            <a:rPr lang="en-US" sz="1700" kern="1200" dirty="0"/>
            <a:t> of Nuance Loss: High volume of text increases the risk of overlooking subtle qualitative insights.</a:t>
          </a:r>
        </a:p>
      </dsp:txBody>
      <dsp:txXfrm>
        <a:off x="4095076" y="2126164"/>
        <a:ext cx="3034531" cy="18207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FF77BA-ED10-4FC7-9371-7EFC4BD5A332}">
      <dsp:nvSpPr>
        <dsp:cNvPr id="0" name=""/>
        <dsp:cNvSpPr/>
      </dsp:nvSpPr>
      <dsp:spPr>
        <a:xfrm>
          <a:off x="8036" y="1184215"/>
          <a:ext cx="2402085" cy="1441251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 experimented with Google’s </a:t>
          </a:r>
          <a:r>
            <a:rPr lang="en-US" sz="1300" kern="1200" dirty="0" err="1"/>
            <a:t>TabFM</a:t>
          </a:r>
          <a:r>
            <a:rPr lang="en-US" sz="1300" kern="1200" dirty="0"/>
            <a:t>, a zero-shot foundation model for tabular data.</a:t>
          </a:r>
        </a:p>
      </dsp:txBody>
      <dsp:txXfrm>
        <a:off x="50249" y="1226428"/>
        <a:ext cx="2317659" cy="1356825"/>
      </dsp:txXfrm>
    </dsp:sp>
    <dsp:sp modelId="{F8CCA3C1-CD41-4A4D-A38C-CA0FB49BE894}">
      <dsp:nvSpPr>
        <dsp:cNvPr id="0" name=""/>
        <dsp:cNvSpPr/>
      </dsp:nvSpPr>
      <dsp:spPr>
        <a:xfrm>
          <a:off x="2621506" y="1606982"/>
          <a:ext cx="509242" cy="5957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621506" y="1726125"/>
        <a:ext cx="356469" cy="357431"/>
      </dsp:txXfrm>
    </dsp:sp>
    <dsp:sp modelId="{35E3E015-994C-4250-B079-1B7D843DBFFE}">
      <dsp:nvSpPr>
        <dsp:cNvPr id="0" name=""/>
        <dsp:cNvSpPr/>
      </dsp:nvSpPr>
      <dsp:spPr>
        <a:xfrm>
          <a:off x="3370957" y="1184215"/>
          <a:ext cx="2402085" cy="1441251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TabFM</a:t>
          </a:r>
          <a:r>
            <a:rPr lang="en-US" sz="1300" kern="1200" dirty="0"/>
            <a:t> can read an entire spreadsheet and run classification/regression without training a separate model per dataset.</a:t>
          </a:r>
        </a:p>
      </dsp:txBody>
      <dsp:txXfrm>
        <a:off x="3413170" y="1226428"/>
        <a:ext cx="2317659" cy="1356825"/>
      </dsp:txXfrm>
    </dsp:sp>
    <dsp:sp modelId="{50712CF3-3FCB-40DA-9666-A2D8646E8545}">
      <dsp:nvSpPr>
        <dsp:cNvPr id="0" name=""/>
        <dsp:cNvSpPr/>
      </dsp:nvSpPr>
      <dsp:spPr>
        <a:xfrm>
          <a:off x="5984426" y="1606982"/>
          <a:ext cx="509242" cy="5957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984426" y="1726125"/>
        <a:ext cx="356469" cy="357431"/>
      </dsp:txXfrm>
    </dsp:sp>
    <dsp:sp modelId="{230F7EAE-781E-4417-B749-49DE7314D294}">
      <dsp:nvSpPr>
        <dsp:cNvPr id="0" name=""/>
        <dsp:cNvSpPr/>
      </dsp:nvSpPr>
      <dsp:spPr>
        <a:xfrm>
          <a:off x="6733877" y="1184215"/>
          <a:ext cx="2402085" cy="1441251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 applied </a:t>
          </a:r>
          <a:r>
            <a:rPr lang="en-US" sz="1300" kern="1200" dirty="0" err="1"/>
            <a:t>TabFM</a:t>
          </a:r>
          <a:r>
            <a:rPr lang="en-US" sz="1300" kern="1200" dirty="0"/>
            <a:t> to the 60-teacher EDS dataset (103 features) to forecast brand recall, lesson-plan execution and digital module completion.</a:t>
          </a:r>
        </a:p>
      </dsp:txBody>
      <dsp:txXfrm>
        <a:off x="6776090" y="1226428"/>
        <a:ext cx="2317659" cy="13568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1AE1CA-29CA-4D15-AD94-9AB0D6529415}">
      <dsp:nvSpPr>
        <dsp:cNvPr id="0" name=""/>
        <dsp:cNvSpPr/>
      </dsp:nvSpPr>
      <dsp:spPr>
        <a:xfrm>
          <a:off x="0" y="530"/>
          <a:ext cx="85852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939AC6-C6EF-486D-9B51-74DF848EB333}">
      <dsp:nvSpPr>
        <dsp:cNvPr id="0" name=""/>
        <dsp:cNvSpPr/>
      </dsp:nvSpPr>
      <dsp:spPr>
        <a:xfrm>
          <a:off x="0" y="530"/>
          <a:ext cx="8585200" cy="869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just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onsterrat"/>
              <a:ea typeface="Cambria" panose="02040503050406030204" pitchFamily="18" charset="0"/>
            </a:rPr>
            <a:t>Compliance vs engagement: </a:t>
          </a:r>
          <a:r>
            <a:rPr lang="en-US" sz="1800" kern="1200" dirty="0">
              <a:latin typeface="Monsterrat"/>
              <a:ea typeface="Cambria" panose="02040503050406030204" pitchFamily="18" charset="0"/>
            </a:rPr>
            <a:t>many teachers complete digital courses mainly for compliance, requesting PDFs of answers or multitasking during videos.</a:t>
          </a:r>
        </a:p>
      </dsp:txBody>
      <dsp:txXfrm>
        <a:off x="0" y="530"/>
        <a:ext cx="8585200" cy="869420"/>
      </dsp:txXfrm>
    </dsp:sp>
    <dsp:sp modelId="{38F1C9F8-3D9C-4840-8F22-8E299203C324}">
      <dsp:nvSpPr>
        <dsp:cNvPr id="0" name=""/>
        <dsp:cNvSpPr/>
      </dsp:nvSpPr>
      <dsp:spPr>
        <a:xfrm>
          <a:off x="0" y="869951"/>
          <a:ext cx="85852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09F35E-7977-4B5A-8B1F-F1647775D55D}">
      <dsp:nvSpPr>
        <dsp:cNvPr id="0" name=""/>
        <dsp:cNvSpPr/>
      </dsp:nvSpPr>
      <dsp:spPr>
        <a:xfrm>
          <a:off x="0" y="869951"/>
          <a:ext cx="8585200" cy="869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just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onsterrat"/>
            </a:rPr>
            <a:t>Systemic barriers: </a:t>
          </a:r>
          <a:r>
            <a:rPr lang="en-US" sz="1800" kern="1200" dirty="0">
              <a:latin typeface="Monsterrat"/>
            </a:rPr>
            <a:t>teachers report implementing only a small portion of training due to time, administrative load, large classes and single-teacher school constraints.</a:t>
          </a:r>
        </a:p>
      </dsp:txBody>
      <dsp:txXfrm>
        <a:off x="0" y="869951"/>
        <a:ext cx="8585200" cy="869420"/>
      </dsp:txXfrm>
    </dsp:sp>
    <dsp:sp modelId="{AAE316E6-3319-4F96-80BA-39ED188CCB27}">
      <dsp:nvSpPr>
        <dsp:cNvPr id="0" name=""/>
        <dsp:cNvSpPr/>
      </dsp:nvSpPr>
      <dsp:spPr>
        <a:xfrm>
          <a:off x="0" y="1739371"/>
          <a:ext cx="85852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9EFDE7-BAEE-4D9D-B378-CADBE907C891}">
      <dsp:nvSpPr>
        <dsp:cNvPr id="0" name=""/>
        <dsp:cNvSpPr/>
      </dsp:nvSpPr>
      <dsp:spPr>
        <a:xfrm>
          <a:off x="0" y="1739371"/>
          <a:ext cx="8585200" cy="869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just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onsterrat"/>
            </a:rPr>
            <a:t>Informal cascade: </a:t>
          </a:r>
          <a:r>
            <a:rPr lang="en-US" sz="1800" kern="1200" dirty="0">
              <a:latin typeface="Monsterrat"/>
            </a:rPr>
            <a:t>CLSS learnings are shared through informal conversations; WhatsApp groups become inactive and there is no formal CLSS debrief slot.</a:t>
          </a:r>
        </a:p>
      </dsp:txBody>
      <dsp:txXfrm>
        <a:off x="0" y="1739371"/>
        <a:ext cx="8585200" cy="869420"/>
      </dsp:txXfrm>
    </dsp:sp>
    <dsp:sp modelId="{72BCF380-AAAB-4B76-985C-29B6FE733FF1}">
      <dsp:nvSpPr>
        <dsp:cNvPr id="0" name=""/>
        <dsp:cNvSpPr/>
      </dsp:nvSpPr>
      <dsp:spPr>
        <a:xfrm>
          <a:off x="0" y="2608791"/>
          <a:ext cx="85852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10BBC4-D8FF-435F-9E83-3101D1B93B78}">
      <dsp:nvSpPr>
        <dsp:cNvPr id="0" name=""/>
        <dsp:cNvSpPr/>
      </dsp:nvSpPr>
      <dsp:spPr>
        <a:xfrm>
          <a:off x="0" y="2608791"/>
          <a:ext cx="8585200" cy="869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just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onsterrat"/>
            </a:rPr>
            <a:t>Digital funnel: </a:t>
          </a:r>
          <a:r>
            <a:rPr lang="en-US" sz="1800" kern="1200" dirty="0">
              <a:latin typeface="Monsterrat"/>
            </a:rPr>
            <a:t>only 38% of teachers are actively aware of digital training, yet WhatsApp links drive strong participation.</a:t>
          </a:r>
        </a:p>
      </dsp:txBody>
      <dsp:txXfrm>
        <a:off x="0" y="2608791"/>
        <a:ext cx="8585200" cy="869420"/>
      </dsp:txXfrm>
    </dsp:sp>
    <dsp:sp modelId="{4BC8865D-9741-45B3-B5C4-360146864D9A}">
      <dsp:nvSpPr>
        <dsp:cNvPr id="0" name=""/>
        <dsp:cNvSpPr/>
      </dsp:nvSpPr>
      <dsp:spPr>
        <a:xfrm>
          <a:off x="0" y="3478211"/>
          <a:ext cx="85852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747761-A63D-4757-B7BD-357C867E7F1D}">
      <dsp:nvSpPr>
        <dsp:cNvPr id="0" name=""/>
        <dsp:cNvSpPr/>
      </dsp:nvSpPr>
      <dsp:spPr>
        <a:xfrm>
          <a:off x="0" y="3478211"/>
          <a:ext cx="8585200" cy="869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just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Monsterrat"/>
            </a:rPr>
            <a:t>Preference for after-hours, short, interactive modules, and strong evidence for consolidating on DIKSHA and introducing micro-learning formats.</a:t>
          </a:r>
        </a:p>
      </dsp:txBody>
      <dsp:txXfrm>
        <a:off x="0" y="3478211"/>
        <a:ext cx="8585200" cy="8694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E466C2-6778-40C9-9928-07228EDA1218}">
      <dsp:nvSpPr>
        <dsp:cNvPr id="0" name=""/>
        <dsp:cNvSpPr/>
      </dsp:nvSpPr>
      <dsp:spPr>
        <a:xfrm>
          <a:off x="0" y="531"/>
          <a:ext cx="7886700" cy="1243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F0F3A2-497B-4102-A8C4-2D72357F38FE}">
      <dsp:nvSpPr>
        <dsp:cNvPr id="0" name=""/>
        <dsp:cNvSpPr/>
      </dsp:nvSpPr>
      <dsp:spPr>
        <a:xfrm>
          <a:off x="376092" y="280269"/>
          <a:ext cx="683804" cy="6838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B0836A-7D8D-4786-849E-69E9A8EC7956}">
      <dsp:nvSpPr>
        <dsp:cNvPr id="0" name=""/>
        <dsp:cNvSpPr/>
      </dsp:nvSpPr>
      <dsp:spPr>
        <a:xfrm>
          <a:off x="1435988" y="531"/>
          <a:ext cx="6450711" cy="12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81" tIns="131581" rIns="131581" bIns="13158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Multilingual Zero-Shot Coding: Qwen 2.5 extracts initial codebooks from bilingual (Hindi/English) notes.</a:t>
          </a:r>
        </a:p>
      </dsp:txBody>
      <dsp:txXfrm>
        <a:off x="1435988" y="531"/>
        <a:ext cx="6450711" cy="1243280"/>
      </dsp:txXfrm>
    </dsp:sp>
    <dsp:sp modelId="{79BF826F-F35F-4AA7-941E-2F9C882E5887}">
      <dsp:nvSpPr>
        <dsp:cNvPr id="0" name=""/>
        <dsp:cNvSpPr/>
      </dsp:nvSpPr>
      <dsp:spPr>
        <a:xfrm>
          <a:off x="0" y="1554631"/>
          <a:ext cx="7886700" cy="1243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DBE3AB-C385-48E7-A865-07865E70F182}">
      <dsp:nvSpPr>
        <dsp:cNvPr id="0" name=""/>
        <dsp:cNvSpPr/>
      </dsp:nvSpPr>
      <dsp:spPr>
        <a:xfrm>
          <a:off x="376092" y="1834369"/>
          <a:ext cx="683804" cy="6838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2C3BE-7F8A-4167-A265-7EBB03B0056A}">
      <dsp:nvSpPr>
        <dsp:cNvPr id="0" name=""/>
        <dsp:cNvSpPr/>
      </dsp:nvSpPr>
      <dsp:spPr>
        <a:xfrm>
          <a:off x="1435988" y="1554631"/>
          <a:ext cx="6450711" cy="12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81" tIns="131581" rIns="131581" bIns="13158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Auditable Reasoning Chains: DeepSeek-R1's &lt;think&gt; tags provide transparent, step-by-step logic for theme classification.</a:t>
          </a:r>
        </a:p>
      </dsp:txBody>
      <dsp:txXfrm>
        <a:off x="1435988" y="1554631"/>
        <a:ext cx="6450711" cy="1243280"/>
      </dsp:txXfrm>
    </dsp:sp>
    <dsp:sp modelId="{DF7752AB-FEB8-4DE2-9B0D-F02C8A5AA221}">
      <dsp:nvSpPr>
        <dsp:cNvPr id="0" name=""/>
        <dsp:cNvSpPr/>
      </dsp:nvSpPr>
      <dsp:spPr>
        <a:xfrm>
          <a:off x="0" y="3108732"/>
          <a:ext cx="7886700" cy="1243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181BF4-AD81-4F66-AF6E-CC0BA09D6357}">
      <dsp:nvSpPr>
        <dsp:cNvPr id="0" name=""/>
        <dsp:cNvSpPr/>
      </dsp:nvSpPr>
      <dsp:spPr>
        <a:xfrm>
          <a:off x="376092" y="3388470"/>
          <a:ext cx="683804" cy="6838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C2B1DD-CC4C-4528-9512-05A1A4336902}">
      <dsp:nvSpPr>
        <dsp:cNvPr id="0" name=""/>
        <dsp:cNvSpPr/>
      </dsp:nvSpPr>
      <dsp:spPr>
        <a:xfrm>
          <a:off x="1435988" y="3108732"/>
          <a:ext cx="6450711" cy="12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81" tIns="131581" rIns="131581" bIns="13158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Human-in-the-Loop Supervision: AI acts strictly as a copilot—suggesting themes while researchers retain final validation.</a:t>
          </a:r>
        </a:p>
      </dsp:txBody>
      <dsp:txXfrm>
        <a:off x="1435988" y="3108732"/>
        <a:ext cx="6450711" cy="12432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BB1487-6201-4CE8-B9C6-2DB753B89D00}">
      <dsp:nvSpPr>
        <dsp:cNvPr id="0" name=""/>
        <dsp:cNvSpPr/>
      </dsp:nvSpPr>
      <dsp:spPr>
        <a:xfrm>
          <a:off x="0" y="488"/>
          <a:ext cx="9141714" cy="11421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51D9F1-09E2-4CD5-89B1-0CD292015546}">
      <dsp:nvSpPr>
        <dsp:cNvPr id="0" name=""/>
        <dsp:cNvSpPr/>
      </dsp:nvSpPr>
      <dsp:spPr>
        <a:xfrm>
          <a:off x="345514" y="257482"/>
          <a:ext cx="628207" cy="6282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D77302-58C7-45C1-B6F0-6B236B2E537D}">
      <dsp:nvSpPr>
        <dsp:cNvPr id="0" name=""/>
        <dsp:cNvSpPr/>
      </dsp:nvSpPr>
      <dsp:spPr>
        <a:xfrm>
          <a:off x="1319235" y="488"/>
          <a:ext cx="7822478" cy="1142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882" tIns="120882" rIns="120882" bIns="120882" numCol="1" spcCol="1270" anchor="ctr" anchorCtr="0">
          <a:noAutofit/>
        </a:bodyPr>
        <a:lstStyle/>
        <a:p>
          <a:pPr marL="0" lvl="0" indent="0" algn="just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Local Execution &amp; Confidentiality: Running models locally in </a:t>
          </a:r>
          <a:r>
            <a:rPr lang="en-US" sz="1800" kern="1200" dirty="0" err="1"/>
            <a:t>Colab</a:t>
          </a:r>
          <a:r>
            <a:rPr lang="en-US" sz="1800" kern="1200" dirty="0"/>
            <a:t> ensures sensitive field data is never sent to 3rd-party APIs.</a:t>
          </a:r>
          <a:endParaRPr lang="en-US" sz="1800" b="1" kern="1200" dirty="0"/>
        </a:p>
      </dsp:txBody>
      <dsp:txXfrm>
        <a:off x="1319235" y="488"/>
        <a:ext cx="7822478" cy="1142195"/>
      </dsp:txXfrm>
    </dsp:sp>
    <dsp:sp modelId="{3185EB31-368D-4385-A661-57EEAC6B2D25}">
      <dsp:nvSpPr>
        <dsp:cNvPr id="0" name=""/>
        <dsp:cNvSpPr/>
      </dsp:nvSpPr>
      <dsp:spPr>
        <a:xfrm>
          <a:off x="0" y="1428231"/>
          <a:ext cx="9141714" cy="11421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AB5C7F-684D-45E6-8518-4D3A6E900658}">
      <dsp:nvSpPr>
        <dsp:cNvPr id="0" name=""/>
        <dsp:cNvSpPr/>
      </dsp:nvSpPr>
      <dsp:spPr>
        <a:xfrm>
          <a:off x="345514" y="1685225"/>
          <a:ext cx="628207" cy="6282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A17084-9CD8-4631-8A08-208D0A327392}">
      <dsp:nvSpPr>
        <dsp:cNvPr id="0" name=""/>
        <dsp:cNvSpPr/>
      </dsp:nvSpPr>
      <dsp:spPr>
        <a:xfrm>
          <a:off x="1319235" y="1428231"/>
          <a:ext cx="7822478" cy="1142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882" tIns="120882" rIns="120882" bIns="120882" numCol="1" spcCol="1270" anchor="ctr" anchorCtr="0">
          <a:noAutofit/>
        </a:bodyPr>
        <a:lstStyle/>
        <a:p>
          <a:pPr marL="0" lvl="0" indent="0" algn="just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RAG Context Integration: Models are anchored with project-specific domain documents to eliminate hallucinations.</a:t>
          </a:r>
        </a:p>
      </dsp:txBody>
      <dsp:txXfrm>
        <a:off x="1319235" y="1428231"/>
        <a:ext cx="7822478" cy="1142195"/>
      </dsp:txXfrm>
    </dsp:sp>
    <dsp:sp modelId="{01BED435-4687-4C2B-B2DD-3B484436CE76}">
      <dsp:nvSpPr>
        <dsp:cNvPr id="0" name=""/>
        <dsp:cNvSpPr/>
      </dsp:nvSpPr>
      <dsp:spPr>
        <a:xfrm>
          <a:off x="0" y="2855975"/>
          <a:ext cx="9141714" cy="11421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583038-D527-45C4-AF87-18F75935EF8E}">
      <dsp:nvSpPr>
        <dsp:cNvPr id="0" name=""/>
        <dsp:cNvSpPr/>
      </dsp:nvSpPr>
      <dsp:spPr>
        <a:xfrm>
          <a:off x="345514" y="3112969"/>
          <a:ext cx="628207" cy="6282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E07DBD-C92D-4FE4-981E-433101B93A10}">
      <dsp:nvSpPr>
        <dsp:cNvPr id="0" name=""/>
        <dsp:cNvSpPr/>
      </dsp:nvSpPr>
      <dsp:spPr>
        <a:xfrm>
          <a:off x="1319235" y="2855975"/>
          <a:ext cx="7822478" cy="1142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882" tIns="120882" rIns="120882" bIns="120882" numCol="1" spcCol="1270" anchor="ctr" anchorCtr="0">
          <a:noAutofit/>
        </a:bodyPr>
        <a:lstStyle/>
        <a:p>
          <a:pPr marL="0" lvl="0" indent="0" algn="just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Bias Mitigation Protocols: Regular spot-checks and interpretable reasoning chains ensure academic </a:t>
          </a:r>
          <a:r>
            <a:rPr lang="en-US" sz="1800" kern="1200" dirty="0" err="1"/>
            <a:t>rigour</a:t>
          </a:r>
          <a:r>
            <a:rPr lang="en-US" sz="1800" kern="1200" dirty="0"/>
            <a:t>.</a:t>
          </a:r>
        </a:p>
      </dsp:txBody>
      <dsp:txXfrm>
        <a:off x="1319235" y="2855975"/>
        <a:ext cx="7822478" cy="11421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3585D-0624-4D8D-965D-7871A17B3E0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ACC387-EA82-4A09-A739-A6F552603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71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CC387-EA82-4A09-A739-A6F552603D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90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hyperlink" Target="https://absolutereturnforkids-my.sharepoint.com/:b:/g/personal/ashish_ghanghoria_peepulindia_org/IQC3ejmDtu3KQJV2fQCyKgq-AecUN_J7f7N3DeG7SGlLOr0?e=EQKk7s" TargetMode="Externa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1" y="1093788"/>
            <a:ext cx="9052560" cy="2967208"/>
          </a:xfrm>
        </p:spPr>
        <p:txBody>
          <a:bodyPr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US" sz="6600" dirty="0"/>
              <a:t>Augmenting Qualitative &amp; Predictive Research with AI</a:t>
            </a:r>
            <a:endParaRPr lang="en-US" sz="6500" dirty="0">
              <a:latin typeface="Monsterra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83916" y="4413128"/>
            <a:ext cx="2960084" cy="10382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2200" dirty="0"/>
              <a:t>Exploring AI tools to deepen insights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433116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03304" y="2842186"/>
            <a:ext cx="54864" cy="2960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F23D3E-10E4-7DFD-56B4-821E2119F6ED}"/>
              </a:ext>
            </a:extLst>
          </p:cNvPr>
          <p:cNvSpPr txBox="1">
            <a:spLocks/>
          </p:cNvSpPr>
          <p:nvPr/>
        </p:nvSpPr>
        <p:spPr>
          <a:xfrm>
            <a:off x="228500" y="5284372"/>
            <a:ext cx="8680137" cy="1038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sz="1800" dirty="0"/>
              <a:t>Leveraging Qwen, DeepSeek-R1, </a:t>
            </a:r>
            <a:r>
              <a:rPr lang="en-US" sz="1800" dirty="0" err="1"/>
              <a:t>TabFM</a:t>
            </a:r>
            <a:r>
              <a:rPr lang="en-US" sz="1800" dirty="0"/>
              <a:t> &amp; </a:t>
            </a:r>
            <a:r>
              <a:rPr lang="en-US" sz="1800" dirty="0" err="1"/>
              <a:t>Colab</a:t>
            </a:r>
            <a:r>
              <a:rPr lang="en-US" sz="1800" dirty="0"/>
              <a:t> for Interventions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 dirty="0">
                <a:latin typeface="Monsterrat"/>
              </a:rPr>
              <a:t>Current research workflow - challenges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0CB94A83-1591-1E74-DB89-E2B57747BE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7081357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937" y="548640"/>
            <a:ext cx="8673863" cy="1179576"/>
          </a:xfrm>
        </p:spPr>
        <p:txBody>
          <a:bodyPr>
            <a:noAutofit/>
          </a:bodyPr>
          <a:lstStyle/>
          <a:p>
            <a:r>
              <a:rPr lang="en-US" sz="4300" dirty="0" err="1">
                <a:latin typeface="Monsterrat"/>
              </a:rPr>
              <a:t>TabFM</a:t>
            </a:r>
            <a:r>
              <a:rPr lang="en-US" sz="4300" dirty="0">
                <a:latin typeface="Monsterrat"/>
              </a:rPr>
              <a:t>: Bridging Qualitative Themes to Quantitative Predictions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300DF5AA-A4FF-42D2-6F5E-6735165244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5082201"/>
              </p:ext>
            </p:extLst>
          </p:nvPr>
        </p:nvGraphicFramePr>
        <p:xfrm>
          <a:off x="0" y="2367280"/>
          <a:ext cx="9144000" cy="3809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12C5A-396F-48CE-87DE-C78E8314BBE9}"/>
              </a:ext>
            </a:extLst>
          </p:cNvPr>
          <p:cNvSpPr txBox="1">
            <a:spLocks/>
          </p:cNvSpPr>
          <p:nvPr/>
        </p:nvSpPr>
        <p:spPr>
          <a:xfrm>
            <a:off x="418656" y="5307974"/>
            <a:ext cx="7886700" cy="1149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n-US" sz="1800" dirty="0"/>
              <a:t>Evidence-Based Forecasting: Rapidly forecasts program outcomes (e.g., adoption rates, implementation success).</a:t>
            </a:r>
          </a:p>
          <a:p>
            <a:pPr algn="just">
              <a:lnSpc>
                <a:spcPct val="90000"/>
              </a:lnSpc>
            </a:pPr>
            <a:r>
              <a:rPr lang="en-US" sz="1800" dirty="0"/>
              <a:t>Econometric </a:t>
            </a:r>
            <a:r>
              <a:rPr lang="en-US" sz="1800" dirty="0" err="1"/>
              <a:t>Rigour</a:t>
            </a:r>
            <a:r>
              <a:rPr lang="en-US" sz="1800" dirty="0"/>
              <a:t>: Merges observational field narratives with quantitative statistical modeling.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sz="1800" dirty="0">
              <a:latin typeface="Monsterra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91" y="162667"/>
            <a:ext cx="9094722" cy="113369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300" dirty="0">
                <a:latin typeface="Monsterrat"/>
              </a:rPr>
              <a:t>Key findings from current EDS study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B07A56-F4F4-9FDB-38E2-839EACFB00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3622969"/>
              </p:ext>
            </p:extLst>
          </p:nvPr>
        </p:nvGraphicFramePr>
        <p:xfrm>
          <a:off x="396241" y="1780323"/>
          <a:ext cx="8585200" cy="4348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D4BC051-AD51-1433-1955-C4072C172878}"/>
              </a:ext>
            </a:extLst>
          </p:cNvPr>
          <p:cNvSpPr txBox="1"/>
          <p:nvPr/>
        </p:nvSpPr>
        <p:spPr>
          <a:xfrm>
            <a:off x="6400800" y="1274361"/>
            <a:ext cx="269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7"/>
              </a:rPr>
              <a:t>Findings_merged.pdf</a:t>
            </a:r>
            <a:r>
              <a:rPr lang="en-US" dirty="0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7" y="18645"/>
            <a:ext cx="9141713" cy="1133499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300" dirty="0">
                <a:latin typeface="Monsterrat"/>
              </a:rPr>
              <a:t>Qwen &amp; DeepSeek-R1: AI Copilots for Qualitative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E23895-24C9-82AA-6EFC-D734535B81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9463098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" y="1153572"/>
            <a:ext cx="2913139" cy="4461163"/>
          </a:xfrm>
        </p:spPr>
        <p:txBody>
          <a:bodyPr>
            <a:normAutofit/>
          </a:bodyPr>
          <a:lstStyle/>
          <a:p>
            <a:r>
              <a:rPr lang="en-US" sz="4300" dirty="0">
                <a:solidFill>
                  <a:srgbClr val="FFFFFF"/>
                </a:solidFill>
                <a:latin typeface="Monsterrat"/>
              </a:rPr>
              <a:t>Rapid Evidence-Based Forecasting from Coded Themes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5454" y="793367"/>
            <a:ext cx="5503421" cy="4537392"/>
          </a:xfrm>
        </p:spPr>
        <p:txBody>
          <a:bodyPr anchor="ctr">
            <a:normAutofit/>
          </a:bodyPr>
          <a:lstStyle/>
          <a:p>
            <a:pPr marL="0" indent="0" algn="just">
              <a:lnSpc>
                <a:spcPct val="90000"/>
              </a:lnSpc>
              <a:buNone/>
            </a:pPr>
            <a:endParaRPr lang="en-US" sz="2200" dirty="0"/>
          </a:p>
          <a:p>
            <a:pPr algn="just">
              <a:lnSpc>
                <a:spcPct val="90000"/>
              </a:lnSpc>
            </a:pPr>
            <a:r>
              <a:rPr lang="en-US" sz="2200" dirty="0"/>
              <a:t>Closed-Loop Pipeline: Qwen/DeepSeek outputs feed directly as features into </a:t>
            </a:r>
            <a:r>
              <a:rPr lang="en-US" sz="2200" dirty="0" err="1"/>
              <a:t>TabFM</a:t>
            </a:r>
            <a:r>
              <a:rPr lang="en-US" sz="2200" dirty="0"/>
              <a:t> predictive models.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sz="2200" dirty="0"/>
          </a:p>
          <a:p>
            <a:pPr algn="just">
              <a:lnSpc>
                <a:spcPct val="90000"/>
              </a:lnSpc>
            </a:pPr>
            <a:r>
              <a:rPr lang="en-US" sz="2200" dirty="0"/>
              <a:t>Rapid Policy Testing: Test 'what-if' scenarios before full field deployment to optimize intervention strategies.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 dirty="0">
                <a:latin typeface="Monsterrat"/>
              </a:rPr>
              <a:t>Automation &amp; Reproducibility: Antigravity &amp; </a:t>
            </a:r>
            <a:r>
              <a:rPr lang="en-US" sz="4300" dirty="0" err="1">
                <a:latin typeface="Monsterrat"/>
              </a:rPr>
              <a:t>Colab</a:t>
            </a:r>
            <a:r>
              <a:rPr lang="en-US" sz="4300" dirty="0">
                <a:latin typeface="Monsterrat"/>
              </a:rPr>
              <a:t> Pipeline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 dirty="0"/>
              <a:t>Antigravity Operations: AI-native data cleaning, text normalization, and automated chart generation.</a:t>
            </a:r>
          </a:p>
          <a:p>
            <a:endParaRPr lang="en-US" sz="1900" dirty="0"/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lang="en-US" sz="2000" dirty="0"/>
              <a:t>Zero Hardware Cost: Google </a:t>
            </a:r>
            <a:r>
              <a:rPr lang="en-US" sz="2000" dirty="0" err="1"/>
              <a:t>Colab</a:t>
            </a:r>
            <a:r>
              <a:rPr lang="en-US" sz="2000" dirty="0"/>
              <a:t> provides free T4 GPU access—no expensive server infrastructure required.</a:t>
            </a:r>
          </a:p>
          <a:p>
            <a:endParaRPr lang="en-US" sz="1900" dirty="0"/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lang="en-US" sz="2000" dirty="0"/>
              <a:t>Full Reproducibility: Complete audit trail from raw field notes to final leadership charts in a single notebook.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5A7081-BA06-7100-AA66-80128AC03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3" y="601735"/>
            <a:ext cx="8474174" cy="56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520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300" dirty="0">
                <a:latin typeface="Monsterrat"/>
              </a:rPr>
              <a:t>Integrated AI-supported pipeline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63646" y="182880"/>
            <a:ext cx="5450631" cy="6390639"/>
          </a:xfrm>
        </p:spPr>
        <p:txBody>
          <a:bodyPr anchor="ctr">
            <a:normAutofit/>
          </a:bodyPr>
          <a:lstStyle/>
          <a:p>
            <a:pPr algn="just"/>
            <a:r>
              <a:rPr lang="en-US" sz="1900" dirty="0"/>
              <a:t>Step 1: Multilingual Field Notes -&gt; </a:t>
            </a:r>
          </a:p>
          <a:p>
            <a:r>
              <a:rPr lang="en-US" sz="1900" dirty="0"/>
              <a:t>Step 2: Qwen/DeepSeek Zero-Shot Coding &amp; Audit</a:t>
            </a:r>
          </a:p>
          <a:p>
            <a:pPr algn="just"/>
            <a:r>
              <a:rPr lang="en-US" sz="1900" dirty="0"/>
              <a:t>Step 3: Feature Extraction -&gt; </a:t>
            </a:r>
          </a:p>
          <a:p>
            <a:pPr algn="just"/>
            <a:r>
              <a:rPr lang="en-US" sz="1900" dirty="0"/>
              <a:t>Step 4: </a:t>
            </a:r>
            <a:r>
              <a:rPr lang="en-US" sz="1900" dirty="0" err="1"/>
              <a:t>TabFM</a:t>
            </a:r>
            <a:r>
              <a:rPr lang="en-US" sz="1900" dirty="0"/>
              <a:t> Predictive Forecasting</a:t>
            </a:r>
          </a:p>
          <a:p>
            <a:pPr algn="just"/>
            <a:r>
              <a:rPr lang="en-US" sz="1900" dirty="0"/>
              <a:t>Step 5: Antigravity/</a:t>
            </a:r>
            <a:r>
              <a:rPr lang="en-US" sz="1900" dirty="0" err="1"/>
              <a:t>Colab</a:t>
            </a:r>
            <a:r>
              <a:rPr lang="en-US" sz="1900" dirty="0"/>
              <a:t> Data Prep </a:t>
            </a:r>
          </a:p>
          <a:p>
            <a:pPr algn="just"/>
            <a:r>
              <a:rPr lang="en-US" sz="1900" dirty="0"/>
              <a:t>Step 6: Senior Leadership Briefing</a:t>
            </a:r>
          </a:p>
          <a:p>
            <a:pPr algn="just"/>
            <a:r>
              <a:rPr lang="en-US" sz="1900" dirty="0"/>
              <a:t>Key Advantage: 70% faster turnaround, standardized coding consistency, and evidence-grounded forecasting.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0165"/>
            <a:ext cx="7886700" cy="1325563"/>
          </a:xfrm>
        </p:spPr>
        <p:txBody>
          <a:bodyPr>
            <a:normAutofit/>
          </a:bodyPr>
          <a:lstStyle/>
          <a:p>
            <a:r>
              <a:rPr lang="en-US" sz="4300" dirty="0">
                <a:latin typeface="Monsterrat"/>
              </a:rPr>
              <a:t>Benefits and guardrails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E9FE48-13B3-8545-4B1C-F28B0DC77F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061012"/>
              </p:ext>
            </p:extLst>
          </p:nvPr>
        </p:nvGraphicFramePr>
        <p:xfrm>
          <a:off x="0" y="2178304"/>
          <a:ext cx="9141714" cy="39986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E777E57D-6A88-4B5B-A068-2BA7FF4E8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079" y="193231"/>
            <a:ext cx="7882128" cy="970617"/>
          </a:xfrm>
        </p:spPr>
        <p:txBody>
          <a:bodyPr anchor="b">
            <a:normAutofit/>
          </a:bodyPr>
          <a:lstStyle/>
          <a:p>
            <a:r>
              <a:rPr lang="en-US" sz="4300" dirty="0">
                <a:latin typeface="Monsterrat"/>
              </a:rPr>
              <a:t>Roadmap and next steps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079" y="0"/>
            <a:ext cx="7879842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289407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1534160"/>
            <a:ext cx="7882128" cy="4408424"/>
          </a:xfrm>
        </p:spPr>
        <p:txBody>
          <a:bodyPr>
            <a:normAutofit lnSpcReduction="10000"/>
          </a:bodyPr>
          <a:lstStyle/>
          <a:p>
            <a:pPr algn="just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lang="en-US" dirty="0"/>
              <a:t>Phase 1 : Prototype pipeline with anonymized EDS data &amp; establish RAG context definitions. </a:t>
            </a:r>
            <a:br>
              <a:rPr lang="en-US" dirty="0"/>
            </a:br>
            <a:r>
              <a:rPr lang="en-US" dirty="0"/>
              <a:t>( RAG adds a retrieval step before the LLM answers. </a:t>
            </a:r>
            <a:br>
              <a:rPr lang="en-US" dirty="0"/>
            </a:br>
            <a:r>
              <a:rPr lang="en-US" dirty="0"/>
              <a:t>The flow is: Your documents → Convert to chunks → Embeddings → Vector database → Retrieve relevant chunks → LLM → Answer )</a:t>
            </a:r>
          </a:p>
          <a:p>
            <a:pPr algn="just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lang="en-US" dirty="0"/>
              <a:t>Phase 2 : Research on old projects (CLSS, etc.): “Re‑</a:t>
            </a:r>
            <a:r>
              <a:rPr lang="en-US" dirty="0" err="1"/>
              <a:t>analyse</a:t>
            </a:r>
            <a:r>
              <a:rPr lang="en-US" dirty="0"/>
              <a:t> our past projects (especially CLSS and earlier CM RISE studies) with the AI pipeline, compare what Qwen + TabFM suggest and predict against our original human findings, and document where they match, differ, or add new nuance.”</a:t>
            </a:r>
          </a:p>
          <a:p>
            <a:pPr algn="just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lang="en-US" dirty="0"/>
              <a:t>Phase 3 : Full deployment across active research projects &amp; standardize validation SOPs.</a:t>
            </a:r>
          </a:p>
          <a:p>
            <a:pPr algn="just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lang="en-US" dirty="0"/>
              <a:t>Phase 4 : Evaluate long-term impact on research quality, iterate models, and scale across departments.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2075</TotalTime>
  <Words>746</Words>
  <Application>Microsoft Office PowerPoint</Application>
  <PresentationFormat>On-screen Show (4:3)</PresentationFormat>
  <Paragraphs>54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Monsterrat</vt:lpstr>
      <vt:lpstr>Montserrat</vt:lpstr>
      <vt:lpstr>Office Theme</vt:lpstr>
      <vt:lpstr>Augmenting Qualitative &amp; Predictive Research with AI</vt:lpstr>
      <vt:lpstr>Current research workflow - challenges</vt:lpstr>
      <vt:lpstr>TabFM: Bridging Qualitative Themes to Quantitative Predictions</vt:lpstr>
      <vt:lpstr>Key findings from current EDS study</vt:lpstr>
      <vt:lpstr>Qwen &amp; DeepSeek-R1: AI Copilots for Qualitative Analysis</vt:lpstr>
      <vt:lpstr>Rapid Evidence-Based Forecasting from Coded Themes</vt:lpstr>
      <vt:lpstr>Automation &amp; Reproducibility: Antigravity &amp; Colab Pipeline</vt:lpstr>
      <vt:lpstr>PowerPoint Presentation</vt:lpstr>
      <vt:lpstr>Integrated AI-supported pipeline</vt:lpstr>
      <vt:lpstr>Benefits and guardrails</vt:lpstr>
      <vt:lpstr>Roadmap and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Ashish Ghanghoria</cp:lastModifiedBy>
  <cp:revision>20</cp:revision>
  <dcterms:created xsi:type="dcterms:W3CDTF">2013-01-27T09:14:16Z</dcterms:created>
  <dcterms:modified xsi:type="dcterms:W3CDTF">2026-08-27T11:44:47Z</dcterms:modified>
  <cp:category/>
</cp:coreProperties>
</file>