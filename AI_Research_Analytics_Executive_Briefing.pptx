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188720" y="1234440"/>
            <a:ext cx="3108960" cy="3657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4338CA"/>
                </a:solidFill>
                <a:latin typeface="Segoe UI"/>
              </a:defRPr>
            </a:pPr>
            <a:r>
              <a:t>STRATEGIC RESEARCH BRIEFING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1828800"/>
            <a:ext cx="98142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Segoe UI"/>
              </a:defRPr>
            </a:pPr>
            <a:r>
              <a:t>Augmenting Research &amp; Analytics with AI</a:t>
            </a:r>
          </a:p>
          <a:p>
            <a:pPr>
              <a:defRPr sz="1700">
                <a:solidFill>
                  <a:srgbClr val="4338CA"/>
                </a:solidFill>
                <a:latin typeface="Segoe UI"/>
              </a:defRPr>
            </a:pPr>
            <a:r>
              <a:t>Leveraging Qwen 2.5, DeepSeek-R1, TabFM &amp; Streamlit for Data-Driven Insights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840480"/>
            <a:ext cx="9814255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47857"/>
                </a:solidFill>
                <a:latin typeface="Segoe UI"/>
              </a:defRPr>
            </a:pPr>
            <a:r>
              <a:t>Core Strategic Deliverables:</a:t>
            </a:r>
          </a:p>
          <a:p>
            <a:pPr>
              <a:defRPr sz="1300">
                <a:solidFill>
                  <a:srgbClr val="0F172A"/>
                </a:solidFill>
                <a:latin typeface="Segoe UI"/>
              </a:defRPr>
            </a:pPr>
            <a:r>
              <a:t>•  Qwen Multilingual AI: Zero-shot coding across Hindi &amp; English field notes</a:t>
            </a:r>
          </a:p>
          <a:p>
            <a:pPr>
              <a:defRPr sz="1300">
                <a:solidFill>
                  <a:srgbClr val="0F172A"/>
                </a:solidFill>
                <a:latin typeface="Segoe UI"/>
              </a:defRPr>
            </a:pPr>
            <a:r>
              <a:t>•  70% faster turnaround on qualitative synthesis and evidence extraction</a:t>
            </a:r>
          </a:p>
          <a:p>
            <a:pPr>
              <a:defRPr sz="1300">
                <a:solidFill>
                  <a:srgbClr val="0F172A"/>
                </a:solidFill>
                <a:latin typeface="Segoe UI"/>
              </a:defRPr>
            </a:pPr>
            <a:r>
              <a:t>•  TabFM Econometric Forecasting: Merging observational field narratives with statistics</a:t>
            </a:r>
          </a:p>
          <a:p>
            <a:pPr>
              <a:defRPr sz="1300">
                <a:solidFill>
                  <a:srgbClr val="0F172A"/>
                </a:solidFill>
                <a:latin typeface="Segoe UI"/>
              </a:defRPr>
            </a:pPr>
            <a:r>
              <a:t>•  Interactive Streamlit Dashboard: Real-time analytical portal with full evidence auditability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4338CA"/>
                </a:solidFill>
                <a:latin typeface="Segoe UI"/>
              </a:defRPr>
            </a:pPr>
            <a: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Segoe UI"/>
              </a:defRPr>
            </a:pPr>
            <a:r>
              <a:t>Why AI in Our Research &amp; Analytics Operations?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Transforming qualitative field data into actionable policy decisions with speed and econometric rigor.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3328416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94560"/>
            <a:ext cx="2779776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7C3AED"/>
                </a:solidFill>
                <a:latin typeface="Segoe UI"/>
              </a:defRPr>
            </a:pPr>
            <a:r>
              <a:t>70%</a:t>
            </a:r>
          </a:p>
          <a:p>
            <a:pPr>
              <a:defRPr sz="1800" b="1">
                <a:solidFill>
                  <a:srgbClr val="0F172A"/>
                </a:solidFill>
                <a:latin typeface="Segoe UI"/>
              </a:defRPr>
            </a:pPr>
            <a:r>
              <a:t>Speed &amp; Efficiency</a:t>
            </a:r>
          </a:p>
          <a:p>
            <a:br/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Reduces manual reading and line-by-line coding. Qwen 2.5 &amp; DeepSeek synthesize thousands of Hindi/English field notes in minutes.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25696" y="1828800"/>
            <a:ext cx="3328416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00016" y="2194560"/>
            <a:ext cx="2779776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4338CA"/>
                </a:solidFill>
                <a:latin typeface="Segoe UI"/>
              </a:defRPr>
            </a:pPr>
            <a:r>
              <a:t>Qual + Quant</a:t>
            </a:r>
          </a:p>
          <a:p>
            <a:pPr>
              <a:defRPr sz="1800" b="1">
                <a:solidFill>
                  <a:srgbClr val="0F172A"/>
                </a:solidFill>
                <a:latin typeface="Segoe UI"/>
              </a:defRPr>
            </a:pPr>
            <a:r>
              <a:t>Dual-Engine Intelligence</a:t>
            </a:r>
          </a:p>
          <a:p>
            <a:br/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Combines qualitative theme discovery (Qwen) with econometric predictive modeling (TabFM) to forecast adoption and participation rates.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19872" y="1828800"/>
            <a:ext cx="3328416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94192" y="2194560"/>
            <a:ext cx="2779776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047857"/>
                </a:solidFill>
                <a:latin typeface="Segoe UI"/>
              </a:defRPr>
            </a:pPr>
            <a:r>
              <a:t>$0 Extra</a:t>
            </a:r>
          </a:p>
          <a:p>
            <a:pPr>
              <a:defRPr sz="1800" b="1">
                <a:solidFill>
                  <a:srgbClr val="0F172A"/>
                </a:solidFill>
                <a:latin typeface="Segoe UI"/>
              </a:defRPr>
            </a:pPr>
            <a:r>
              <a:t>Zero Added Infra Cost</a:t>
            </a:r>
          </a:p>
          <a:p>
            <a:br/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Operates on open-weight architectures, direct terminal shell automation, and lightweight Streamlit interfaces with zero server lock-in.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4338CA"/>
                </a:solidFill>
                <a:latin typeface="Segoe UI"/>
              </a:defRPr>
            </a:pPr>
            <a:r>
              <a:t>WORKFLOW TRANSFORMATION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Segoe UI"/>
              </a:defRPr>
            </a:pPr>
            <a:r>
              <a:t>Bridging Current Bottlenecks with AI Capability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Shifting our research team from manual sorting to strategic analysis.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5175504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03120"/>
            <a:ext cx="4626864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11D48"/>
                </a:solidFill>
                <a:latin typeface="Segoe UI"/>
              </a:defRPr>
            </a:pPr>
            <a:r>
              <a:t>TRADITIONAL RESEARCH BOTTLENECKS</a:t>
            </a:r>
          </a:p>
          <a:p>
            <a:br/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❌  Manual Text Coding</a:t>
            </a:r>
          </a:p>
          <a:p>
            <a:pPr>
              <a:defRPr sz="1200">
                <a:solidFill>
                  <a:srgbClr val="475569"/>
                </a:solidFill>
                <a:latin typeface="Segoe UI"/>
              </a:defRPr>
            </a:pPr>
            <a:r>
              <a:t>     Hundreds of hours spent reading and categorizing Hindi/English field notes line-by-line.</a:t>
            </a:r>
          </a:p>
          <a:p>
            <a:br/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❌  Siloed Data</a:t>
            </a:r>
          </a:p>
          <a:p>
            <a:pPr>
              <a:defRPr sz="1200">
                <a:solidFill>
                  <a:srgbClr val="475569"/>
                </a:solidFill>
                <a:latin typeface="Segoe UI"/>
              </a:defRPr>
            </a:pPr>
            <a:r>
              <a:t>     Qualitative observer notes and quantitative survey numbers analyzed in separate streams.</a:t>
            </a:r>
          </a:p>
          <a:p>
            <a:br/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❌  Slow Turnaround</a:t>
            </a:r>
          </a:p>
          <a:p>
            <a:pPr>
              <a:defRPr sz="1200">
                <a:solidFill>
                  <a:srgbClr val="475569"/>
                </a:solidFill>
                <a:latin typeface="Segoe UI"/>
              </a:defRPr>
            </a:pPr>
            <a:r>
              <a:t>     Weeks between field observation visits and final research briefings.</a:t>
            </a:r>
          </a:p>
          <a:p>
            <a:br/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❌  No Predictive Insight</a:t>
            </a:r>
          </a:p>
          <a:p>
            <a:pPr>
              <a:defRPr sz="1200">
                <a:solidFill>
                  <a:srgbClr val="475569"/>
                </a:solidFill>
                <a:latin typeface="Segoe UI"/>
              </a:defRPr>
            </a:pPr>
            <a:r>
              <a:t>     Historical reporting only; unable to predict participant drop-offs before intervention.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2784" y="1828800"/>
            <a:ext cx="5175504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47104" y="2103120"/>
            <a:ext cx="4626864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47857"/>
                </a:solidFill>
                <a:latin typeface="Segoe UI"/>
              </a:defRPr>
            </a:pPr>
            <a:r>
              <a:t>AI-AUGMENTED RESEARCH PIPELINE</a:t>
            </a:r>
          </a:p>
          <a:p>
            <a:br/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✅  Qwen Multilingual AI</a:t>
            </a:r>
          </a:p>
          <a:p>
            <a:pPr>
              <a:defRPr sz="1200">
                <a:solidFill>
                  <a:srgbClr val="475569"/>
                </a:solidFill>
                <a:latin typeface="Segoe UI"/>
              </a:defRPr>
            </a:pPr>
            <a:r>
              <a:t>     Extracts themes &amp; zero-shot codes Hindi &amp; English field notes automatically.</a:t>
            </a:r>
          </a:p>
          <a:p>
            <a:br/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✅  Closed-Loop Fusion</a:t>
            </a:r>
          </a:p>
          <a:p>
            <a:pPr>
              <a:defRPr sz="1200">
                <a:solidFill>
                  <a:srgbClr val="475569"/>
                </a:solidFill>
                <a:latin typeface="Segoe UI"/>
              </a:defRPr>
            </a:pPr>
            <a:r>
              <a:t>     Qualitative themes convert to feature vectors directly for TabFM predictive forecasting.</a:t>
            </a:r>
          </a:p>
          <a:p>
            <a:br/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✅  70% Faster Delivery</a:t>
            </a:r>
          </a:p>
          <a:p>
            <a:pPr>
              <a:defRPr sz="1200">
                <a:solidFill>
                  <a:srgbClr val="475569"/>
                </a:solidFill>
                <a:latin typeface="Segoe UI"/>
              </a:defRPr>
            </a:pPr>
            <a:r>
              <a:t>     Draft summaries delivered in hours; researchers focus on validation &amp; nuance.</a:t>
            </a:r>
          </a:p>
          <a:p>
            <a:br/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✅  Proactive Forecasting</a:t>
            </a:r>
          </a:p>
          <a:p>
            <a:pPr>
              <a:defRPr sz="1200">
                <a:solidFill>
                  <a:srgbClr val="475569"/>
                </a:solidFill>
                <a:latin typeface="Segoe UI"/>
              </a:defRPr>
            </a:pPr>
            <a:r>
              <a:t>     Early-warning predictions highlight at-risk schools before full program rollout.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4338CA"/>
                </a:solidFill>
                <a:latin typeface="Segoe UI"/>
              </a:defRPr>
            </a:pPr>
            <a:r>
              <a:t>AI TOOL ECOSYSTEM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Segoe UI"/>
              </a:defRPr>
            </a:pPr>
            <a:r>
              <a:t>The Core Components of Our AI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Specialized open-weight tools working seamlessly together to power analysis.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5175504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057400"/>
            <a:ext cx="4626864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7C3AED"/>
                </a:solidFill>
                <a:latin typeface="Segoe UI"/>
              </a:defRPr>
            </a:pPr>
            <a:r>
              <a:t>Qwen 2.5</a:t>
            </a:r>
          </a:p>
          <a:p>
            <a:pPr>
              <a:defRPr sz="1000" b="1">
                <a:solidFill>
                  <a:srgbClr val="475569"/>
                </a:solidFill>
                <a:latin typeface="Segoe UI"/>
              </a:defRPr>
            </a:pPr>
            <a:r>
              <a:t>MULTILINGUAL TEXT COPILOT</a:t>
            </a:r>
          </a:p>
          <a:p>
            <a:br/>
            <a:pPr>
              <a:defRPr sz="1200">
                <a:solidFill>
                  <a:srgbClr val="0F172A"/>
                </a:solidFill>
                <a:latin typeface="Segoe UI"/>
              </a:defRPr>
            </a:pPr>
            <a:r>
              <a:t>Organizes multilingual field notes, extracts themes from Hindi &amp; English observer notes, groups passages, and drafts summary reports.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2784" y="1828800"/>
            <a:ext cx="5175504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47104" y="2057400"/>
            <a:ext cx="4626864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4338CA"/>
                </a:solidFill>
                <a:latin typeface="Segoe UI"/>
              </a:defRPr>
            </a:pPr>
            <a:r>
              <a:t>DeepSeek-R1</a:t>
            </a:r>
          </a:p>
          <a:p>
            <a:pPr>
              <a:defRPr sz="1000" b="1">
                <a:solidFill>
                  <a:srgbClr val="475569"/>
                </a:solidFill>
                <a:latin typeface="Segoe UI"/>
              </a:defRPr>
            </a:pPr>
            <a:r>
              <a:t>REASONING &amp; AUDIT ENGINE</a:t>
            </a:r>
          </a:p>
          <a:p>
            <a:br/>
            <a:pPr>
              <a:defRPr sz="1200">
                <a:solidFill>
                  <a:srgbClr val="0F172A"/>
                </a:solidFill>
                <a:latin typeface="Segoe UI"/>
              </a:defRPr>
            </a:pPr>
            <a:r>
              <a:t>Performs deep cross-checks, compares findings across projects, flags contradictions, and generates interpretive hypotheses.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160520"/>
            <a:ext cx="5175504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389120"/>
            <a:ext cx="4626864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C05621"/>
                </a:solidFill>
                <a:latin typeface="Segoe UI"/>
              </a:defRPr>
            </a:pPr>
            <a:r>
              <a:t>TabFM</a:t>
            </a:r>
          </a:p>
          <a:p>
            <a:pPr>
              <a:defRPr sz="1000" b="1">
                <a:solidFill>
                  <a:srgbClr val="475569"/>
                </a:solidFill>
                <a:latin typeface="Segoe UI"/>
              </a:defRPr>
            </a:pPr>
            <a:r>
              <a:t>PREDICTIVE FOUNDATION MODEL</a:t>
            </a:r>
          </a:p>
          <a:p>
            <a:br/>
            <a:pPr>
              <a:defRPr sz="1200">
                <a:solidFill>
                  <a:srgbClr val="0F172A"/>
                </a:solidFill>
                <a:latin typeface="Segoe UI"/>
              </a:defRPr>
            </a:pPr>
            <a:r>
              <a:t>Uses spreadsheet data and qualitative feature vectors to forecast outcomes (e.g. participation drop-off) with statistical rigor.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2784" y="4160520"/>
            <a:ext cx="5175504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4389120"/>
            <a:ext cx="4626864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47857"/>
                </a:solidFill>
                <a:latin typeface="Segoe UI"/>
              </a:defRPr>
            </a:pPr>
            <a:r>
              <a:t>Streamlit &amp; Antigravity</a:t>
            </a:r>
          </a:p>
          <a:p>
            <a:pPr>
              <a:defRPr sz="1000" b="1">
                <a:solidFill>
                  <a:srgbClr val="475569"/>
                </a:solidFill>
                <a:latin typeface="Segoe UI"/>
              </a:defRPr>
            </a:pPr>
            <a:r>
              <a:t>EDS &amp; CRO PORTALS</a:t>
            </a:r>
          </a:p>
          <a:p>
            <a:br/>
            <a:pPr>
              <a:defRPr sz="1200">
                <a:solidFill>
                  <a:srgbClr val="0F172A"/>
                </a:solidFill>
                <a:latin typeface="Segoe UI"/>
              </a:defRPr>
            </a:pPr>
            <a:r>
              <a:t>Provides interactive analytics dashboards (EDS: cm-rise-eds-dashboard.streamlit.app | CRO: peepul-mp-cpd-cro-dashboard.streamlit.app) and automates terminal execution pipelines.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4338CA"/>
                </a:solidFill>
                <a:latin typeface="Segoe UI"/>
              </a:defRPr>
            </a:pPr>
            <a:r>
              <a:t>INTEGRATED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Segoe UI"/>
              </a:defRPr>
            </a:pPr>
            <a:r>
              <a:t>Closed-Loop Pipeline: From Field Notes to Analytical Briefing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A repeatable, automated workflow bridging text coding with quantitative forecasting.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164592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94560"/>
            <a:ext cx="137160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4338CA"/>
                </a:solidFill>
                <a:latin typeface="Segoe UI"/>
              </a:defRPr>
            </a:pPr>
            <a:r>
              <a:t>1. Multilingual Notes</a:t>
            </a:r>
          </a:p>
          <a:p>
            <a:br/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Field notes in Hindi &amp; English collected from school visits.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42032" y="2011680"/>
            <a:ext cx="164592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79192" y="2194560"/>
            <a:ext cx="137160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7C3AED"/>
                </a:solidFill>
                <a:latin typeface="Segoe UI"/>
              </a:defRPr>
            </a:pPr>
            <a:r>
              <a:t>2. Qwen Coding</a:t>
            </a:r>
          </a:p>
          <a:p>
            <a:br/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Qwen codes text; DeepSeek audits themes &amp; contradictions.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2544" y="2011680"/>
            <a:ext cx="164592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9704" y="2194560"/>
            <a:ext cx="137160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4338CA"/>
                </a:solidFill>
                <a:latin typeface="Segoe UI"/>
              </a:defRPr>
            </a:pPr>
            <a:r>
              <a:t>3. Feature Vector</a:t>
            </a:r>
          </a:p>
          <a:p>
            <a:br/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Extracted themes converted into quantitative feature vectors.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3056" y="2011680"/>
            <a:ext cx="164592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0216" y="2194560"/>
            <a:ext cx="137160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05621"/>
                </a:solidFill>
                <a:latin typeface="Segoe UI"/>
              </a:defRPr>
            </a:pPr>
            <a:r>
              <a:t>4. TabFM Predict</a:t>
            </a:r>
          </a:p>
          <a:p>
            <a:br/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Predictive modeling estimates risk &amp; adoption rates.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73568" y="2011680"/>
            <a:ext cx="164592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10728" y="2194560"/>
            <a:ext cx="137160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4338CA"/>
                </a:solidFill>
                <a:latin typeface="Segoe UI"/>
              </a:defRPr>
            </a:pPr>
            <a:r>
              <a:t>5. Data &amp; Charts</a:t>
            </a:r>
          </a:p>
          <a:p>
            <a:br/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Terminal &amp; AGY CLI automate chart creation &amp; audit trail.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784080" y="2011680"/>
            <a:ext cx="164592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21240" y="2194560"/>
            <a:ext cx="137160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05621"/>
                </a:solidFill>
                <a:latin typeface="Segoe UI"/>
              </a:defRPr>
            </a:pPr>
            <a:r>
              <a:t>6. Analytics Portal</a:t>
            </a:r>
          </a:p>
          <a:p>
            <a:br/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Results deployed to Streamlit dashboard for team decision.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6217920"/>
            <a:ext cx="10728655" cy="3657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4338CA"/>
                </a:solidFill>
                <a:latin typeface="Segoe UI"/>
              </a:defRPr>
            </a:pPr>
            <a:r>
              <a:t>KEY ADVANTAGE: 70% faster turnaround, standardized coding consistency, and evidence-grounded forecasting.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4338CA"/>
                </a:solidFill>
                <a:latin typeface="Segoe UI"/>
              </a:defRPr>
            </a:pPr>
            <a:r>
              <a:t>EMPIRICAL PROOF #1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Segoe UI"/>
              </a:defRPr>
            </a:pPr>
            <a:r>
              <a:t>EDS Study: Identifying Intervention Gaps Instantly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Demonstrating Qwen AI analysis on teacher training and material readiness (N = 60).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411480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056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94560"/>
            <a:ext cx="35661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C05621"/>
                </a:solidFill>
                <a:latin typeface="Segoe UI"/>
              </a:defRPr>
            </a:pPr>
            <a:r>
              <a:t>19 of 60</a:t>
            </a:r>
          </a:p>
          <a:p>
            <a:pPr>
              <a:defRPr sz="1600" b="1">
                <a:solidFill>
                  <a:srgbClr val="0F172A"/>
                </a:solidFill>
                <a:latin typeface="Segoe UI"/>
              </a:defRPr>
            </a:pPr>
            <a:r>
              <a:t>Teachers Received NO Training Materials</a:t>
            </a:r>
            <a:br/>
          </a:p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Study Sample: N = 60 teachers across participating EDS districts.</a:t>
            </a:r>
            <a:br/>
            <a:br/>
            <a:r>
              <a:t>Qwen parsed multilingual qualitative feedback from field observers, instantly categorizing that nearly one-third lacked physical guides.</a:t>
            </a:r>
            <a:br/>
            <a:br/>
            <a:r>
              <a:t>📄 Referenced Official Report: EDS_Report_TabFM.pdf (Qualitative Field Insights: Observation Sheet Analysis)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1828800"/>
            <a:ext cx="6339535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0" y="2103120"/>
            <a:ext cx="579089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4338CA"/>
                </a:solidFill>
                <a:latin typeface="Segoe UI"/>
              </a:defRPr>
            </a:pPr>
            <a:r>
              <a:t>INSIGHTS &amp; ACTIONABLE RESPONSE</a:t>
            </a:r>
          </a:p>
          <a:p>
            <a:br/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🔹  Uneven Readiness</a:t>
            </a:r>
          </a:p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     In-person training attendance did not correlate with material distribution, causing operational drag.</a:t>
            </a:r>
          </a:p>
          <a:p>
            <a:br/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🔹  Qwen Multilingual Synthesis</a:t>
            </a:r>
          </a:p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     Qwen organized Hindi &amp; English observer notes in minutes, reducing manual coding time by 70%.</a:t>
            </a:r>
          </a:p>
          <a:p>
            <a:br/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🔹  Actionable Policy Decision</a:t>
            </a:r>
          </a:p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     Suggested Response: Pair all future training sessions with mandatory digital/physical kits and 14-day follow-up checks.</a:t>
            </a:r>
          </a:p>
          <a:p>
            <a:br/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🔹  Repeatable Approach</a:t>
            </a:r>
          </a:p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     This exact analytical model can be deployed across WhatsApp Chatbot and Assess Clear projects immediately.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4338CA"/>
                </a:solidFill>
                <a:latin typeface="Segoe UI"/>
              </a:defRPr>
            </a:pPr>
            <a:r>
              <a:t>EMPIRICAL PROOF #2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Segoe UI"/>
              </a:defRPr>
            </a:pPr>
            <a:r>
              <a:t>CRO Study: Combining Hard Numbers with Field Notes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Synthesizing 411 sampled classrooms across 55 districts using Qwen qualitative AI coding.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3328416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2871216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7C3AED"/>
                </a:solidFill>
                <a:latin typeface="Segoe UI"/>
              </a:defRPr>
            </a:pPr>
            <a:r>
              <a:t>1,268</a:t>
            </a:r>
          </a:p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Field Note Entries Grouped</a:t>
            </a:r>
          </a:p>
          <a:p>
            <a:br/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Qwen categorized 1,268 qualitative observation entries into structured intervention needs.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25696" y="1828800"/>
            <a:ext cx="3328416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54296" y="2103120"/>
            <a:ext cx="2871216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4338CA"/>
                </a:solidFill>
                <a:latin typeface="Segoe UI"/>
              </a:defRPr>
            </a:pPr>
            <a:r>
              <a:t>52.5%</a:t>
            </a:r>
          </a:p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Student Attendance Rate</a:t>
            </a:r>
          </a:p>
          <a:p>
            <a:br/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6,328 present out of 12,053 enrolled students observed during field visits.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19872" y="1828800"/>
            <a:ext cx="3328416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48472" y="2103120"/>
            <a:ext cx="2871216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4338CA"/>
                </a:solidFill>
                <a:latin typeface="Segoe UI"/>
              </a:defRPr>
            </a:pPr>
            <a:r>
              <a:t>3.6%</a:t>
            </a:r>
          </a:p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Fully Aligned Lesson Plans</a:t>
            </a:r>
          </a:p>
          <a:p>
            <a:br/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Only 15 out of 411 observed classrooms had written plans fully aligned with the Teacher Guide.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937760"/>
            <a:ext cx="10728655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5029200"/>
            <a:ext cx="1018001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47857"/>
                </a:solidFill>
                <a:latin typeface="Segoe UI"/>
              </a:defRPr>
            </a:pPr>
            <a:r>
              <a:t>PRACTICAL ANALYTICAL TAKEAWAY</a:t>
            </a:r>
          </a:p>
          <a:p>
            <a:pPr>
              <a:defRPr sz="1200">
                <a:solidFill>
                  <a:srgbClr val="0F172A"/>
                </a:solidFill>
                <a:latin typeface="Segoe UI"/>
              </a:defRPr>
            </a:pPr>
            <a:r>
              <a:t>By reading development needs (qualitative field notes coded by Qwen) alongside attendance and lesson alignment numbers, team members get the complete picture: Low lesson alignment (3.6%) was driven by lack of practical lesson preparation support, not teacher willingness.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4338CA"/>
                </a:solidFill>
                <a:latin typeface="Segoe UI"/>
              </a:defRPr>
            </a:pPr>
            <a:r>
              <a:t>ANALYTICAL 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Segoe UI"/>
              </a:defRPr>
            </a:pPr>
            <a:r>
              <a:t>Streamlit Dashboard: Democratizing Data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An intuitive visual portal allowing team members to explore findings interactively.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5175504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03120"/>
            <a:ext cx="462686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4338CA"/>
                </a:solidFill>
                <a:latin typeface="Segoe UI"/>
              </a:defRPr>
            </a:pPr>
            <a:r>
              <a:t>01 / Choose</a:t>
            </a:r>
          </a:p>
          <a:p>
            <a:br/>
            <a:pPr>
              <a:defRPr sz="1200">
                <a:solidFill>
                  <a:srgbClr val="0F172A"/>
                </a:solidFill>
                <a:latin typeface="Segoe UI"/>
              </a:defRPr>
            </a:pPr>
            <a:r>
              <a:t>Select any project, dataset, or research question from a unified dropdown menu without touching code.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2784" y="1828800"/>
            <a:ext cx="5175504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47104" y="2103120"/>
            <a:ext cx="462686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4338CA"/>
                </a:solidFill>
                <a:latin typeface="Segoe UI"/>
              </a:defRPr>
            </a:pPr>
            <a:r>
              <a:t>02 / Explore</a:t>
            </a:r>
          </a:p>
          <a:p>
            <a:br/>
            <a:pPr>
              <a:defRPr sz="1200">
                <a:solidFill>
                  <a:srgbClr val="0F172A"/>
                </a:solidFill>
                <a:latin typeface="Segoe UI"/>
              </a:defRPr>
            </a:pPr>
            <a:r>
              <a:t>Filter charts dynamically by district, teacher cohort, or observation period in real-time.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160520"/>
            <a:ext cx="5175504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434840"/>
            <a:ext cx="462686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4338CA"/>
                </a:solidFill>
                <a:latin typeface="Segoe UI"/>
              </a:defRPr>
            </a:pPr>
            <a:r>
              <a:t>03 / Review Evidence</a:t>
            </a:r>
          </a:p>
          <a:p>
            <a:br/>
            <a:pPr>
              <a:defRPr sz="1200">
                <a:solidFill>
                  <a:srgbClr val="0F172A"/>
                </a:solidFill>
                <a:latin typeface="Segoe UI"/>
              </a:defRPr>
            </a:pPr>
            <a:r>
              <a:t>Click any high-level stat to inspect the raw qualitative field notes and Qwen AI coding audit trail behind 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2784" y="4160520"/>
            <a:ext cx="5175504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4434840"/>
            <a:ext cx="462686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4338CA"/>
                </a:solidFill>
                <a:latin typeface="Segoe UI"/>
              </a:defRPr>
            </a:pPr>
            <a:r>
              <a:t>04 / Download</a:t>
            </a:r>
          </a:p>
          <a:p>
            <a:br/>
            <a:pPr>
              <a:defRPr sz="1200">
                <a:solidFill>
                  <a:srgbClr val="0F172A"/>
                </a:solidFill>
                <a:latin typeface="Segoe UI"/>
              </a:defRPr>
            </a:pPr>
            <a:r>
              <a:t>Export pre-approved summary reports, presentation-ready charts, and structured CSV tables instantly.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4338CA"/>
                </a:solidFill>
                <a:latin typeface="Segoe UI"/>
              </a:defRPr>
            </a:pPr>
            <a:r>
              <a:t>GOVERNANCE &amp; TRUST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Segoe UI"/>
              </a:defRPr>
            </a:pPr>
            <a:r>
              <a:t>Guardrails: Maintaining Rigor, Ethics &amp;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AI accelerates research, but human expertise owns every final insight.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3328416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94560"/>
            <a:ext cx="2779776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47857"/>
                </a:solidFill>
                <a:latin typeface="Segoe UI"/>
              </a:defRPr>
            </a:pPr>
            <a:r>
              <a:t>01</a:t>
            </a:r>
          </a:p>
          <a:p>
            <a:pPr>
              <a:defRPr sz="1600" b="1">
                <a:solidFill>
                  <a:srgbClr val="0F172A"/>
                </a:solidFill>
                <a:latin typeface="Segoe UI"/>
              </a:defRPr>
            </a:pPr>
            <a:r>
              <a:t>AI Supports, Humans Own</a:t>
            </a:r>
          </a:p>
          <a:p>
            <a:br/>
            <a:pPr>
              <a:defRPr sz="1200">
                <a:solidFill>
                  <a:srgbClr val="475569"/>
                </a:solidFill>
                <a:latin typeface="Segoe UI"/>
              </a:defRPr>
            </a:pPr>
            <a:r>
              <a:t>Qwen &amp; DeepSeek act as first-pass copilots. Senior researchers verify meaning, cross-check context, and sign off on all team deliverables.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25696" y="1828800"/>
            <a:ext cx="3328416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00016" y="2194560"/>
            <a:ext cx="2779776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4338CA"/>
                </a:solidFill>
                <a:latin typeface="Segoe UI"/>
              </a:defRPr>
            </a:pPr>
            <a:r>
              <a:t>02</a:t>
            </a:r>
          </a:p>
          <a:p>
            <a:pPr>
              <a:defRPr sz="1600" b="1">
                <a:solidFill>
                  <a:srgbClr val="0F172A"/>
                </a:solidFill>
                <a:latin typeface="Segoe UI"/>
              </a:defRPr>
            </a:pPr>
            <a:r>
              <a:t>Full Auditability</a:t>
            </a:r>
          </a:p>
          <a:p>
            <a:br/>
            <a:pPr>
              <a:defRPr sz="1200">
                <a:solidFill>
                  <a:srgbClr val="475569"/>
                </a:solidFill>
                <a:latin typeface="Segoe UI"/>
              </a:defRPr>
            </a:pPr>
            <a:r>
              <a:t>Every AI-generated theme links back to the exact source field note line. No black-box summaries—100% verifiable evidence trail.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19872" y="1828800"/>
            <a:ext cx="3328416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94192" y="2194560"/>
            <a:ext cx="2779776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7C3AED"/>
                </a:solidFill>
                <a:latin typeface="Segoe UI"/>
              </a:defRPr>
            </a:pPr>
            <a:r>
              <a:t>03</a:t>
            </a:r>
          </a:p>
          <a:p>
            <a:pPr>
              <a:defRPr sz="1600" b="1">
                <a:solidFill>
                  <a:srgbClr val="0F172A"/>
                </a:solidFill>
                <a:latin typeface="Segoe UI"/>
              </a:defRPr>
            </a:pPr>
            <a:r>
              <a:t>Data Privacy &amp; Security</a:t>
            </a:r>
          </a:p>
          <a:p>
            <a:br/>
            <a:pPr>
              <a:defRPr sz="1200">
                <a:solidFill>
                  <a:srgbClr val="475569"/>
                </a:solidFill>
                <a:latin typeface="Segoe UI"/>
              </a:defRPr>
            </a:pPr>
            <a:r>
              <a:t>All data is anonymized prior to processing. Local open-weight models (Qwen, DeepSeek) prevent third-party data leakage.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4338CA"/>
                </a:solidFill>
                <a:latin typeface="Segoe UI"/>
              </a:defRPr>
            </a:pPr>
            <a:r>
              <a:t>EXECUTION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Segoe UI"/>
              </a:defRPr>
            </a:pPr>
            <a:r>
              <a:t>Strategic 4-Phase Rollout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Clear, low-risk milestones to validate accuracy before full deployment.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251460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2148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47857"/>
                </a:solidFill>
                <a:latin typeface="Segoe UI"/>
              </a:defRPr>
            </a:pPr>
            <a:r>
              <a:t>IMMEDIATE</a:t>
            </a:r>
          </a:p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Phase 1: Prototype</a:t>
            </a:r>
          </a:p>
          <a:p>
            <a:br/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Build prototype pipeline using anonymized EDS data. Establish Qwen RAG context definitions &amp; baseline speed metrics.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65576" y="1828800"/>
            <a:ext cx="251460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48456" y="2103120"/>
            <a:ext cx="2148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7C3AED"/>
                </a:solidFill>
                <a:latin typeface="Segoe UI"/>
              </a:defRPr>
            </a:pPr>
            <a:r>
              <a:t>MONTH 2</a:t>
            </a:r>
          </a:p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Phase 2: Historical Audit</a:t>
            </a:r>
          </a:p>
          <a:p>
            <a:br/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Re-analyze past projects (CLSS &amp; CM RISE studies). Benchmark Qwen + TabFM against original human findings to prove accuracy.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828800"/>
            <a:ext cx="251460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82512" y="2103120"/>
            <a:ext cx="2148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338CA"/>
                </a:solidFill>
                <a:latin typeface="Segoe UI"/>
              </a:defRPr>
            </a:pPr>
            <a:r>
              <a:t>MONTHS 3-4</a:t>
            </a:r>
          </a:p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Phase 3: Active Scaling</a:t>
            </a:r>
          </a:p>
          <a:p>
            <a:br/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Deploy pipeline across active research projects. Standardize research SOPs &amp; launch Streamlit dashboard.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33688" y="1828800"/>
            <a:ext cx="251460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16568" y="2103120"/>
            <a:ext cx="2148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338CA"/>
                </a:solidFill>
                <a:latin typeface="Segoe UI"/>
              </a:defRPr>
            </a:pPr>
            <a:r>
              <a:t>MONTHS 5-6</a:t>
            </a:r>
          </a:p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Phase 4: Full Deployment</a:t>
            </a:r>
          </a:p>
          <a:p>
            <a:br/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Evaluate long-term impact on research quality. Scale AI pipeline across all research &amp; analytics departments.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