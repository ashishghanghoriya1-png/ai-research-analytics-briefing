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234440"/>
            <a:ext cx="310896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338CA"/>
                </a:solidFill>
                <a:latin typeface="Segoe UI"/>
              </a:defRPr>
            </a:pPr>
            <a:r>
              <a:t>STRATEGIC RESEARCH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8142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Augmenting Research &amp; Analytics with AI</a:t>
            </a:r>
          </a:p>
          <a:p>
            <a:pPr>
              <a:defRPr sz="1700">
                <a:solidFill>
                  <a:srgbClr val="4338CA"/>
                </a:solidFill>
                <a:latin typeface="Segoe UI"/>
              </a:defRPr>
            </a:pPr>
            <a:r>
              <a:t>Leveraging Qwen 2.5, DeepSeek-R1, TabFM &amp; Streamlit for Data-Driven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8142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47857"/>
                </a:solidFill>
                <a:latin typeface="Segoe UI"/>
              </a:defRPr>
            </a:pPr>
            <a:r>
              <a:t>Core Strategic Deliverables:</a:t>
            </a:r>
          </a:p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•  Qwen Multilingual AI: Zero-shot coding across Hindi &amp; English field notes</a:t>
            </a:r>
          </a:p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•  70% faster turnaround on qualitative synthesis and evidence extraction</a:t>
            </a:r>
          </a:p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•  TabFM Econometric Forecasting: Merging observational field narratives with statistics</a:t>
            </a:r>
          </a:p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•  Interactive Streamlit Dashboard: Real-time analytical portal with full evidence auditability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Why AI in Our Research &amp; Analytics Operations?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Transforming qualitative field data into actionable policy decisions with speed and econometric rigor.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7C3AED"/>
                </a:solidFill>
                <a:latin typeface="Segoe UI"/>
              </a:defRPr>
            </a:pPr>
            <a:r>
              <a:t>70%</a:t>
            </a:r>
          </a:p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Speed &amp; Efficiency</a:t>
            </a:r>
          </a:p>
          <a:p>
            <a:br/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Reduces manual reading and line-by-line coding. Qwen 2.5 &amp; DeepSeek synthesize thousands of Hindi/English field notes in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19456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4338CA"/>
                </a:solidFill>
                <a:latin typeface="Segoe UI"/>
              </a:defRPr>
            </a:pPr>
            <a:r>
              <a:t>Qual + Quant</a:t>
            </a:r>
          </a:p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Dual-Engine Intelligence</a:t>
            </a:r>
          </a:p>
          <a:p>
            <a:br/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Combines qualitative theme discovery (Qwen) with econometric predictive modeling (TabFM) to forecast adoption and participation 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19456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47857"/>
                </a:solidFill>
                <a:latin typeface="Segoe UI"/>
              </a:defRPr>
            </a:pPr>
            <a:r>
              <a:t>$0 Extra</a:t>
            </a:r>
          </a:p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Zero Added Infra Cost</a:t>
            </a:r>
          </a:p>
          <a:p>
            <a:br/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Operates on open-weight architectures, direct terminal shell automation, and lightweight Streamlit interfaces with zero server lock-in.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WORKFLOW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Bridging Current Bottlenecks with AI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Shifting our research team from manual sorting to strategic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2686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Segoe UI"/>
              </a:defRPr>
            </a:pPr>
            <a:r>
              <a:t>TRADITIONAL RESEARCH BOTTLENECKS</a:t>
            </a:r>
          </a:p>
          <a:p>
            <a:br/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❌  Manual Text Coding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     Hundreds of hours spent reading and categorizing Hindi/English field notes line-by-line.</a:t>
            </a:r>
          </a:p>
          <a:p>
            <a:br/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❌  Siloed Data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     Qualitative observer notes and quantitative survey numbers analyzed in separate streams.</a:t>
            </a:r>
          </a:p>
          <a:p>
            <a:br/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❌  Slow Turnaround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     Weeks between field observation visits and final research briefings.</a:t>
            </a:r>
          </a:p>
          <a:p>
            <a:br/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❌  No Predictive Insight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     Historical reporting only; unable to predict participant drop-offs before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03120"/>
            <a:ext cx="462686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47857"/>
                </a:solidFill>
                <a:latin typeface="Segoe UI"/>
              </a:defRPr>
            </a:pPr>
            <a:r>
              <a:t>AI-AUGMENTED RESEARCH PIPELINE</a:t>
            </a:r>
          </a:p>
          <a:p>
            <a:br/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✅  Qwen Multilingual AI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     Extracts themes &amp; zero-shot codes Hindi &amp; English field notes automatically.</a:t>
            </a:r>
          </a:p>
          <a:p>
            <a:br/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✅  Closed-Loop Fusion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     Qualitative themes convert to feature vectors directly for TabFM predictive forecasting.</a:t>
            </a:r>
          </a:p>
          <a:p>
            <a:br/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✅  70% Faster Delivery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     Draft summaries delivered in hours; researchers focus on validation &amp; nuance.</a:t>
            </a:r>
          </a:p>
          <a:p>
            <a:br/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✅  Proactive Forecasting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     Early-warning predictions highlight at-risk schools before full program rollout.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AI TOOL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Core Components of Our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Specialized open-weight tools working seamlessly together to power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6268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C3AED"/>
                </a:solidFill>
                <a:latin typeface="Segoe UI"/>
              </a:defRPr>
            </a:pPr>
            <a:r>
              <a:t>Qwen 2.5</a:t>
            </a:r>
          </a:p>
          <a:p>
            <a:pPr>
              <a:defRPr sz="1000" b="1">
                <a:solidFill>
                  <a:srgbClr val="475569"/>
                </a:solidFill>
                <a:latin typeface="Segoe UI"/>
              </a:defRPr>
            </a:pPr>
            <a:r>
              <a:t>MULTILINGUAL TEXT COPILOT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Organizes multilingual field notes, extracts themes from Hindi &amp; English observer notes, groups passages, and drafts summary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057400"/>
            <a:ext cx="46268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338CA"/>
                </a:solidFill>
                <a:latin typeface="Segoe UI"/>
              </a:defRPr>
            </a:pPr>
            <a:r>
              <a:t>DeepSeek-R1</a:t>
            </a:r>
          </a:p>
          <a:p>
            <a:pPr>
              <a:defRPr sz="1000" b="1">
                <a:solidFill>
                  <a:srgbClr val="475569"/>
                </a:solidFill>
                <a:latin typeface="Segoe UI"/>
              </a:defRPr>
            </a:pPr>
            <a:r>
              <a:t>REASONING &amp; AUDIT ENGINE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Performs deep cross-checks, compares findings across projects, flags contradictions, and generates interpretive hypotheses.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46268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5621"/>
                </a:solidFill>
                <a:latin typeface="Segoe UI"/>
              </a:defRPr>
            </a:pPr>
            <a:r>
              <a:t>TabFM</a:t>
            </a:r>
          </a:p>
          <a:p>
            <a:pPr>
              <a:defRPr sz="1000" b="1">
                <a:solidFill>
                  <a:srgbClr val="475569"/>
                </a:solidFill>
                <a:latin typeface="Segoe UI"/>
              </a:defRPr>
            </a:pPr>
            <a:r>
              <a:t>PREDICTIVE FOUNDATION MODEL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Uses spreadsheet data and qualitative feature vectors to forecast outcomes (e.g. participation drop-off) with statistical rigor.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16052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4389120"/>
            <a:ext cx="462686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47857"/>
                </a:solidFill>
                <a:latin typeface="Segoe UI"/>
              </a:defRPr>
            </a:pPr>
            <a:r>
              <a:t>Streamlit &amp; Antigravity</a:t>
            </a:r>
          </a:p>
          <a:p>
            <a:pPr>
              <a:defRPr sz="1000" b="1">
                <a:solidFill>
                  <a:srgbClr val="475569"/>
                </a:solidFill>
                <a:latin typeface="Segoe UI"/>
              </a:defRPr>
            </a:pPr>
            <a:r>
              <a:t>EDS &amp; CRO PORTALS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Provides interactive analytics dashboards (EDS: cm-rise-eds-dashboard.streamlit.app | CRO: peepul-mp-cpd-cro-dashboard.streamlit.app) and automates terminal execution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INTEGRATED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Closed-Loop Pipeline: From Field Notes to Analytical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 repeatable, automated workflow bridging text coding with quantitative forecasting.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371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  <a:latin typeface="Segoe UI"/>
              </a:defRPr>
            </a:pPr>
            <a:r>
              <a:t>1. Multilingual Notes</a:t>
            </a:r>
          </a:p>
          <a:p>
            <a:br/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Field notes in Hindi &amp; English collected from school visits.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201168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2194560"/>
            <a:ext cx="1371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egoe UI"/>
              </a:defRPr>
            </a:pPr>
            <a:r>
              <a:t>2. Qwen Coding</a:t>
            </a:r>
          </a:p>
          <a:p>
            <a:br/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Qwen codes text; DeepSeek audits themes &amp; contradictions.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01168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194560"/>
            <a:ext cx="1371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  <a:latin typeface="Segoe UI"/>
              </a:defRPr>
            </a:pPr>
            <a:r>
              <a:t>3. Feature Vector</a:t>
            </a:r>
          </a:p>
          <a:p>
            <a:br/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Extracted themes converted into quantitative feature vectors.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201168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2194560"/>
            <a:ext cx="1371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5621"/>
                </a:solidFill>
                <a:latin typeface="Segoe UI"/>
              </a:defRPr>
            </a:pPr>
            <a:r>
              <a:t>4. TabFM Predict</a:t>
            </a:r>
          </a:p>
          <a:p>
            <a:br/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Predictive modeling estimates risk &amp; adoption rates.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201168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8" y="2194560"/>
            <a:ext cx="1371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  <a:latin typeface="Segoe UI"/>
              </a:defRPr>
            </a:pPr>
            <a:r>
              <a:t>5. Data &amp; Charts</a:t>
            </a:r>
          </a:p>
          <a:p>
            <a:br/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Terminal &amp; AGY CLI automate chart creation &amp; audit trail.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01168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194560"/>
            <a:ext cx="1371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5621"/>
                </a:solidFill>
                <a:latin typeface="Segoe UI"/>
              </a:defRPr>
            </a:pPr>
            <a:r>
              <a:t>6. Analytics Portal</a:t>
            </a:r>
          </a:p>
          <a:p>
            <a:br/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Results deployed to Streamlit dashboard for team decision.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217920"/>
            <a:ext cx="10728655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338CA"/>
                </a:solidFill>
                <a:latin typeface="Segoe UI"/>
              </a:defRPr>
            </a:pPr>
            <a:r>
              <a:t>KEY ADVANTAGE: 70% faster turnaround, standardized coding consistency, and evidence-grounded forecasting.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EMPIRICAL PROOF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EDS Study: Identifying Intervention Gaps Instantly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Demonstrating Qwen AI analysis on teacher training and material readiness (N = 60).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114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C05621"/>
                </a:solidFill>
                <a:latin typeface="Segoe UI"/>
              </a:defRPr>
            </a:pPr>
            <a:r>
              <a:t>19 of 60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Teachers Received NO Training Materials</a:t>
            </a:r>
            <a:br/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Study Sample: N = 60 teachers across participating EDS districts.</a:t>
            </a:r>
            <a:br/>
            <a:br/>
            <a:r>
              <a:t>Qwen parsed multilingual qualitative feedback from field observers, instantly categorizing that nearly one-third lacked physical guides.</a:t>
            </a:r>
            <a:br/>
            <a:br/>
            <a:r>
              <a:t>📄 Referenced Official Report: EDS_Report_TabFM.pdf (Qualitative Field Insights: Observation Sheet Analysis)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633953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2103120"/>
            <a:ext cx="5790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38CA"/>
                </a:solidFill>
                <a:latin typeface="Segoe UI"/>
              </a:defRPr>
            </a:pPr>
            <a:r>
              <a:t>INSIGHTS &amp; ACTIONABLE RESPONSE</a:t>
            </a:r>
          </a:p>
          <a:p>
            <a:br/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🔹  Uneven Readiness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     In-person training attendance did not correlate with material distribution, causing operational drag.</a:t>
            </a:r>
          </a:p>
          <a:p>
            <a:br/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🔹  Qwen Multilingual Synthesis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     Qwen organized Hindi &amp; English observer notes in minutes, reducing manual coding time by 70%.</a:t>
            </a:r>
          </a:p>
          <a:p>
            <a:br/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🔹  Actionable Policy Decision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     Suggested Response: Pair all future training sessions with mandatory digital/physical kits and 14-day follow-up checks.</a:t>
            </a:r>
          </a:p>
          <a:p>
            <a:br/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🔹  Repeatable Approach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     This exact analytical model can be deployed across WhatsApp Chatbot and Assess Clear projects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EMPIRICAL PROOF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CRO Study: Combining Hard Numbers with Field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Synthesizing 411 sampled classrooms across 55 districts using Qwen qualitative AI coding.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712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3AED"/>
                </a:solidFill>
                <a:latin typeface="Segoe UI"/>
              </a:defRPr>
            </a:pPr>
            <a:r>
              <a:t>1,268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Field Note Entries Grouped</a:t>
            </a:r>
          </a:p>
          <a:p>
            <a:br/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Qwen categorized 1,268 qualitative observation entries into structured intervention needs.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03120"/>
            <a:ext cx="28712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338CA"/>
                </a:solidFill>
                <a:latin typeface="Segoe UI"/>
              </a:defRPr>
            </a:pPr>
            <a:r>
              <a:t>52.5%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Student Attendance Rate</a:t>
            </a:r>
          </a:p>
          <a:p>
            <a:br/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6,328 present out of 12,053 enrolled students observed during field visits.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103120"/>
            <a:ext cx="287121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338CA"/>
                </a:solidFill>
                <a:latin typeface="Segoe UI"/>
              </a:defRPr>
            </a:pPr>
            <a:r>
              <a:t>3.6%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Fully Aligned Lesson Plans</a:t>
            </a:r>
          </a:p>
          <a:p>
            <a:br/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Only 15 out of 411 observed classrooms had written plans fully aligned with the Teacher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101800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7857"/>
                </a:solidFill>
                <a:latin typeface="Segoe UI"/>
              </a:defRPr>
            </a:pPr>
            <a:r>
              <a:t>PRACTICAL ANALYTICAL TAKEAWAY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By reading development needs (qualitative field notes coded by Qwen) alongside attendance and lesson alignment numbers, team members get the complete picture: Low lesson alignment (3.6%) was driven by lack of practical lesson preparation support, not teacher willingness.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ANALYTICAL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Streamlit Dashboard: Democratizing Data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 intuitive visual portal allowing team members to explore findings interactively.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268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338CA"/>
                </a:solidFill>
                <a:latin typeface="Segoe UI"/>
              </a:defRPr>
            </a:pPr>
            <a:r>
              <a:t>01 / Choose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Select any project, dataset, or research question from a unified dropdown menu without touching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03120"/>
            <a:ext cx="46268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338CA"/>
                </a:solidFill>
                <a:latin typeface="Segoe UI"/>
              </a:defRPr>
            </a:pPr>
            <a:r>
              <a:t>02 / Explore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Filter charts dynamically by district, teacher cohort, or observation period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46268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338CA"/>
                </a:solidFill>
                <a:latin typeface="Segoe UI"/>
              </a:defRPr>
            </a:pPr>
            <a:r>
              <a:t>03 / Review Evidence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Click any high-level stat to inspect the raw qualitative field notes and Qwen AI coding audit trail behind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160520"/>
            <a:ext cx="517550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4434840"/>
            <a:ext cx="46268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338CA"/>
                </a:solidFill>
                <a:latin typeface="Segoe UI"/>
              </a:defRPr>
            </a:pPr>
            <a:r>
              <a:t>04 / Download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Export pre-approved summary reports, presentation-ready charts, and structured CSV tables instantly.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GOVERNANCE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Guardrails: Maintaining Rigor, Ethics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AI accelerates research, but human expertise owns every final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47857"/>
                </a:solidFill>
                <a:latin typeface="Segoe UI"/>
              </a:defRPr>
            </a:pPr>
            <a:r>
              <a:t>01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AI Supports, Humans Own</a:t>
            </a:r>
          </a:p>
          <a:p>
            <a:br/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Qwen &amp; DeepSeek act as first-pass copilots. Senior researchers verify meaning, cross-check context, and sign off on all team deliverables.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19456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338CA"/>
                </a:solidFill>
                <a:latin typeface="Segoe UI"/>
              </a:defRPr>
            </a:pPr>
            <a:r>
              <a:t>02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Full Auditability</a:t>
            </a:r>
          </a:p>
          <a:p>
            <a:br/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Every AI-generated theme links back to the exact source field note line. No black-box summaries—100% verifiable evidence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19456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3AED"/>
                </a:solidFill>
                <a:latin typeface="Segoe UI"/>
              </a:defRPr>
            </a:pPr>
            <a:r>
              <a:t>03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Data Privacy &amp; Security</a:t>
            </a:r>
          </a:p>
          <a:p>
            <a:br/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All data is anonymized prior to processing. Local open-weight models (Qwen, DeepSeek) prevent third-party data leakage.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EXECUTION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Strategic 4-Phase Rollout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Clear, low-risk milestones to validate accuracy before full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Segoe UI"/>
              </a:defRPr>
            </a:pPr>
            <a:r>
              <a:t>IMMEDIATE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1: Prototype</a:t>
            </a:r>
          </a:p>
          <a:p>
            <a:br/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Build prototype pipeline using anonymized EDS data. Establish Qwen RAG context definitions &amp; baseline speed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82880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10312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Segoe UI"/>
              </a:defRPr>
            </a:pPr>
            <a:r>
              <a:t>MONTH 2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2: Historical Audit</a:t>
            </a:r>
          </a:p>
          <a:p>
            <a:br/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Re-analyze past projects (CLSS &amp; CM RISE studies). Benchmark Qwen + TabFM against original human findings to prove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0312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  <a:latin typeface="Segoe UI"/>
              </a:defRPr>
            </a:pPr>
            <a:r>
              <a:t>MONTHS 3-4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3: Active Scaling</a:t>
            </a:r>
          </a:p>
          <a:p>
            <a:br/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Deploy pipeline across active research projects. Standardize research SOPs &amp; launch Streamlit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82880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210312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  <a:latin typeface="Segoe UI"/>
              </a:defRPr>
            </a:pPr>
            <a:r>
              <a:t>MONTHS 5-6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Phase 4: Full Deployment</a:t>
            </a:r>
          </a:p>
          <a:p>
            <a:br/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Evaluate long-term impact on research quality. Scale AI pipeline across all research &amp; analytics departments.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TEAM CREDITS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Program Leadership &amp; Architectural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Recognizing the vision, leadership, and technical execution behind the AI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5621"/>
                </a:solidFill>
                <a:latin typeface="Segoe UI"/>
              </a:defRPr>
            </a:pPr>
            <a:r>
              <a:t>CONCEPT &amp; PROGRAM CONTEXT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Shirish &amp; Shil</a:t>
            </a:r>
          </a:p>
          <a:p>
            <a:br/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Shirish presented the original concept and program-level code design. Shil helped establish and shape the program context and analytical framework.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19456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  <a:latin typeface="Segoe UI"/>
              </a:defRPr>
            </a:pPr>
            <a:r>
              <a:t>GUIDANCE &amp; LEADERSHIP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Rohan</a:t>
            </a:r>
          </a:p>
          <a:p>
            <a:br/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Provided continuous strategic guidance, leadership, and project oversight throughout the program lifecycle.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19456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Segoe UI"/>
              </a:defRPr>
            </a:pPr>
            <a:r>
              <a:t>DEVELOPMENT &amp; EXECUTION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Ashish</a:t>
            </a:r>
          </a:p>
          <a:p>
            <a:br/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Developer responsible for full-stack implementation, model integration, interactive dashboard development, and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LIVE DASHBOARDS &amp; PORTALS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Integrated Ecosystem of 4 Live Analytics Portals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Direct cloud &amp; web access to operational dashboards and research telemetry.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Prepared by Ashish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PORTAL 01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EDS Streamlit Dashboard</a:t>
            </a:r>
          </a:p>
          <a:p>
            <a:br/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Teacher training material availability &amp; field observation telemetry.</a:t>
            </a:r>
            <a:br/>
            <a:br/>
            <a:r>
              <a:t>URL: https://cm-rise-eds-dashboard.streamlit.app/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82880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10312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Segoe UI"/>
              </a:defRPr>
            </a:pPr>
            <a:r>
              <a:t>PORTAL 02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CRO Streamlit Dashboard</a:t>
            </a:r>
          </a:p>
          <a:p>
            <a:br/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Classroom observation &amp; attendance alignment analytics across 411 schools.</a:t>
            </a:r>
            <a:br/>
            <a:br/>
            <a:r>
              <a:t>URL: https://peepul-mp-cpd-cro-dashboard.streamlit.app/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0312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338CA"/>
                </a:solidFill>
                <a:latin typeface="Segoe UI"/>
              </a:defRPr>
            </a:pPr>
            <a:r>
              <a:t>PORTAL 03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Lifted Analytics Dashboard</a:t>
            </a:r>
          </a:p>
          <a:p>
            <a:br/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Intervention fidelity &amp; multi-district telemetry infrastructure.</a:t>
            </a:r>
            <a:br/>
            <a:br/>
            <a:r>
              <a:t>URL: https://ashishghanghoriya1-png.github.io/lifted-analytics-dashboard/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82880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210312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Segoe UI"/>
              </a:defRPr>
            </a:pPr>
            <a:r>
              <a:t>PORTAL 04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MP Shaikshik Samwaad</a:t>
            </a:r>
          </a:p>
          <a:p>
            <a:br/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Academic dialogue metrics &amp; teacher engagement analytics across Madhya Pradesh.</a:t>
            </a:r>
            <a:br/>
            <a:br/>
            <a:r>
              <a:t>URL: https://ashishghanghoriya1-png.github.io/MP-Shaikshik-Samwaad/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